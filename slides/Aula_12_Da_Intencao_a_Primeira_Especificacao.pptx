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1" r:id="rId4"/>
    <p:sldId id="295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4"/>
    <p:restoredTop sz="94658"/>
  </p:normalViewPr>
  <p:slideViewPr>
    <p:cSldViewPr snapToGrid="0">
      <p:cViewPr varScale="1">
        <p:scale>
          <a:sx n="120" d="100"/>
          <a:sy n="120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retomando a última frase da aula anterior: já delimitamos o problema e o MVP; agora precisamos registrar o comportamento esperado. A ilustração foi gerada por IA para esta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Transição. Pergunte: quantas implementações diferentes cabem em uma frase aparentemente simples?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somente a frase e peça interpretações. O exemplo adapta o cenário de preferências de notificação descrito no artigo da Microsoft.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https://developer.microsoft.com/blog/spec-driven-development-spec-kit/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17CC-64AC-EB5D-F4A9-04A270BA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26729-C984-620C-087E-F1AADC004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B8A0A-18F3-EC6A-BE0B-2D675A17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somente a frase e peça interpretações. O exemplo adapta o cenário de preferências de notificação descrito no artigo da Microsoft.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https://developer.microsoft.com/blog/spec-driven-development-spec-kit/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6D65-56C8-469B-E724-03ED05FF36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0477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Nenhuma interpretação é absurda. A falha está no contexto compartilhado incompleto. Peça à turma quais perguntas deveriam surgir antes do código.</a:t>
            </a:r>
          </a:p>
          <a:p>
            <a:endParaRPr/>
          </a:p>
          <a:p>
            <a:r>
              <a:t>Fontes:</a:t>
            </a:r>
          </a:p>
          <a:p>
            <a:r>
              <a:t>https://developer.microsoft.com/blog/spec-driven-development-spec-kit/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objetivo não é prever tudo. O objetivo é tornar visíveis as decisões que mudam comportamento, risco ou escopo.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Defina SDD como processo estruturado de refinamento. Evite apresentar a spec como documento perfeito ou congelado.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https://developer.microsoft.com/blog/spec-driven-development-spec-kit/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https://github.github.io/spec-kit/concepts/sdd.html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Leia o ciclo no sentido horário. A realidade de uso volta para a especificação como novo requisito, restrição ou caso de teste.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https://developer.microsoft.com/blog/spec-driven-development-spec-kit/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https://github.github.io/spec-kit/concepts/sdd.html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spec concentra intenção e comportamento. O plano concentra escolhas técnicas. As tarefas organizam a execução. Código e testes materializam e verificam essas decisões.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https://github.github.io/spec-kit/quickstart.html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Deixe claro que o CLI configura o ambiente. As etapas speckit são chamadas no chat do agente, com sintaxe que varia por integração.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https://github.com/github/spec-kit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https://github.github.io/spec-kit/quickstart.html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documentação atual apresenta um caminho curto e um caminho completo. Clarify, checklist e analyze são portões de qualidade, não burocracia obrigatória para toda mudança.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https://github.com/github/spec-kit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https://github.github.io/spec-kit/quickstart.html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https://github.github.io/spec-kit/reference/agentic-sdd.html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este slide para conter a expectativa de automação total. O repositório descreve o Spec Kit como um toolkit experimental e customizável.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https://github.com/github/spec-kit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https://developer.microsoft.com/blog/spec-driven-development-spec-kit/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Transição. Distribua ou abra o arquivo modelo_spec_primeira_funcionalidade.md.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história abre uma conversa. Ela não substitui requisitos, cenários de falha ou limites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Peça que a turma retire escolhas de tecnologia da primeira coluna. No Spec Kit, a etapa specify evita o stack técnico; o plano recebe essas escolhas.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https://github.github.io/spec-kit/quickstart.html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https://github.github.io/spec-kit/reference/agentic-sdd.html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modelo da disciplina adapta o template do Spec Kit ao projeto integrador. As oito partes cabem em poucas páginas quando o grupo escolhe uma única jornada.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https://github.com/github/spec-kit/blob/main/templates/spec-template.md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riginal-4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733" y="1907316"/>
            <a:ext cx="7174888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 intenção à primeira
especificação</a:t>
            </a: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415734" y="392241"/>
            <a:ext cx="57023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Sistemas Inteligentes Aplicados</a:t>
            </a:r>
          </a:p>
        </p:txBody>
      </p:sp>
      <p:pic>
        <p:nvPicPr>
          <p:cNvPr id="8" name="original-7"/>
          <p:cNvPicPr>
            <a:picLocks noChangeAspect="1"/>
          </p:cNvPicPr>
          <p:nvPr/>
        </p:nvPicPr>
        <p:blipFill>
          <a:blip r:embed="rId3"/>
          <a:srcRect l="32385" r="32385"/>
          <a:stretch>
            <a:fillRect/>
          </a:stretch>
        </p:blipFill>
        <p:spPr>
          <a:xfrm>
            <a:off x="7899094" y="0"/>
            <a:ext cx="4292906" cy="68580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6526A17E-862C-21DD-DAF7-C2066439C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iginal-4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Contexto compartilhado</a:t>
            </a:r>
          </a:p>
        </p:txBody>
      </p:sp>
      <p:sp>
        <p:nvSpPr>
          <p:cNvPr id="2" name="original-5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especificação torna explícitas as decisões que a equipe não pode deixar para a adivinhação.</a:t>
            </a: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Bloco 1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141EF9-6F4B-4C35-98C0-1788FF85EACC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frase, quatro interpretações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9D8B5-D1B3-4349-AF54-6A19556FCEFA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“O produto deve permitir preferências de notificação.”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EA0CD43-7EB7-4B62-AE43-E278B2CB2420}"/>
              </a:ext>
            </a:extLst>
          </p:cNvPr>
          <p:cNvSpPr>
            <a:spLocks noGrp="1"/>
          </p:cNvSpPr>
          <p:nvPr/>
        </p:nvSpPr>
        <p:spPr>
          <a:xfrm>
            <a:off x="2857500" y="3667125"/>
            <a:ext cx="6477000" cy="0"/>
          </a:xfrm>
          <a:prstGeom prst="line">
            <a:avLst/>
          </a:prstGeom>
          <a:noFill/>
          <a:ln w="1905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1302-FFFD-1FAB-53EE-DAA19841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4AE2F2-8C07-2246-1494-5FB8BCA55FEE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frase, quatro interpretações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93947-C1D3-DC7C-5307-A34F61CA3386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“O produto deve permitir preferências de notificação.”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8395139-365B-E154-9C63-9F7B1CD90007}"/>
              </a:ext>
            </a:extLst>
          </p:cNvPr>
          <p:cNvSpPr>
            <a:spLocks noGrp="1"/>
          </p:cNvSpPr>
          <p:nvPr/>
        </p:nvSpPr>
        <p:spPr>
          <a:xfrm>
            <a:off x="2857500" y="3667125"/>
            <a:ext cx="6477000" cy="0"/>
          </a:xfrm>
          <a:prstGeom prst="line">
            <a:avLst/>
          </a:prstGeom>
          <a:noFill/>
          <a:ln w="1905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38C889-EFD7-D354-EF88-E32AC59FFCFD}"/>
              </a:ext>
            </a:extLst>
          </p:cNvPr>
          <p:cNvSpPr>
            <a:spLocks noGrp="1"/>
          </p:cNvSpPr>
          <p:nvPr/>
        </p:nvSpPr>
        <p:spPr>
          <a:xfrm>
            <a:off x="2381250" y="4048125"/>
            <a:ext cx="7429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 requisito parece claro até cada papel preencher as lacunas por conta própria.</a:t>
            </a:r>
          </a:p>
        </p:txBody>
      </p:sp>
    </p:spTree>
    <p:extLst>
      <p:ext uri="{BB962C8B-B14F-4D97-AF65-F5344CB8AC3E}">
        <p14:creationId xmlns:p14="http://schemas.microsoft.com/office/powerpoint/2010/main" val="315050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3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Suposições razoáveis, produtos incompatíveis</a:t>
            </a:r>
          </a:p>
        </p:txBody>
      </p:sp>
      <p:sp>
        <p:nvSpPr>
          <p:cNvPr id="4" name="original-10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Produto</a:t>
            </a:r>
          </a:p>
          <a:p>
            <a:pPr marL="0" indent="0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</a:rPr>
              <a:t>Imagina preferências separadas por canal.</a:t>
            </a:r>
          </a:p>
        </p:txBody>
      </p:sp>
      <p:sp>
        <p:nvSpPr>
          <p:cNvPr id="5" name="original-11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Backend</a:t>
            </a:r>
          </a:p>
          <a:p>
            <a:pPr marL="0" indent="0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</a:rPr>
              <a:t>Implementa uma única chave de ligado ou desligado.</a:t>
            </a:r>
          </a:p>
        </p:txBody>
      </p:sp>
      <p:sp>
        <p:nvSpPr>
          <p:cNvPr id="6" name="original-4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Frontend</a:t>
            </a:r>
          </a:p>
          <a:p>
            <a:pPr marL="0" indent="0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</a:rPr>
              <a:t>Supõe integração com as preferências do sistema operacional.</a:t>
            </a:r>
          </a:p>
        </p:txBody>
      </p:sp>
      <p:sp>
        <p:nvSpPr>
          <p:cNvPr id="7" name="original-5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Design</a:t>
            </a:r>
          </a:p>
          <a:p>
            <a:pPr marL="0" indent="0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</a:rPr>
              <a:t>Desenha controles que exigem mudanças no serviço de usuários.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momento em que a ambiguidade aparece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Antes da implementação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Uma pergunta, uma decisão registrada e alguns minutos de edição.
A equipe ainda pode comparar alternativas.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Depois da implementação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Código, interface e testes incorporam interpretações diferentes.
A correção envolve retrabalho e negociação tardia.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Spec-Driven Development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Explícito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 spec registra o que construir e por que isso importa.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Evolutivo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Feedback e incidentes atualizam o documento e seus testes.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Revisável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Equipe, PO e agente podem localizar lacunas e conflitos.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9A5504-EC1F-49FF-A250-F0EF4797A017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spec acompanha o produto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B24E60-2A11-4C0A-9131-062BD18DB2AA}"/>
              </a:ext>
            </a:extLst>
          </p:cNvPr>
          <p:cNvSpPr>
            <a:spLocks noGrp="1"/>
          </p:cNvSpPr>
          <p:nvPr/>
        </p:nvSpPr>
        <p:spPr>
          <a:xfrm>
            <a:off x="619125" y="2857500"/>
            <a:ext cx="1619250" cy="1333500"/>
          </a:xfrm>
          <a:prstGeom prst="roundRect">
            <a:avLst>
              <a:gd name="adj" fmla="val 8571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66677-B0B9-4F9C-80B7-7C0BBDF5A5F6}"/>
              </a:ext>
            </a:extLst>
          </p:cNvPr>
          <p:cNvSpPr>
            <a:spLocks noGrp="1"/>
          </p:cNvSpPr>
          <p:nvPr/>
        </p:nvSpPr>
        <p:spPr>
          <a:xfrm>
            <a:off x="752475" y="2971800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Problema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DF5DAF-2E2F-4778-A6FD-58B97CAD5D78}"/>
              </a:ext>
            </a:extLst>
          </p:cNvPr>
          <p:cNvSpPr>
            <a:spLocks noGrp="1"/>
          </p:cNvSpPr>
          <p:nvPr/>
        </p:nvSpPr>
        <p:spPr>
          <a:xfrm>
            <a:off x="752475" y="3352800"/>
            <a:ext cx="13525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intenção e evidência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152345-DFFC-4656-9C7E-C9629C47C2B0}"/>
              </a:ext>
            </a:extLst>
          </p:cNvPr>
          <p:cNvSpPr>
            <a:spLocks noGrp="1"/>
          </p:cNvSpPr>
          <p:nvPr/>
        </p:nvSpPr>
        <p:spPr>
          <a:xfrm>
            <a:off x="2857500" y="1809750"/>
            <a:ext cx="1619250" cy="1333500"/>
          </a:xfrm>
          <a:prstGeom prst="roundRect">
            <a:avLst>
              <a:gd name="adj" fmla="val 8571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3E5C2-2077-429A-83D1-20D5469BBBD6}"/>
              </a:ext>
            </a:extLst>
          </p:cNvPr>
          <p:cNvSpPr>
            <a:spLocks noGrp="1"/>
          </p:cNvSpPr>
          <p:nvPr/>
        </p:nvSpPr>
        <p:spPr>
          <a:xfrm>
            <a:off x="2990850" y="1924050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Spec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97F74-953E-47CF-A484-3303B2265AED}"/>
              </a:ext>
            </a:extLst>
          </p:cNvPr>
          <p:cNvSpPr>
            <a:spLocks noGrp="1"/>
          </p:cNvSpPr>
          <p:nvPr/>
        </p:nvSpPr>
        <p:spPr>
          <a:xfrm>
            <a:off x="2990850" y="2305050"/>
            <a:ext cx="13525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comportamento esperado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472965-D740-40BF-90B4-2867EB0C6715}"/>
              </a:ext>
            </a:extLst>
          </p:cNvPr>
          <p:cNvSpPr>
            <a:spLocks noGrp="1"/>
          </p:cNvSpPr>
          <p:nvPr/>
        </p:nvSpPr>
        <p:spPr>
          <a:xfrm>
            <a:off x="5286375" y="2857500"/>
            <a:ext cx="1619250" cy="1333500"/>
          </a:xfrm>
          <a:prstGeom prst="roundRect">
            <a:avLst>
              <a:gd name="adj" fmla="val 8571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743E2-F5B9-4210-AA18-C0B35CE70DAA}"/>
              </a:ext>
            </a:extLst>
          </p:cNvPr>
          <p:cNvSpPr>
            <a:spLocks noGrp="1"/>
          </p:cNvSpPr>
          <p:nvPr/>
        </p:nvSpPr>
        <p:spPr>
          <a:xfrm>
            <a:off x="5419725" y="2971800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Plano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DCD3BE-F475-4BFF-94E8-DD6378B16775}"/>
              </a:ext>
            </a:extLst>
          </p:cNvPr>
          <p:cNvSpPr>
            <a:spLocks noGrp="1"/>
          </p:cNvSpPr>
          <p:nvPr/>
        </p:nvSpPr>
        <p:spPr>
          <a:xfrm>
            <a:off x="5419725" y="3352800"/>
            <a:ext cx="13525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decisões técnicas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646167-2141-4280-85F7-D5EF2DA1EAEE}"/>
              </a:ext>
            </a:extLst>
          </p:cNvPr>
          <p:cNvSpPr>
            <a:spLocks noGrp="1"/>
          </p:cNvSpPr>
          <p:nvPr/>
        </p:nvSpPr>
        <p:spPr>
          <a:xfrm>
            <a:off x="7762875" y="180975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7CB99-D6E1-47DD-8F5E-330098A2E3CD}"/>
              </a:ext>
            </a:extLst>
          </p:cNvPr>
          <p:cNvSpPr>
            <a:spLocks noGrp="1"/>
          </p:cNvSpPr>
          <p:nvPr/>
        </p:nvSpPr>
        <p:spPr>
          <a:xfrm>
            <a:off x="7896225" y="19240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Código e testes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76CD42-ACC0-4ED9-A11E-66C8C8D04DC2}"/>
              </a:ext>
            </a:extLst>
          </p:cNvPr>
          <p:cNvSpPr>
            <a:spLocks noGrp="1"/>
          </p:cNvSpPr>
          <p:nvPr/>
        </p:nvSpPr>
        <p:spPr>
          <a:xfrm>
            <a:off x="7896225" y="2305050"/>
            <a:ext cx="16383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implementação verificável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882E9E-54DA-43F8-BA58-0754303B3E7F}"/>
              </a:ext>
            </a:extLst>
          </p:cNvPr>
          <p:cNvSpPr>
            <a:spLocks noGrp="1"/>
          </p:cNvSpPr>
          <p:nvPr/>
        </p:nvSpPr>
        <p:spPr>
          <a:xfrm>
            <a:off x="10001250" y="2857500"/>
            <a:ext cx="1619250" cy="1333500"/>
          </a:xfrm>
          <a:prstGeom prst="roundRect">
            <a:avLst>
              <a:gd name="adj" fmla="val 8571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45AF23-115C-4C1E-AC11-C5FCA592E769}"/>
              </a:ext>
            </a:extLst>
          </p:cNvPr>
          <p:cNvSpPr>
            <a:spLocks noGrp="1"/>
          </p:cNvSpPr>
          <p:nvPr/>
        </p:nvSpPr>
        <p:spPr>
          <a:xfrm>
            <a:off x="10134600" y="2971800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4721BB-10C7-42AB-985C-426DC0E001A4}"/>
              </a:ext>
            </a:extLst>
          </p:cNvPr>
          <p:cNvSpPr>
            <a:spLocks noGrp="1"/>
          </p:cNvSpPr>
          <p:nvPr/>
        </p:nvSpPr>
        <p:spPr>
          <a:xfrm>
            <a:off x="10134600" y="3352800"/>
            <a:ext cx="13525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uso, métricas e falhas</a:t>
            </a:r>
          </a:p>
        </p:txBody>
      </p:sp>
      <p:cxnSp>
        <p:nvCxnSpPr>
          <p:cNvPr id="43" name="Straight Arrow Connector 42"/>
          <p:cNvCxnSpPr>
            <a:stCxn id="4" idx="3"/>
            <a:endCxn id="7" idx="1"/>
          </p:cNvCxnSpPr>
          <p:nvPr/>
        </p:nvCxnSpPr>
        <p:spPr>
          <a:xfrm flipV="1">
            <a:off x="2238375" y="2476500"/>
            <a:ext cx="619125" cy="104775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7" idx="3"/>
            <a:endCxn id="10" idx="1"/>
          </p:cNvCxnSpPr>
          <p:nvPr/>
        </p:nvCxnSpPr>
        <p:spPr>
          <a:xfrm>
            <a:off x="4476750" y="2476500"/>
            <a:ext cx="809625" cy="104775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45" name="Straight Arrow Connector 44"/>
          <p:cNvCxnSpPr>
            <a:stCxn id="10" idx="3"/>
            <a:endCxn id="13" idx="1"/>
          </p:cNvCxnSpPr>
          <p:nvPr/>
        </p:nvCxnSpPr>
        <p:spPr>
          <a:xfrm flipV="1">
            <a:off x="6905625" y="2476500"/>
            <a:ext cx="857250" cy="104775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46" name="Straight Arrow Connector 45"/>
          <p:cNvCxnSpPr>
            <a:stCxn id="13" idx="3"/>
            <a:endCxn id="16" idx="1"/>
          </p:cNvCxnSpPr>
          <p:nvPr/>
        </p:nvCxnSpPr>
        <p:spPr>
          <a:xfrm>
            <a:off x="9667875" y="2476500"/>
            <a:ext cx="333375" cy="104775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7A871-7EB0-443B-9645-F81CDC6B2C9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Artefatos com responsabilidades diferentes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A9E649-D9CB-4D8A-BAAB-E1B7A845523C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333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29D64-7A21-4701-9132-43A6C5FBABFF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spec.md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FBD97-8C4A-4447-B223-3C5ED928F179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2066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 que e por quê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3FAEFD-4AE4-492D-90AC-0FE04AAF53EB}"/>
              </a:ext>
            </a:extLst>
          </p:cNvPr>
          <p:cNvSpPr>
            <a:spLocks noGrp="1"/>
          </p:cNvSpPr>
          <p:nvPr/>
        </p:nvSpPr>
        <p:spPr>
          <a:xfrm>
            <a:off x="3571875" y="2571750"/>
            <a:ext cx="2333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9A0DA9-9225-4A7F-8C30-C93E2CF63DA4}"/>
              </a:ext>
            </a:extLst>
          </p:cNvPr>
          <p:cNvSpPr>
            <a:spLocks noGrp="1"/>
          </p:cNvSpPr>
          <p:nvPr/>
        </p:nvSpPr>
        <p:spPr>
          <a:xfrm>
            <a:off x="3705225" y="2686050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plan.md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8438BF-6F5A-4A13-9902-4AD02619237B}"/>
              </a:ext>
            </a:extLst>
          </p:cNvPr>
          <p:cNvSpPr>
            <a:spLocks noGrp="1"/>
          </p:cNvSpPr>
          <p:nvPr/>
        </p:nvSpPr>
        <p:spPr>
          <a:xfrm>
            <a:off x="3705225" y="3067050"/>
            <a:ext cx="2066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como construir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C0E625-941C-428D-B90D-4950154130A0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2333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21268-239B-4693-8867-4E06CF647411}"/>
              </a:ext>
            </a:extLst>
          </p:cNvPr>
          <p:cNvSpPr>
            <a:spLocks noGrp="1"/>
          </p:cNvSpPr>
          <p:nvPr/>
        </p:nvSpPr>
        <p:spPr>
          <a:xfrm>
            <a:off x="6610350" y="2686050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tasks.md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337A4F-012D-4615-A6EB-9EE9CAE4F8BA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2066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ordem do trabalho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CC34A1A-85EB-44D8-ADA2-A0F2C3F94F21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2333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DC624F-CD19-4D04-B045-D3365BD71334}"/>
              </a:ext>
            </a:extLst>
          </p:cNvPr>
          <p:cNvSpPr>
            <a:spLocks noGrp="1"/>
          </p:cNvSpPr>
          <p:nvPr/>
        </p:nvSpPr>
        <p:spPr>
          <a:xfrm>
            <a:off x="9515475" y="2686050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código + testes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7A81AB-2AFC-42F4-9522-A68420888895}"/>
              </a:ext>
            </a:extLst>
          </p:cNvPr>
          <p:cNvSpPr>
            <a:spLocks noGrp="1"/>
          </p:cNvSpPr>
          <p:nvPr/>
        </p:nvSpPr>
        <p:spPr>
          <a:xfrm>
            <a:off x="9515475" y="3067050"/>
            <a:ext cx="2066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execução e evidência</a:t>
            </a:r>
          </a:p>
        </p:txBody>
      </p:sp>
      <p:cxnSp>
        <p:nvCxnSpPr>
          <p:cNvPr id="35" name="Straight Arrow Connector 34"/>
          <p:cNvCxnSpPr>
            <a:stCxn id="4" idx="3"/>
            <a:endCxn id="7" idx="1"/>
          </p:cNvCxnSpPr>
          <p:nvPr/>
        </p:nvCxnSpPr>
        <p:spPr>
          <a:xfrm>
            <a:off x="3000375" y="3357563"/>
            <a:ext cx="57150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36" name="Straight Arrow Connector 35"/>
          <p:cNvCxnSpPr>
            <a:stCxn id="7" idx="3"/>
            <a:endCxn id="10" idx="1"/>
          </p:cNvCxnSpPr>
          <p:nvPr/>
        </p:nvCxnSpPr>
        <p:spPr>
          <a:xfrm>
            <a:off x="5905500" y="3357563"/>
            <a:ext cx="57150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37" name="Straight Arrow Connector 36"/>
          <p:cNvCxnSpPr>
            <a:stCxn id="10" idx="3"/>
            <a:endCxn id="13" idx="1"/>
          </p:cNvCxnSpPr>
          <p:nvPr/>
        </p:nvCxnSpPr>
        <p:spPr>
          <a:xfrm>
            <a:off x="8810625" y="3357563"/>
            <a:ext cx="571500" cy="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217E5-2BDD-42E9-803C-24A320D0A624}"/>
              </a:ext>
            </a:extLst>
          </p:cNvPr>
          <p:cNvSpPr>
            <a:spLocks noGrp="1"/>
          </p:cNvSpPr>
          <p:nvPr/>
        </p:nvSpPr>
        <p:spPr>
          <a:xfrm>
            <a:off x="2000250" y="4810125"/>
            <a:ext cx="819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Rastreabilidade: cada decisão técnica deve responder a uma necessidade ou restrição registrada.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</a:t>
            </a:r>
            <a:r>
              <a:rPr sz="315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</a:t>
            </a:r>
            <a:r>
              <a:rPr sz="315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o </a:t>
            </a:r>
            <a:r>
              <a:rPr lang="pt-BR" sz="315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 </a:t>
            </a:r>
            <a:r>
              <a:rPr sz="315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Spec Kit </a:t>
            </a:r>
            <a:r>
              <a:rPr sz="315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oferece</a:t>
            </a:r>
            <a:endParaRPr sz="3150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Specify CLI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Inicializa o projeto e instala o processo compatível com a integração escolhida.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Habilidades do agente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Executam cada etapa em sequência e produzem artefatos em Markdown.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Templates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Estruturam spec, plano, tarefas e princípios do projeto.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08D111-7864-47BF-99FB-BCEC4DD33DFE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Fluxo atual do Spec Kit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C49AAF-1F82-4405-9897-99C4E23DB546}"/>
              </a:ext>
            </a:extLst>
          </p:cNvPr>
          <p:cNvSpPr>
            <a:spLocks noGrp="1"/>
          </p:cNvSpPr>
          <p:nvPr/>
        </p:nvSpPr>
        <p:spPr>
          <a:xfrm>
            <a:off x="333375" y="1809750"/>
            <a:ext cx="2000250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11AB7-6B05-4688-B12D-089B9E99CF8F}"/>
              </a:ext>
            </a:extLst>
          </p:cNvPr>
          <p:cNvSpPr>
            <a:spLocks noGrp="1"/>
          </p:cNvSpPr>
          <p:nvPr/>
        </p:nvSpPr>
        <p:spPr>
          <a:xfrm>
            <a:off x="466725" y="19240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Constitution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047D8-1187-4649-BC38-1C758CC70E7D}"/>
              </a:ext>
            </a:extLst>
          </p:cNvPr>
          <p:cNvSpPr>
            <a:spLocks noGrp="1"/>
          </p:cNvSpPr>
          <p:nvPr/>
        </p:nvSpPr>
        <p:spPr>
          <a:xfrm>
            <a:off x="466725" y="2247900"/>
            <a:ext cx="17335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princípios do projeto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F85EBE-FFF2-49C9-8E34-F0B39F53E1FC}"/>
              </a:ext>
            </a:extLst>
          </p:cNvPr>
          <p:cNvSpPr>
            <a:spLocks noGrp="1"/>
          </p:cNvSpPr>
          <p:nvPr/>
        </p:nvSpPr>
        <p:spPr>
          <a:xfrm>
            <a:off x="2667000" y="1809750"/>
            <a:ext cx="2000250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00DB5-B4BE-4631-B0F9-564BC64B7F29}"/>
              </a:ext>
            </a:extLst>
          </p:cNvPr>
          <p:cNvSpPr>
            <a:spLocks noGrp="1"/>
          </p:cNvSpPr>
          <p:nvPr/>
        </p:nvSpPr>
        <p:spPr>
          <a:xfrm>
            <a:off x="2800350" y="19240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Specify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72391B-12F5-409A-B0D0-D52E3885CA83}"/>
              </a:ext>
            </a:extLst>
          </p:cNvPr>
          <p:cNvSpPr>
            <a:spLocks noGrp="1"/>
          </p:cNvSpPr>
          <p:nvPr/>
        </p:nvSpPr>
        <p:spPr>
          <a:xfrm>
            <a:off x="2800350" y="2247900"/>
            <a:ext cx="17335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 que e por quê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A0E2C5-564E-4723-A0A0-48D9D3F9D776}"/>
              </a:ext>
            </a:extLst>
          </p:cNvPr>
          <p:cNvSpPr>
            <a:spLocks noGrp="1"/>
          </p:cNvSpPr>
          <p:nvPr/>
        </p:nvSpPr>
        <p:spPr>
          <a:xfrm>
            <a:off x="5000625" y="1809750"/>
            <a:ext cx="2000250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90917A-9976-41B8-9662-3AE83C576B43}"/>
              </a:ext>
            </a:extLst>
          </p:cNvPr>
          <p:cNvSpPr>
            <a:spLocks noGrp="1"/>
          </p:cNvSpPr>
          <p:nvPr/>
        </p:nvSpPr>
        <p:spPr>
          <a:xfrm>
            <a:off x="5133975" y="19240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Clarify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746-34A6-4B42-BEDD-984D2E9F481C}"/>
              </a:ext>
            </a:extLst>
          </p:cNvPr>
          <p:cNvSpPr>
            <a:spLocks noGrp="1"/>
          </p:cNvSpPr>
          <p:nvPr/>
        </p:nvSpPr>
        <p:spPr>
          <a:xfrm>
            <a:off x="5133975" y="2247900"/>
            <a:ext cx="17335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lacunas críticas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BE6125-9C8A-485A-93B9-DD098A9CA83A}"/>
              </a:ext>
            </a:extLst>
          </p:cNvPr>
          <p:cNvSpPr>
            <a:spLocks noGrp="1"/>
          </p:cNvSpPr>
          <p:nvPr/>
        </p:nvSpPr>
        <p:spPr>
          <a:xfrm>
            <a:off x="7334250" y="1809750"/>
            <a:ext cx="2000250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7AAAB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E8B9CC-8AFD-43E7-8A2F-FFB206777735}"/>
              </a:ext>
            </a:extLst>
          </p:cNvPr>
          <p:cNvSpPr>
            <a:spLocks noGrp="1"/>
          </p:cNvSpPr>
          <p:nvPr/>
        </p:nvSpPr>
        <p:spPr>
          <a:xfrm>
            <a:off x="7467600" y="19240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AE538-7858-4FAD-8E80-FCDA88DEC1A0}"/>
              </a:ext>
            </a:extLst>
          </p:cNvPr>
          <p:cNvSpPr>
            <a:spLocks noGrp="1"/>
          </p:cNvSpPr>
          <p:nvPr/>
        </p:nvSpPr>
        <p:spPr>
          <a:xfrm>
            <a:off x="7467600" y="2247900"/>
            <a:ext cx="17335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como construir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B89B7C-B296-49EF-B91B-510CA2B4855F}"/>
              </a:ext>
            </a:extLst>
          </p:cNvPr>
          <p:cNvSpPr>
            <a:spLocks noGrp="1"/>
          </p:cNvSpPr>
          <p:nvPr/>
        </p:nvSpPr>
        <p:spPr>
          <a:xfrm>
            <a:off x="9667875" y="1809750"/>
            <a:ext cx="2000250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7AAAB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2142DB-D3B5-4433-B805-C7157D55074D}"/>
              </a:ext>
            </a:extLst>
          </p:cNvPr>
          <p:cNvSpPr>
            <a:spLocks noGrp="1"/>
          </p:cNvSpPr>
          <p:nvPr/>
        </p:nvSpPr>
        <p:spPr>
          <a:xfrm>
            <a:off x="9801225" y="19240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Checklist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7DFB2-55BB-42B1-AE85-9415AF3590A0}"/>
              </a:ext>
            </a:extLst>
          </p:cNvPr>
          <p:cNvSpPr>
            <a:spLocks noGrp="1"/>
          </p:cNvSpPr>
          <p:nvPr/>
        </p:nvSpPr>
        <p:spPr>
          <a:xfrm>
            <a:off x="9801225" y="2247900"/>
            <a:ext cx="17335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qualidade dos requisitos</a:t>
            </a:r>
          </a:p>
        </p:txBody>
      </p:sp>
      <p:cxnSp>
        <p:nvCxnSpPr>
          <p:cNvPr id="58" name="Straight Arrow Connector 57"/>
          <p:cNvCxnSpPr>
            <a:stCxn id="4" idx="3"/>
            <a:endCxn id="7" idx="1"/>
          </p:cNvCxnSpPr>
          <p:nvPr/>
        </p:nvCxnSpPr>
        <p:spPr>
          <a:xfrm>
            <a:off x="2333625" y="2405063"/>
            <a:ext cx="333375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9" name="Straight Arrow Connector 58"/>
          <p:cNvCxnSpPr>
            <a:stCxn id="7" idx="3"/>
            <a:endCxn id="10" idx="1"/>
          </p:cNvCxnSpPr>
          <p:nvPr/>
        </p:nvCxnSpPr>
        <p:spPr>
          <a:xfrm>
            <a:off x="4667250" y="2405063"/>
            <a:ext cx="333375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60" name="Straight Arrow Connector 59"/>
          <p:cNvCxnSpPr>
            <a:stCxn id="10" idx="3"/>
            <a:endCxn id="13" idx="1"/>
          </p:cNvCxnSpPr>
          <p:nvPr/>
        </p:nvCxnSpPr>
        <p:spPr>
          <a:xfrm>
            <a:off x="7000875" y="2405063"/>
            <a:ext cx="333375" cy="0"/>
          </a:xfrm>
          <a:prstGeom prst="straightConnector1">
            <a:avLst/>
          </a:prstGeom>
          <a:ln w="19050">
            <a:solidFill>
              <a:srgbClr val="7AAAB0"/>
            </a:solidFill>
            <a:prstDash val="solid"/>
            <a:tailEnd type="triangle" w="sm" len="sm"/>
          </a:ln>
        </p:spPr>
      </p:cxnSp>
      <p:cxnSp>
        <p:nvCxnSpPr>
          <p:cNvPr id="61" name="Straight Arrow Connector 60"/>
          <p:cNvCxnSpPr>
            <a:stCxn id="13" idx="3"/>
            <a:endCxn id="16" idx="1"/>
          </p:cNvCxnSpPr>
          <p:nvPr/>
        </p:nvCxnSpPr>
        <p:spPr>
          <a:xfrm>
            <a:off x="9334500" y="2405063"/>
            <a:ext cx="333375" cy="0"/>
          </a:xfrm>
          <a:prstGeom prst="straightConnector1">
            <a:avLst/>
          </a:prstGeom>
          <a:ln w="19050">
            <a:solidFill>
              <a:srgbClr val="7AAAB0"/>
            </a:solidFill>
            <a:prstDash val="solid"/>
            <a:tailEnd type="triangle" w="sm" len="sm"/>
          </a:ln>
        </p:spPr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EF6F80F-6EF7-49D1-BF7C-DA2395C13D79}"/>
              </a:ext>
            </a:extLst>
          </p:cNvPr>
          <p:cNvSpPr>
            <a:spLocks noGrp="1"/>
          </p:cNvSpPr>
          <p:nvPr/>
        </p:nvSpPr>
        <p:spPr>
          <a:xfrm>
            <a:off x="1524000" y="4000500"/>
            <a:ext cx="2143125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7AAAB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86BDFC-7A6D-49F4-8D81-322A99245EF6}"/>
              </a:ext>
            </a:extLst>
          </p:cNvPr>
          <p:cNvSpPr>
            <a:spLocks noGrp="1"/>
          </p:cNvSpPr>
          <p:nvPr/>
        </p:nvSpPr>
        <p:spPr>
          <a:xfrm>
            <a:off x="1657350" y="4114800"/>
            <a:ext cx="1876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61AFFE-E93F-4C35-91C4-6C334B4EC93B}"/>
              </a:ext>
            </a:extLst>
          </p:cNvPr>
          <p:cNvSpPr>
            <a:spLocks noGrp="1"/>
          </p:cNvSpPr>
          <p:nvPr/>
        </p:nvSpPr>
        <p:spPr>
          <a:xfrm>
            <a:off x="1657350" y="4438650"/>
            <a:ext cx="18764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trabalho ordenado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3E0FDEF-2499-4E6C-997D-9FDCD7E62662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2143125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7AAAB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05023F-289E-49D4-B98D-C34CB3A691A6}"/>
              </a:ext>
            </a:extLst>
          </p:cNvPr>
          <p:cNvSpPr>
            <a:spLocks noGrp="1"/>
          </p:cNvSpPr>
          <p:nvPr/>
        </p:nvSpPr>
        <p:spPr>
          <a:xfrm>
            <a:off x="4229100" y="4114800"/>
            <a:ext cx="1876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0E4B6E-6A0B-48B7-87EA-CA2793AFDEB8}"/>
              </a:ext>
            </a:extLst>
          </p:cNvPr>
          <p:cNvSpPr>
            <a:spLocks noGrp="1"/>
          </p:cNvSpPr>
          <p:nvPr/>
        </p:nvSpPr>
        <p:spPr>
          <a:xfrm>
            <a:off x="4229100" y="4438650"/>
            <a:ext cx="18764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consistência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C482A5-6E48-4471-BCD2-40BB29BADC6D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2143125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67E303-79C5-4854-B318-68DA0427AC9B}"/>
              </a:ext>
            </a:extLst>
          </p:cNvPr>
          <p:cNvSpPr>
            <a:spLocks noGrp="1"/>
          </p:cNvSpPr>
          <p:nvPr/>
        </p:nvSpPr>
        <p:spPr>
          <a:xfrm>
            <a:off x="6800850" y="4114800"/>
            <a:ext cx="1876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Implement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A0079B-C99F-46D8-9215-7DC1D242AD95}"/>
              </a:ext>
            </a:extLst>
          </p:cNvPr>
          <p:cNvSpPr>
            <a:spLocks noGrp="1"/>
          </p:cNvSpPr>
          <p:nvPr/>
        </p:nvSpPr>
        <p:spPr>
          <a:xfrm>
            <a:off x="6800850" y="4438650"/>
            <a:ext cx="18764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execução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791FF45-8F05-47FB-A6FE-E50515C61A97}"/>
              </a:ext>
            </a:extLst>
          </p:cNvPr>
          <p:cNvSpPr>
            <a:spLocks noGrp="1"/>
          </p:cNvSpPr>
          <p:nvPr/>
        </p:nvSpPr>
        <p:spPr>
          <a:xfrm>
            <a:off x="9239250" y="4000500"/>
            <a:ext cx="2143125" cy="1190625"/>
          </a:xfrm>
          <a:prstGeom prst="roundRect">
            <a:avLst>
              <a:gd name="adj" fmla="val 96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4E0857-2775-4550-95EB-17BD1B24744D}"/>
              </a:ext>
            </a:extLst>
          </p:cNvPr>
          <p:cNvSpPr>
            <a:spLocks noGrp="1"/>
          </p:cNvSpPr>
          <p:nvPr/>
        </p:nvSpPr>
        <p:spPr>
          <a:xfrm>
            <a:off x="9372600" y="4114800"/>
            <a:ext cx="1876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Converge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8A84F3-73C8-4810-91B2-F20472749E62}"/>
              </a:ext>
            </a:extLst>
          </p:cNvPr>
          <p:cNvSpPr>
            <a:spLocks noGrp="1"/>
          </p:cNvSpPr>
          <p:nvPr/>
        </p:nvSpPr>
        <p:spPr>
          <a:xfrm>
            <a:off x="9372600" y="4438650"/>
            <a:ext cx="18764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verificação final</a:t>
            </a:r>
          </a:p>
        </p:txBody>
      </p:sp>
      <p:cxnSp>
        <p:nvCxnSpPr>
          <p:cNvPr id="74" name="Straight Arrow Connector 73"/>
          <p:cNvCxnSpPr>
            <a:stCxn id="23" idx="3"/>
            <a:endCxn id="26" idx="1"/>
          </p:cNvCxnSpPr>
          <p:nvPr/>
        </p:nvCxnSpPr>
        <p:spPr>
          <a:xfrm>
            <a:off x="3667125" y="4595813"/>
            <a:ext cx="428625" cy="0"/>
          </a:xfrm>
          <a:prstGeom prst="straightConnector1">
            <a:avLst/>
          </a:prstGeom>
          <a:ln w="19050">
            <a:solidFill>
              <a:srgbClr val="7AAAB0"/>
            </a:solidFill>
            <a:prstDash val="solid"/>
            <a:tailEnd type="triangle" w="sm" len="sm"/>
          </a:ln>
        </p:spPr>
      </p:cxnSp>
      <p:cxnSp>
        <p:nvCxnSpPr>
          <p:cNvPr id="75" name="Straight Arrow Connector 74"/>
          <p:cNvCxnSpPr>
            <a:stCxn id="26" idx="3"/>
            <a:endCxn id="29" idx="1"/>
          </p:cNvCxnSpPr>
          <p:nvPr/>
        </p:nvCxnSpPr>
        <p:spPr>
          <a:xfrm>
            <a:off x="6238875" y="4595813"/>
            <a:ext cx="428625" cy="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  <p:cxnSp>
        <p:nvCxnSpPr>
          <p:cNvPr id="76" name="Straight Arrow Connector 75"/>
          <p:cNvCxnSpPr>
            <a:stCxn id="29" idx="3"/>
            <a:endCxn id="32" idx="1"/>
          </p:cNvCxnSpPr>
          <p:nvPr/>
        </p:nvCxnSpPr>
        <p:spPr>
          <a:xfrm>
            <a:off x="8810625" y="4595813"/>
            <a:ext cx="428625" cy="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  <p:cxnSp>
        <p:nvCxnSpPr>
          <p:cNvPr id="77" name="Elbow Connector 76"/>
          <p:cNvCxnSpPr>
            <a:stCxn id="16" idx="2"/>
            <a:endCxn id="23" idx="0"/>
          </p:cNvCxnSpPr>
          <p:nvPr/>
        </p:nvCxnSpPr>
        <p:spPr>
          <a:xfrm flipH="1">
            <a:off x="2595563" y="3000375"/>
            <a:ext cx="8072438" cy="1000125"/>
          </a:xfrm>
          <a:prstGeom prst="bentConnector4">
            <a:avLst>
              <a:gd name="adj1" fmla="val 0"/>
              <a:gd name="adj2" fmla="val 77143"/>
            </a:avLst>
          </a:prstGeom>
          <a:ln w="19050">
            <a:solidFill>
              <a:srgbClr val="7AAAB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que o processo não substitui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Templates organizam o trabalho; pessoas continuam decidindo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Entrevista ou evidência do problema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equipe precisa revisar os artefatos antes de avançar.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Prioridade definida pelo PO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Julgamento sobre risco e escopo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original-2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Teste com casos relevantes</a:t>
            </a:r>
          </a:p>
        </p:txBody>
      </p:sp>
      <p:sp>
        <p:nvSpPr>
          <p:cNvPr id="13" name="original-2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original-23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Responsabilidade sobre o produto entregue</a:t>
            </a:r>
          </a:p>
        </p:txBody>
      </p:sp>
      <p:sp>
        <p:nvSpPr>
          <p:cNvPr id="15" name="original-24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iginal-4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Anatomia da primeira spec</a:t>
            </a:r>
          </a:p>
        </p:txBody>
      </p:sp>
      <p:sp>
        <p:nvSpPr>
          <p:cNvPr id="2" name="original-5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spec curta deve permitir que outra pessoa discuta o comportamento sem ouvir a explicação do autor.</a:t>
            </a: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Bloco 2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História, critério e especificação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História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Registra valor para uma pessoa.
Como [pessoa], quero [ação], para [resultado].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Especificação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Reúne contexto, escopo, requisitos, critérios, restrições e perguntas.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lIns="95250" tIns="0" rIns="3810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Critério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Descreve uma situação observável que permite aceitar ou rejeitar um comportamento.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9525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Intenção primeiro, implementação depois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Spec: o que e por quê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Usuário.
Resultado esperado.
Comportamento.
Limites.
Critérios de sucesso.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95250" tIns="0" rIns="3810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FFFFFF"/>
                </a:solidFill>
              </a:rPr>
              <a:t>Plano: como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Arquitetura.
Bibliotecas.
Banco de dados.
Contratos técnicos.
Estratégia de implantação.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08550A-9942-487E-B1B1-F0736B2B311D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Oito partes da primeira especificação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5175B0-29EC-4685-A28F-307EA531D544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A3E03-955D-4D86-82BB-BA36EFEE9E71}"/>
              </a:ext>
            </a:extLst>
          </p:cNvPr>
          <p:cNvSpPr>
            <a:spLocks noGrp="1"/>
          </p:cNvSpPr>
          <p:nvPr/>
        </p:nvSpPr>
        <p:spPr>
          <a:xfrm>
            <a:off x="657225" y="206692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46F3E-4362-49FC-A36F-FE5A48CFBACE}"/>
              </a:ext>
            </a:extLst>
          </p:cNvPr>
          <p:cNvSpPr>
            <a:spLocks noGrp="1"/>
          </p:cNvSpPr>
          <p:nvPr/>
        </p:nvSpPr>
        <p:spPr>
          <a:xfrm>
            <a:off x="657225" y="244792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Problema e evidências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89E4B4-302B-4EE0-B538-ED0C627DE94D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307AD-A491-495C-9210-9477E69FF5EA}"/>
              </a:ext>
            </a:extLst>
          </p:cNvPr>
          <p:cNvSpPr>
            <a:spLocks noGrp="1"/>
          </p:cNvSpPr>
          <p:nvPr/>
        </p:nvSpPr>
        <p:spPr>
          <a:xfrm>
            <a:off x="3562350" y="206692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83DFD6-FD90-4A57-AA3F-1CF72D901905}"/>
              </a:ext>
            </a:extLst>
          </p:cNvPr>
          <p:cNvSpPr>
            <a:spLocks noGrp="1"/>
          </p:cNvSpPr>
          <p:nvPr/>
        </p:nvSpPr>
        <p:spPr>
          <a:xfrm>
            <a:off x="3562350" y="244792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Objetivo e resultado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D3F607-14D9-44B0-9472-B8065496B8C7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EEB698-1353-4DBC-B39A-EE80B2E370F3}"/>
              </a:ext>
            </a:extLst>
          </p:cNvPr>
          <p:cNvSpPr>
            <a:spLocks noGrp="1"/>
          </p:cNvSpPr>
          <p:nvPr/>
        </p:nvSpPr>
        <p:spPr>
          <a:xfrm>
            <a:off x="6467475" y="206692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774DAE-B70A-42C5-8755-B71C24949E5A}"/>
              </a:ext>
            </a:extLst>
          </p:cNvPr>
          <p:cNvSpPr>
            <a:spLocks noGrp="1"/>
          </p:cNvSpPr>
          <p:nvPr/>
        </p:nvSpPr>
        <p:spPr>
          <a:xfrm>
            <a:off x="6467475" y="244792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História prioritária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0A4756-E0F7-4A87-9EA8-A26A6C6BD19D}"/>
              </a:ext>
            </a:extLst>
          </p:cNvPr>
          <p:cNvSpPr>
            <a:spLocks noGrp="1"/>
          </p:cNvSpPr>
          <p:nvPr/>
        </p:nvSpPr>
        <p:spPr>
          <a:xfrm>
            <a:off x="9239250" y="195262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D6EEE-6B25-4DC1-AC5C-153038CEBE50}"/>
              </a:ext>
            </a:extLst>
          </p:cNvPr>
          <p:cNvSpPr>
            <a:spLocks noGrp="1"/>
          </p:cNvSpPr>
          <p:nvPr/>
        </p:nvSpPr>
        <p:spPr>
          <a:xfrm>
            <a:off x="9372600" y="206692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241C8-A21F-4AFF-8437-A1D1E42B32BC}"/>
              </a:ext>
            </a:extLst>
          </p:cNvPr>
          <p:cNvSpPr>
            <a:spLocks noGrp="1"/>
          </p:cNvSpPr>
          <p:nvPr/>
        </p:nvSpPr>
        <p:spPr>
          <a:xfrm>
            <a:off x="9372600" y="244792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Escopo e não escopo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7D899C1-59DF-46E3-9EC5-2EA768748E4A}"/>
              </a:ext>
            </a:extLst>
          </p:cNvPr>
          <p:cNvSpPr>
            <a:spLocks noGrp="1"/>
          </p:cNvSpPr>
          <p:nvPr/>
        </p:nvSpPr>
        <p:spPr>
          <a:xfrm>
            <a:off x="523875" y="395287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4EA0A-7683-4CC1-9D37-F55B0C49D658}"/>
              </a:ext>
            </a:extLst>
          </p:cNvPr>
          <p:cNvSpPr>
            <a:spLocks noGrp="1"/>
          </p:cNvSpPr>
          <p:nvPr/>
        </p:nvSpPr>
        <p:spPr>
          <a:xfrm>
            <a:off x="657225" y="406717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026F48-9E56-47C8-9B92-3AD124EBFBD4}"/>
              </a:ext>
            </a:extLst>
          </p:cNvPr>
          <p:cNvSpPr>
            <a:spLocks noGrp="1"/>
          </p:cNvSpPr>
          <p:nvPr/>
        </p:nvSpPr>
        <p:spPr>
          <a:xfrm>
            <a:off x="657225" y="444817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Entradas e fluxo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ED803A0-1880-456E-93CD-19937D4C029D}"/>
              </a:ext>
            </a:extLst>
          </p:cNvPr>
          <p:cNvSpPr>
            <a:spLocks noGrp="1"/>
          </p:cNvSpPr>
          <p:nvPr/>
        </p:nvSpPr>
        <p:spPr>
          <a:xfrm>
            <a:off x="3429000" y="395287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5CD889-BE71-4F67-9268-F01BE7C3C5F8}"/>
              </a:ext>
            </a:extLst>
          </p:cNvPr>
          <p:cNvSpPr>
            <a:spLocks noGrp="1"/>
          </p:cNvSpPr>
          <p:nvPr/>
        </p:nvSpPr>
        <p:spPr>
          <a:xfrm>
            <a:off x="3562350" y="406717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CA7B99-22AC-475B-9CF9-80D4386F7B8F}"/>
              </a:ext>
            </a:extLst>
          </p:cNvPr>
          <p:cNvSpPr>
            <a:spLocks noGrp="1"/>
          </p:cNvSpPr>
          <p:nvPr/>
        </p:nvSpPr>
        <p:spPr>
          <a:xfrm>
            <a:off x="3562350" y="444817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Requisitos e critérios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73A9CEE-1194-472F-A3E0-2E735E246D9D}"/>
              </a:ext>
            </a:extLst>
          </p:cNvPr>
          <p:cNvSpPr>
            <a:spLocks noGrp="1"/>
          </p:cNvSpPr>
          <p:nvPr/>
        </p:nvSpPr>
        <p:spPr>
          <a:xfrm>
            <a:off x="6334125" y="395287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94ABC8-4773-4D33-9187-579FC4C589A2}"/>
              </a:ext>
            </a:extLst>
          </p:cNvPr>
          <p:cNvSpPr>
            <a:spLocks noGrp="1"/>
          </p:cNvSpPr>
          <p:nvPr/>
        </p:nvSpPr>
        <p:spPr>
          <a:xfrm>
            <a:off x="6467475" y="406717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8D58C-10C2-4005-A5C0-F65429A03107}"/>
              </a:ext>
            </a:extLst>
          </p:cNvPr>
          <p:cNvSpPr>
            <a:spLocks noGrp="1"/>
          </p:cNvSpPr>
          <p:nvPr/>
        </p:nvSpPr>
        <p:spPr>
          <a:xfrm>
            <a:off x="6467475" y="444817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Qualidade e riscos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202EE5F-3484-4CB7-9FC0-DA31ED9BD47A}"/>
              </a:ext>
            </a:extLst>
          </p:cNvPr>
          <p:cNvSpPr>
            <a:spLocks noGrp="1"/>
          </p:cNvSpPr>
          <p:nvPr/>
        </p:nvSpPr>
        <p:spPr>
          <a:xfrm>
            <a:off x="9239250" y="395287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869832-91A6-458E-BC37-CC058C9DB73A}"/>
              </a:ext>
            </a:extLst>
          </p:cNvPr>
          <p:cNvSpPr>
            <a:spLocks noGrp="1"/>
          </p:cNvSpPr>
          <p:nvPr/>
        </p:nvSpPr>
        <p:spPr>
          <a:xfrm>
            <a:off x="9372600" y="4067175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330212-8CE2-42D6-AF7E-CEE95C789638}"/>
              </a:ext>
            </a:extLst>
          </p:cNvPr>
          <p:cNvSpPr>
            <a:spLocks noGrp="1"/>
          </p:cNvSpPr>
          <p:nvPr/>
        </p:nvSpPr>
        <p:spPr>
          <a:xfrm>
            <a:off x="9372600" y="4448175"/>
            <a:ext cx="22098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Questões e decisões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1206</Words>
  <Application>Microsoft Macintosh PowerPoint</Application>
  <DocSecurity>0</DocSecurity>
  <PresentationFormat>Widescreen</PresentationFormat>
  <Paragraphs>174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Helvetica Neue</vt:lpstr>
      <vt:lpstr>Arial</vt:lpstr>
      <vt:lpstr>Default Codex Theme</vt:lpstr>
      <vt:lpstr>Da intenção à primeira
especificação</vt:lpstr>
      <vt:lpstr>Contexto compartilhado</vt:lpstr>
      <vt:lpstr>PowerPoint Presentation</vt:lpstr>
      <vt:lpstr>PowerPoint Presentation</vt:lpstr>
      <vt:lpstr>Suposições razoáveis, produtos incompatíveis</vt:lpstr>
      <vt:lpstr>O momento em que a ambiguidade aparece</vt:lpstr>
      <vt:lpstr>Spec-Driven Development</vt:lpstr>
      <vt:lpstr>PowerPoint Presentation</vt:lpstr>
      <vt:lpstr>PowerPoint Presentation</vt:lpstr>
      <vt:lpstr>O que o GitHub Spec Kit oferece</vt:lpstr>
      <vt:lpstr>PowerPoint Presentation</vt:lpstr>
      <vt:lpstr>O que o processo não substitui</vt:lpstr>
      <vt:lpstr>Anatomia da primeira spec</vt:lpstr>
      <vt:lpstr>História, critério e especificação</vt:lpstr>
      <vt:lpstr>Intenção primeiro, implementação depois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3</cp:revision>
  <dcterms:created xsi:type="dcterms:W3CDTF">2026-09-24T18:27:01Z</dcterms:created>
  <dcterms:modified xsi:type="dcterms:W3CDTF">2026-09-24T22:35:37Z</dcterms:modified>
</cp:coreProperties>
</file>