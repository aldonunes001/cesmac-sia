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1"/>
  </p:notesMasterIdLst>
  <p:sldIdLst>
    <p:sldId id="256" r:id="rId2"/>
    <p:sldId id="259" r:id="rId3"/>
    <p:sldId id="260" r:id="rId4"/>
    <p:sldId id="309" r:id="rId5"/>
    <p:sldId id="310" r:id="rId6"/>
    <p:sldId id="311" r:id="rId7"/>
    <p:sldId id="312" r:id="rId8"/>
    <p:sldId id="313" r:id="rId9"/>
    <p:sldId id="315" r:id="rId10"/>
    <p:sldId id="261" r:id="rId11"/>
    <p:sldId id="262" r:id="rId12"/>
    <p:sldId id="316" r:id="rId13"/>
    <p:sldId id="263" r:id="rId14"/>
    <p:sldId id="317" r:id="rId15"/>
    <p:sldId id="264" r:id="rId16"/>
    <p:sldId id="265" r:id="rId17"/>
    <p:sldId id="266" r:id="rId18"/>
    <p:sldId id="318" r:id="rId19"/>
    <p:sldId id="320" r:id="rId20"/>
    <p:sldId id="319" r:id="rId21"/>
    <p:sldId id="267" r:id="rId22"/>
    <p:sldId id="321" r:id="rId23"/>
    <p:sldId id="269" r:id="rId24"/>
    <p:sldId id="270" r:id="rId25"/>
    <p:sldId id="271" r:id="rId26"/>
    <p:sldId id="272" r:id="rId27"/>
    <p:sldId id="273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/>
    <p:restoredTop sz="94521"/>
  </p:normalViewPr>
  <p:slideViewPr>
    <p:cSldViewPr snapToGrid="0">
      <p:cViewPr varScale="1">
        <p:scale>
          <a:sx n="120" d="100"/>
          <a:sy n="12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 da aula. Pergunte à turma o que precisa acontecer antes de qualquer linha de código. A imagem é conceitual e foi gerada por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Leia a frase e não explique o problema. Peça à turma que faça perguntas. A imagem é conceitual, gerada por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3C96-7DEA-A832-AF2E-C9545A76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E33C1-0B50-2C38-FF8C-FA1AA9877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7C44B-E7B8-A66D-EA58-B0814A8AA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05156-F3FF-ABF8-8028-E966E1C058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045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85EAE-0D41-497D-EEA3-ED6F243E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9F135-213E-31B2-50F8-17B33FFAB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0B827-A247-14C0-BC6F-DE4C0F38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A4A61-3BF9-7BF0-532E-F8179B22183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3240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31E57-750B-66CC-69DE-C8972AE7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99BF4-413C-2340-CD1C-66CC058CC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73B30-6C42-81AF-930C-3C1F00956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52BD-CC51-CF68-BFC6-0BED30E5E5F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3687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8A83-50DA-B727-17BA-9EAE90EE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7931F-E551-A5F1-C1E3-4A5B0FCB2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9EC68-7BDC-67EA-E18F-A093CC92D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6962B-229A-A821-1E2B-95564A9A10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086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FD1D-2057-8817-32F0-233BC8AF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FD6AA-C5EE-534A-0FDC-7BFBF91B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D87BD-5E4E-A44B-123F-631B2726E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A178D-1EF6-92B8-DCE2-062E88B7BC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5035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7C320-FB67-2CA2-AE9C-C1A29583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5ABA-DF40-2159-80CA-BB1640672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4E0F7-350E-5B3B-CBBA-A4321F2A6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Explore também: o que acontece quando o sistema não sabe, quem revisa a resposta e como será observado o resultado.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48864-3E39-911A-5F3C-DA54A7E2C6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3950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cores ou marcações distintas no quadro da turma. Uma suposição não vira evidência apenas porque todos concordam com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Uma ideia de solução pode ser útil como hipótese. O problema surge quando ela se torna compromisso antes da investigação.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9C94D-05C8-6E59-AFAA-0A3C72AE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5AE3C-2524-C013-8170-D7D675531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E77B8-8840-B84D-124E-96F768F0D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Uma ideia de solução pode ser útil como hipótese. O problema surge quando ela se torna compromisso antes da investigação.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6E761-E709-6145-F01D-1E001AE9B45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3575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Leia 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. Se um </a:t>
            </a:r>
            <a:r>
              <a:rPr dirty="0" err="1"/>
              <a:t>elemento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, </a:t>
            </a:r>
            <a:r>
              <a:rPr dirty="0" err="1"/>
              <a:t>registre</a:t>
            </a:r>
            <a:r>
              <a:rPr dirty="0"/>
              <a:t> a lacuna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 de </a:t>
            </a:r>
            <a:r>
              <a:rPr dirty="0" err="1"/>
              <a:t>descoberta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C055-EE7A-EAF8-943E-76B0FE75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15F77-5E2C-57CC-4030-A8AB18E57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149D5-B823-7F62-5590-06ACDA488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Leia 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. Se um </a:t>
            </a:r>
            <a:r>
              <a:rPr dirty="0" err="1"/>
              <a:t>elemento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, </a:t>
            </a:r>
            <a:r>
              <a:rPr dirty="0" err="1"/>
              <a:t>registre</a:t>
            </a:r>
            <a:r>
              <a:rPr dirty="0"/>
              <a:t> a lacuna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 de </a:t>
            </a:r>
            <a:r>
              <a:rPr dirty="0" err="1"/>
              <a:t>descoberta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F6754-A25D-5EF6-37C9-2AA2B0FA588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8624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mesma observação pode ser sintoma de problemas distintos. A equipe precisa formular e testar sua explicação.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Peça que os grupos usem verbos observáveis. Evite adjetivos como inteligente, fácil, rápido, preciso ou seguro sem definição operacional.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https://www.designcouncil.org.uk/resources/the-double-diamond/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https://mitpress.mit.edu/9780262190510/the-sciences-of-the-artificial/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exemplo revisado ainda contém hipóteses. A especificação deve declarar de onde virão as perguntas e quem julgará as respostas.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F15F-2F63-6B06-926D-BE15E0F7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BBD04-D539-5650-41BE-24D32D7C9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63778-C96D-142B-5D44-62B6C658E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exemplo revisado ainda contém hipóteses. A especificação deve declarar de onde virão as perguntas e quem julgará as respostas.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185BA-C9D9-89D2-09A9-AAE7ED7CE9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08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C370-2CDB-2F81-06BB-AE92EFE4C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5E77B-4BE5-5872-6E73-0230C10D2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A1444-2547-7A43-C8B9-90343C7F7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exemplo revisado ainda contém hipóteses. A especificação deve declarar de onde virão as perguntas e quem julgará as respostas.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73386-5C93-2E8B-DF21-A1C7E3E6E0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066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BEE4-2572-1603-8126-33FB7B8D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08778-05DC-C8EF-ABDF-0F3E1263D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43846-4F1D-75C3-B702-8A316CEFE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exemplo revisado ainda contém hipóteses. A especificação deve declarar de onde virão as perguntas e quem julgará as respostas.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0DEEC-7619-F81D-5BAD-41E2ED725D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215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Faça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silenciosa</a:t>
            </a:r>
            <a:r>
              <a:rPr dirty="0"/>
              <a:t> do </a:t>
            </a:r>
            <a:r>
              <a:rPr dirty="0" err="1"/>
              <a:t>texto</a:t>
            </a:r>
            <a:r>
              <a:rPr dirty="0"/>
              <a:t> de um </a:t>
            </a:r>
            <a:r>
              <a:rPr dirty="0" err="1"/>
              <a:t>grupo</a:t>
            </a:r>
            <a:r>
              <a:rPr dirty="0"/>
              <a:t>.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explicação</a:t>
            </a:r>
            <a:r>
              <a:rPr dirty="0"/>
              <a:t> oral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voltar</a:t>
            </a:r>
            <a:r>
              <a:rPr dirty="0"/>
              <a:t> para o </a:t>
            </a:r>
            <a:r>
              <a:rPr dirty="0" err="1"/>
              <a:t>documento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Não use “wicked” como sinônimo de difícil. O conceito destaca dependência entre formulação, partes interessadas e avaliação. A imagem é conceitual, gerada por IA.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https://doi.org/10.1007/BF01405730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Transição. Pergunte: qual parte da proposta realmente exige comportamento probabilístico?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escada não representa maturidade. Subir aumenta flexibilidade e também custo, incerteza e necessidade de avaliação. Uma aplicação pode combinar mecanismos.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https://developers.google.com/machine-learning/guides/rules-of-ml?hl=pt-br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https://pair.withgoogle.com/chapter/user-needs/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escolha depende do problema e do custo do erro. A tabela não obriga um único mecanismo para todo o produto.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https://developers.google.com/machine-learning/guides/rules-of-ml?hl=pt-br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https://pair.withgoogle.com/chapter/user-needs/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Acrescente perguntas sobre dados, privacidade, latência, custo e dependência do fornecedor. A ausência de resposta pode indicar que a decisão está prematura.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https://pair.withgoogle.com/chapter/user-needs/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https://airc.nist.gov/airmf-resources/airmf/5-sec-core/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linha de base pode ser busca manual, regra simples ou fluxo atual. Sem ela, a equipe consegue demonstrar funcionamento, mas não consegue sustentar que houve melhoria.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https://developers.google.com/machine-learning/guides/rules-of-ml?hl=pt-br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Uma interface conversacional pode ser adequada, mas ela é consequência da jornada e não a definição do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os quatro padrões como sinais de revisão, não como motivos automáticos para rejeitar a ideia.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Google recomenda começar com mecanismo simples e métricas. Sculley et al. mostram dívidas nas dependências de dados e sistema. Amershi et al. descrevem desafios de equipes reais. O NIST estrutura o mapeamento de finalidade e impacto.</a:t>
            </a:r>
          </a:p>
          <a:p>
            <a:endParaRPr/>
          </a:p>
          <a:p>
            <a:r>
              <a:t>Fontes:</a:t>
            </a:r>
          </a:p>
          <a:p>
            <a:r>
              <a:t>https://developers.google.com/machine-learning/guides/rules-of-ml?hl=pt-br</a:t>
            </a:r>
          </a:p>
          <a:p>
            <a:r>
              <a:t>https://proceedings.neurips.cc/paper/2015/hash/86df7dcfd896fcaf2674f757a2463eba-Abstract.html</a:t>
            </a:r>
          </a:p>
          <a:p>
            <a:r>
              <a:t>https://www.microsoft.com/en-us/research/publication/software-engineering-for-machine-learning-a-case-study/</a:t>
            </a:r>
          </a:p>
          <a:p>
            <a:r>
              <a:t>https://airc.nist.gov/airmf-resources/airmf/5-sec-core/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Transição. Pergunte à turma o que precisa existir para aprender e o que pode esperar.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Um MVP não precisa conter todas as funcionalidades nem todas as tecnologias da disciplina. Ele precisa testar a hipótese central.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https://martinfowler.com/articles/lean-inception/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https://martinfowler.com/articles/lean-inception/build-mvp-canvas.html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 fronteiras variam entre organizações. Para a disciplina, o MVP precisa completar uma jornada e permitir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Lean Inception alinha pessoas sobre o MVP. O curso usa um recorte breve na primeira aula e aprofunda decisões nas reuniões com o PO.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https://martinfowler.com/articles/lean-inception/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https://martinfowler.com/articles/lean-inception/build-mvp-canvas.html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adaptação não substitui uma Lean Inception completa. Ela cria um ponto de partida para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atividade reduz interpretações expansivas. Use frases concretas e registre os limites na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Diferencie hipótese de desejo. Uma hipótese inclui condição observável que pode contrariar a expectativa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Pergunta de corte: se retirarmos esta funcionalidade, ainda conseguimos testar a hipótese principal? Se sim, ela provavelmente pode esperar.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https://martinfowler.com/articles/lean-inception/build-mvp-canvas.html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riginal-4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733" y="1907316"/>
            <a:ext cx="7174888" cy="249149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4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 problema à
especificação</a:t>
            </a:r>
          </a:p>
        </p:txBody>
      </p:sp>
      <p:sp>
        <p:nvSpPr>
          <p:cNvPr id="3" name="original-6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415734" y="392241"/>
            <a:ext cx="5702300" cy="64915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Sistemas Inteligentes Aplicados</a:t>
            </a:r>
          </a:p>
        </p:txBody>
      </p:sp>
      <p:pic>
        <p:nvPicPr>
          <p:cNvPr id="8" name="original-7"/>
          <p:cNvPicPr>
            <a:picLocks noChangeAspect="1"/>
          </p:cNvPicPr>
          <p:nvPr/>
        </p:nvPicPr>
        <p:blipFill>
          <a:blip r:embed="rId3"/>
          <a:srcRect l="32385" r="32385"/>
          <a:stretch>
            <a:fillRect/>
          </a:stretch>
        </p:blipFill>
        <p:spPr>
          <a:xfrm>
            <a:off x="7899094" y="0"/>
            <a:ext cx="4292906" cy="685800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3E8EB7B2-45F3-D276-B785-F2B23B5C9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ideia aparentemente clara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9407" r="9407"/>
          <a:stretch>
            <a:fillRect/>
          </a:stretch>
        </p:blipFill>
        <p:spPr>
          <a:xfrm>
            <a:off x="5334000" y="1571625"/>
            <a:ext cx="6457950" cy="4476750"/>
          </a:xfrm>
          <a:prstGeom prst="roundRect">
            <a:avLst>
              <a:gd name="adj" fmla="val 2979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CD34C2-E885-4FB7-B1BE-72A3E54D26AF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criar um chatbot inteligente para responder dúvidas dos alunos.”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DFAF-56E8-45BA-C6F8-6AAD7B5BFDDD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124C-795D-27ED-2723-E75AA5C9F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D4D7FD84-6A28-D03C-74BC-AC0FCF7E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6F8DE045-91E8-3E10-1995-589B26890C7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E57E368D-02A1-078B-3A71-77F9BAF88841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respostas definem o problema antes de definir a tecnologia.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F9AE04-244A-2B15-AA2C-35176FB4BB85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59829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9420-8589-7F74-CF15-62BA48EB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DA723AE-5A86-FCF1-2A22-E1425747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6981F6FC-8D42-795A-ADA6-9140FFC46EF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9924A3B4-9722-69CA-3F06-C0DDB654244A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Quais alunos e quais situações?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88C175D6-332E-574E-5561-62981F18924E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14AF4ECD-B56B-39E6-EE0D-5F0E03E63543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respostas definem o problema antes de definir a tecnologia.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542FE-937E-162B-C380-C5789EF9FEA9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29372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64BB-8F1E-4C2E-3FE7-99956FCA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36CEB5F6-E38F-9159-DE06-E117926F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FE178140-1D62-3244-DA18-5F6F589323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7360123B-6014-0FDE-822D-A09F63704FE9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Quais alunos e quais situações?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F52BF3EB-A988-6752-D1A8-FC051FEA1F7E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E5637571-553A-D447-B110-8D6F1B38CEA2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respostas definem o problema antes de definir a tecnologia.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8D690782-2C84-4CB9-DF08-40C108359E01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dificuldade observável ocorre hoje?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796A964C-75EB-DED4-C4A1-0418DEEED13A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1F4289-2465-E206-AD9D-DEA54D73A2E3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65740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6D34-6D60-D987-6F4D-920B3EE7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11807C7-35B9-B293-E5A0-05B68E7C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C646B6DA-82E7-9802-6F94-E94A7471990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5CACCDA9-7F54-9BD7-2F01-F0D3DECE9EE1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Quais alunos e quais situações?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54D529E0-04A5-AA3D-591A-F6A94B052A74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F6076BA1-B927-60FE-2204-2AC38D6F8CE0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respostas definem o problema antes de definir a tecnologia.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0C288D90-7B7F-1D68-D97E-091F6FAD39C8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dificuldade observável ocorre hoje?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DB7CCB6C-D07F-B679-090E-1CACFF9C94B8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riginal-18">
            <a:extLst>
              <a:ext uri="{FF2B5EF4-FFF2-40B4-BE49-F238E27FC236}">
                <a16:creationId xmlns:a16="http://schemas.microsoft.com/office/drawing/2014/main" id="{B98292F8-AD37-AD28-7960-B49362EF87CF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alternativa eles usam?</a:t>
            </a:r>
          </a:p>
        </p:txBody>
      </p:sp>
      <p:sp>
        <p:nvSpPr>
          <p:cNvPr id="11" name="original-19">
            <a:extLst>
              <a:ext uri="{FF2B5EF4-FFF2-40B4-BE49-F238E27FC236}">
                <a16:creationId xmlns:a16="http://schemas.microsoft.com/office/drawing/2014/main" id="{D118213A-ABAE-D0B0-ADC6-05B0B2D4C580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07BFC-F2B0-23B0-CEFF-62F83D73E260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854105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F646-9FF7-F059-4AE8-8EEF7927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B01A11C0-F663-BEA5-4E51-DC770DF3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26240AAB-703C-ED12-766C-E5A43896039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80D030AF-6294-B2BA-3D0B-F177415D80D0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Quais alunos e quais situações?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07855795-634C-C626-0C02-9AD3D5E153B3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B24D9882-4DB7-2D07-1818-7BD6739F8427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respostas definem o problema antes de definir a tecnologia.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CC6837D5-4586-F644-798D-2EDFF81114D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dificuldade observável ocorre hoje?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C3CE9218-C0EC-5326-3AB9-0B158B0D4207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riginal-18">
            <a:extLst>
              <a:ext uri="{FF2B5EF4-FFF2-40B4-BE49-F238E27FC236}">
                <a16:creationId xmlns:a16="http://schemas.microsoft.com/office/drawing/2014/main" id="{8CEF6958-B33C-45DE-17AA-38C51E3FB2B6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alternativa eles usam?</a:t>
            </a:r>
          </a:p>
        </p:txBody>
      </p:sp>
      <p:sp>
        <p:nvSpPr>
          <p:cNvPr id="11" name="original-19">
            <a:extLst>
              <a:ext uri="{FF2B5EF4-FFF2-40B4-BE49-F238E27FC236}">
                <a16:creationId xmlns:a16="http://schemas.microsoft.com/office/drawing/2014/main" id="{BF28F2F4-2D9D-BECA-577C-2D600D38ADB6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original-20">
            <a:extLst>
              <a:ext uri="{FF2B5EF4-FFF2-40B4-BE49-F238E27FC236}">
                <a16:creationId xmlns:a16="http://schemas.microsoft.com/office/drawing/2014/main" id="{5087089D-03FF-B901-651E-85F7308AC6F6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é o custo de uma resposta errada?</a:t>
            </a:r>
          </a:p>
        </p:txBody>
      </p:sp>
      <p:sp>
        <p:nvSpPr>
          <p:cNvPr id="13" name="original-21">
            <a:extLst>
              <a:ext uri="{FF2B5EF4-FFF2-40B4-BE49-F238E27FC236}">
                <a16:creationId xmlns:a16="http://schemas.microsoft.com/office/drawing/2014/main" id="{AEF342FA-6F41-AD0A-3A7F-F7FAEF5D9DE6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9C8993-47AB-8C54-B047-F7BA1CF1C160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23749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368D-AB7A-0F48-1A18-306CAE3D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605C4654-128B-5850-3A08-4F9B7C77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Perguntas que a ideia ainda não responde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EBB10547-7CF9-3CBB-E83D-311259C4C3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descoberta começa pelas lacunas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E30F60A5-E8FE-9EAE-8820-0723DAC1CFAE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Quais alunos e quais situações?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EC75BD55-A9B7-850B-7898-CA091AC42E75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EB9FEC7C-9FED-41FB-74C8-66942D7B005D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respostas definem o problema antes de definir a tecnologia.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FF5A3DC8-564E-3ECE-7414-62767DBB21FC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dificuldade observável ocorre hoje?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46A11B22-76E1-602B-98D4-7BEBA85A4E39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riginal-18">
            <a:extLst>
              <a:ext uri="{FF2B5EF4-FFF2-40B4-BE49-F238E27FC236}">
                <a16:creationId xmlns:a16="http://schemas.microsoft.com/office/drawing/2014/main" id="{1843A2C2-8A59-9B4C-B65D-C266FAC09C9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alternativa eles usam?</a:t>
            </a:r>
          </a:p>
        </p:txBody>
      </p:sp>
      <p:sp>
        <p:nvSpPr>
          <p:cNvPr id="11" name="original-19">
            <a:extLst>
              <a:ext uri="{FF2B5EF4-FFF2-40B4-BE49-F238E27FC236}">
                <a16:creationId xmlns:a16="http://schemas.microsoft.com/office/drawing/2014/main" id="{2EAF53D3-A83F-4F6A-D939-58A3AD5670D8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original-20">
            <a:extLst>
              <a:ext uri="{FF2B5EF4-FFF2-40B4-BE49-F238E27FC236}">
                <a16:creationId xmlns:a16="http://schemas.microsoft.com/office/drawing/2014/main" id="{32B0E911-78C9-A521-463E-06FBED4D4DBC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é o custo de uma resposta errada?</a:t>
            </a:r>
          </a:p>
        </p:txBody>
      </p:sp>
      <p:sp>
        <p:nvSpPr>
          <p:cNvPr id="13" name="original-21">
            <a:extLst>
              <a:ext uri="{FF2B5EF4-FFF2-40B4-BE49-F238E27FC236}">
                <a16:creationId xmlns:a16="http://schemas.microsoft.com/office/drawing/2014/main" id="{64454543-E84F-ED47-ACA2-F43C7E411184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original-23">
            <a:extLst>
              <a:ext uri="{FF2B5EF4-FFF2-40B4-BE49-F238E27FC236}">
                <a16:creationId xmlns:a16="http://schemas.microsoft.com/office/drawing/2014/main" id="{B111DE75-3EE3-925A-80EB-6D4A1D7DBCC0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Quais dados e documentos existem?</a:t>
            </a:r>
          </a:p>
        </p:txBody>
      </p:sp>
      <p:sp>
        <p:nvSpPr>
          <p:cNvPr id="15" name="original-24">
            <a:extLst>
              <a:ext uri="{FF2B5EF4-FFF2-40B4-BE49-F238E27FC236}">
                <a16:creationId xmlns:a16="http://schemas.microsoft.com/office/drawing/2014/main" id="{B2E0ADA3-17BD-B145-9CE0-EE8FFBA163F4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729BBD-0177-E5FF-E708-071AF60446B2}"/>
              </a:ext>
            </a:extLst>
          </p:cNvPr>
          <p:cNvSpPr>
            <a:spLocks noGrp="1"/>
          </p:cNvSpPr>
          <p:nvPr/>
        </p:nvSpPr>
        <p:spPr>
          <a:xfrm>
            <a:off x="7172990" y="1369218"/>
            <a:ext cx="4476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“Vamos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criar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um chatbot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inteligente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para responder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dúvidas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 dos </a:t>
            </a:r>
            <a:r>
              <a:rPr sz="2175" b="0" dirty="0" err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alunos</a:t>
            </a:r>
            <a:r>
              <a:rPr sz="217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4260257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Conhecimento, suposições e investigação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248537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Sabemos</a:t>
            </a:r>
            <a:endParaRPr sz="2175" b="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Fatos </a:t>
            </a:r>
            <a:r>
              <a:rPr sz="1800" dirty="0" err="1">
                <a:solidFill>
                  <a:srgbClr val="FFFFFF"/>
                </a:solidFill>
              </a:rPr>
              <a:t>apoiados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por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observação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registro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ou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fonte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confiável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 lIns="0" tIns="0" rIns="0" bIns="0" anchor="t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Precisamos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descobrir</a:t>
            </a:r>
            <a:endParaRPr sz="2175" b="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 err="1">
                <a:solidFill>
                  <a:srgbClr val="FFFFFF"/>
                </a:solidFill>
              </a:rPr>
              <a:t>Perguntas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que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mudam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escopo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risco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ou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decisão</a:t>
            </a:r>
            <a:r>
              <a:rPr sz="1800" dirty="0">
                <a:solidFill>
                  <a:srgbClr val="FFFFFF"/>
                </a:solidFill>
              </a:rPr>
              <a:t> de </a:t>
            </a:r>
            <a:r>
              <a:rPr sz="1800" dirty="0" err="1">
                <a:solidFill>
                  <a:srgbClr val="FFFFFF"/>
                </a:solidFill>
              </a:rPr>
              <a:t>solução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 lIns="0" tIns="0" rIns="0" bIns="0" anchor="t">
            <a:noAutofit/>
          </a:bodyPr>
          <a:lstStyle/>
          <a:p>
            <a:pPr marL="0" indent="0" algn="ctr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Supomos</a:t>
            </a:r>
            <a:endParaRPr sz="2175" b="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 err="1">
                <a:solidFill>
                  <a:srgbClr val="FFFFFF"/>
                </a:solidFill>
              </a:rPr>
              <a:t>Crenças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plausíveis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que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ainda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podem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estar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erradas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Ideia de solução e formulação do problema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Ideia</a:t>
            </a:r>
            <a:r>
              <a:rPr sz="2175" b="0" dirty="0">
                <a:solidFill>
                  <a:srgbClr val="FFFFFF"/>
                </a:solidFill>
              </a:rPr>
              <a:t> de </a:t>
            </a:r>
            <a:r>
              <a:rPr sz="2175" b="0" dirty="0" err="1">
                <a:solidFill>
                  <a:srgbClr val="FFFFFF"/>
                </a:solidFill>
              </a:rPr>
              <a:t>solução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“</a:t>
            </a:r>
            <a:r>
              <a:rPr sz="1800" dirty="0" err="1">
                <a:solidFill>
                  <a:srgbClr val="FFFFFF"/>
                </a:solidFill>
              </a:rPr>
              <a:t>Criar</a:t>
            </a:r>
            <a:r>
              <a:rPr sz="1800" dirty="0">
                <a:solidFill>
                  <a:srgbClr val="FFFFFF"/>
                </a:solidFill>
              </a:rPr>
              <a:t> um chatbot com IA.”
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Formulação</a:t>
            </a:r>
            <a:r>
              <a:rPr sz="2175" b="0" dirty="0">
                <a:solidFill>
                  <a:srgbClr val="FFFFFF"/>
                </a:solidFill>
              </a:rPr>
              <a:t> do </a:t>
            </a:r>
            <a:r>
              <a:rPr sz="2175" b="0" dirty="0" err="1">
                <a:solidFill>
                  <a:srgbClr val="FFFFFF"/>
                </a:solidFill>
              </a:rPr>
              <a:t>problema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“Estudantes </a:t>
            </a:r>
            <a:r>
              <a:rPr sz="1800" dirty="0" err="1">
                <a:solidFill>
                  <a:srgbClr val="FFFFFF"/>
                </a:solidFill>
              </a:rPr>
              <a:t>precisam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localizar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orientações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oficiais</a:t>
            </a:r>
            <a:r>
              <a:rPr sz="1800" dirty="0">
                <a:solidFill>
                  <a:srgbClr val="FFFFFF"/>
                </a:solidFill>
              </a:rPr>
              <a:t>, mas </a:t>
            </a:r>
            <a:r>
              <a:rPr sz="1800" dirty="0" err="1">
                <a:solidFill>
                  <a:srgbClr val="FFFFFF"/>
                </a:solidFill>
              </a:rPr>
              <a:t>enfrentam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informação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dispersa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demora</a:t>
            </a:r>
            <a:r>
              <a:rPr sz="1800" dirty="0">
                <a:solidFill>
                  <a:srgbClr val="FFFFFF"/>
                </a:solidFill>
              </a:rPr>
              <a:t>.”
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0EC1-5761-24FF-31E3-48A027FA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07D3C3F-9999-6F01-E4DF-4A463906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Ideia de solução e formulação do problema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AC687ACF-7D9F-1D7A-235C-8271AFFBFBA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Ideia de solução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“Criar um chatbot com IA.”
Define uma forma de interação e uma tecnologia antes de comprovar o valor.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AC34CA5A-BE4B-4173-A861-24F83288769F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Formulação do problema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“Estudantes precisam localizar orientações oficiais, mas enfrentam informação dispersa e demora.”
Define usuário, dificuldade e resultado.</a:t>
            </a:r>
          </a:p>
        </p:txBody>
      </p:sp>
    </p:spTree>
    <p:extLst>
      <p:ext uri="{BB962C8B-B14F-4D97-AF65-F5344CB8AC3E}">
        <p14:creationId xmlns:p14="http://schemas.microsoft.com/office/powerpoint/2010/main" val="1808600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Anatomia de um problema útil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18D01F-F89C-4CDA-A75A-E121B0CBF6D3}"/>
              </a:ext>
            </a:extLst>
          </p:cNvPr>
          <p:cNvSpPr>
            <a:spLocks noGrp="1"/>
          </p:cNvSpPr>
          <p:nvPr/>
        </p:nvSpPr>
        <p:spPr>
          <a:xfrm>
            <a:off x="381000" y="25717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182126"/>
          </a:solidFill>
          <a:ln w="11430">
            <a:solidFill>
              <a:srgbClr val="44525A"/>
            </a:solidFill>
            <a:prstDash val="solid"/>
          </a:ln>
        </p:spPr>
        <p:txBody>
          <a:bodyPr/>
          <a:lstStyle/>
          <a:p>
            <a:pPr algn="ctr"/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81777B-F857-4B9E-8F41-7576E9EB921E}"/>
              </a:ext>
            </a:extLst>
          </p:cNvPr>
          <p:cNvSpPr>
            <a:spLocks noGrp="1"/>
          </p:cNvSpPr>
          <p:nvPr/>
        </p:nvSpPr>
        <p:spPr>
          <a:xfrm>
            <a:off x="514350" y="2686050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Usuário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D572A-2779-4709-BB66-FC2DAB35060B}"/>
              </a:ext>
            </a:extLst>
          </p:cNvPr>
          <p:cNvSpPr>
            <a:spLocks noGrp="1"/>
          </p:cNvSpPr>
          <p:nvPr/>
        </p:nvSpPr>
        <p:spPr>
          <a:xfrm>
            <a:off x="514350" y="3067050"/>
            <a:ext cx="14001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quem vive a situação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540D44-261F-4C91-99B2-4A0CE8D3DBFD}"/>
              </a:ext>
            </a:extLst>
          </p:cNvPr>
          <p:cNvSpPr>
            <a:spLocks noGrp="1"/>
          </p:cNvSpPr>
          <p:nvPr/>
        </p:nvSpPr>
        <p:spPr>
          <a:xfrm>
            <a:off x="2333625" y="25717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182126"/>
          </a:solidFill>
          <a:ln w="11430">
            <a:solidFill>
              <a:srgbClr val="44525A"/>
            </a:solidFill>
            <a:prstDash val="solid"/>
          </a:ln>
        </p:spPr>
        <p:txBody>
          <a:bodyPr/>
          <a:lstStyle/>
          <a:p>
            <a:pPr algn="ctr"/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87A0E7-320D-4264-BB69-964353CB6E04}"/>
              </a:ext>
            </a:extLst>
          </p:cNvPr>
          <p:cNvSpPr>
            <a:spLocks noGrp="1"/>
          </p:cNvSpPr>
          <p:nvPr/>
        </p:nvSpPr>
        <p:spPr>
          <a:xfrm>
            <a:off x="2466975" y="2686050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38D67-5C26-4C19-988D-211C93090CC7}"/>
              </a:ext>
            </a:extLst>
          </p:cNvPr>
          <p:cNvSpPr>
            <a:spLocks noGrp="1"/>
          </p:cNvSpPr>
          <p:nvPr/>
        </p:nvSpPr>
        <p:spPr>
          <a:xfrm>
            <a:off x="2466975" y="3067050"/>
            <a:ext cx="14001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quando e onde ocorre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50D1BF-5DAF-40A2-870E-054D8173F268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182126"/>
          </a:solidFill>
          <a:ln w="11430">
            <a:solidFill>
              <a:srgbClr val="44525A"/>
            </a:solidFill>
            <a:prstDash val="solid"/>
          </a:ln>
        </p:spPr>
        <p:txBody>
          <a:bodyPr/>
          <a:lstStyle/>
          <a:p>
            <a:pPr algn="ctr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BF3CA-BDCB-4F68-BF28-848337795262}"/>
              </a:ext>
            </a:extLst>
          </p:cNvPr>
          <p:cNvSpPr>
            <a:spLocks noGrp="1"/>
          </p:cNvSpPr>
          <p:nvPr/>
        </p:nvSpPr>
        <p:spPr>
          <a:xfrm>
            <a:off x="4419600" y="2686050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Necessidade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BE31A3-1781-4431-9C3D-E9BD2EF20C91}"/>
              </a:ext>
            </a:extLst>
          </p:cNvPr>
          <p:cNvSpPr>
            <a:spLocks noGrp="1"/>
          </p:cNvSpPr>
          <p:nvPr/>
        </p:nvSpPr>
        <p:spPr>
          <a:xfrm>
            <a:off x="4419600" y="3067050"/>
            <a:ext cx="14001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qual progresso deseja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7985F8-798F-48C7-A83C-8E8E247C02A5}"/>
              </a:ext>
            </a:extLst>
          </p:cNvPr>
          <p:cNvSpPr>
            <a:spLocks noGrp="1"/>
          </p:cNvSpPr>
          <p:nvPr/>
        </p:nvSpPr>
        <p:spPr>
          <a:xfrm>
            <a:off x="6238875" y="25717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182126"/>
          </a:solidFill>
          <a:ln w="11430">
            <a:solidFill>
              <a:srgbClr val="44525A"/>
            </a:solidFill>
            <a:prstDash val="solid"/>
          </a:ln>
        </p:spPr>
        <p:txBody>
          <a:bodyPr/>
          <a:lstStyle/>
          <a:p>
            <a:pPr algn="ctr"/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7D7CA-0C08-4757-8E71-D173E215C633}"/>
              </a:ext>
            </a:extLst>
          </p:cNvPr>
          <p:cNvSpPr>
            <a:spLocks noGrp="1"/>
          </p:cNvSpPr>
          <p:nvPr/>
        </p:nvSpPr>
        <p:spPr>
          <a:xfrm>
            <a:off x="6372225" y="2686050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Barreira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370EF3-43B9-4C67-87FE-99E0C7AF98C3}"/>
              </a:ext>
            </a:extLst>
          </p:cNvPr>
          <p:cNvSpPr>
            <a:spLocks noGrp="1"/>
          </p:cNvSpPr>
          <p:nvPr/>
        </p:nvSpPr>
        <p:spPr>
          <a:xfrm>
            <a:off x="6372225" y="3067050"/>
            <a:ext cx="14001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o que impede o progresso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D0A80A1-CC1F-4E89-BDEB-A4F1C62F8671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182126"/>
          </a:solidFill>
          <a:ln w="11430">
            <a:solidFill>
              <a:srgbClr val="44525A"/>
            </a:solidFill>
            <a:prstDash val="solid"/>
          </a:ln>
        </p:spPr>
        <p:txBody>
          <a:bodyPr/>
          <a:lstStyle/>
          <a:p>
            <a:pPr algn="ctr"/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72012F-3A32-4407-AA62-B73A0B3B2361}"/>
              </a:ext>
            </a:extLst>
          </p:cNvPr>
          <p:cNvSpPr>
            <a:spLocks noGrp="1"/>
          </p:cNvSpPr>
          <p:nvPr/>
        </p:nvSpPr>
        <p:spPr>
          <a:xfrm>
            <a:off x="8324850" y="2686050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Impacto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C211C1-B1E9-4AB3-B22B-D774ABF545C5}"/>
              </a:ext>
            </a:extLst>
          </p:cNvPr>
          <p:cNvSpPr>
            <a:spLocks noGrp="1"/>
          </p:cNvSpPr>
          <p:nvPr/>
        </p:nvSpPr>
        <p:spPr>
          <a:xfrm>
            <a:off x="8324850" y="3067050"/>
            <a:ext cx="14001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qual consequência aparece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1C6E864-8C58-4789-8E67-26833E4EF979}"/>
              </a:ext>
            </a:extLst>
          </p:cNvPr>
          <p:cNvSpPr>
            <a:spLocks noGrp="1"/>
          </p:cNvSpPr>
          <p:nvPr/>
        </p:nvSpPr>
        <p:spPr>
          <a:xfrm>
            <a:off x="10144125" y="25717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12343A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pPr algn="ctr"/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C85C02-8951-4552-A43E-79CF7AEB995B}"/>
              </a:ext>
            </a:extLst>
          </p:cNvPr>
          <p:cNvSpPr>
            <a:spLocks noGrp="1"/>
          </p:cNvSpPr>
          <p:nvPr/>
        </p:nvSpPr>
        <p:spPr>
          <a:xfrm>
            <a:off x="10277475" y="2686050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Evidência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E1C0D0-8DFA-4E15-9FF9-C3D41F907350}"/>
              </a:ext>
            </a:extLst>
          </p:cNvPr>
          <p:cNvSpPr>
            <a:spLocks noGrp="1"/>
          </p:cNvSpPr>
          <p:nvPr/>
        </p:nvSpPr>
        <p:spPr>
          <a:xfrm>
            <a:off x="10277475" y="3067050"/>
            <a:ext cx="14001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como sabemos</a:t>
            </a:r>
          </a:p>
        </p:txBody>
      </p:sp>
      <p:cxnSp>
        <p:nvCxnSpPr>
          <p:cNvPr id="49" name="Straight Arrow Connector 48"/>
          <p:cNvCxnSpPr>
            <a:stCxn id="4" idx="3"/>
            <a:endCxn id="7" idx="1"/>
          </p:cNvCxnSpPr>
          <p:nvPr/>
        </p:nvCxnSpPr>
        <p:spPr>
          <a:xfrm>
            <a:off x="2047875" y="3286125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0" name="Straight Arrow Connector 49"/>
          <p:cNvCxnSpPr>
            <a:stCxn id="7" idx="3"/>
            <a:endCxn id="10" idx="1"/>
          </p:cNvCxnSpPr>
          <p:nvPr/>
        </p:nvCxnSpPr>
        <p:spPr>
          <a:xfrm>
            <a:off x="4000500" y="3286125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1" name="Straight Arrow Connector 50"/>
          <p:cNvCxnSpPr>
            <a:stCxn id="10" idx="3"/>
            <a:endCxn id="13" idx="1"/>
          </p:cNvCxnSpPr>
          <p:nvPr/>
        </p:nvCxnSpPr>
        <p:spPr>
          <a:xfrm>
            <a:off x="5953125" y="3286125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2" name="Straight Arrow Connector 51"/>
          <p:cNvCxnSpPr>
            <a:stCxn id="13" idx="3"/>
            <a:endCxn id="16" idx="1"/>
          </p:cNvCxnSpPr>
          <p:nvPr/>
        </p:nvCxnSpPr>
        <p:spPr>
          <a:xfrm>
            <a:off x="7905750" y="3286125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3" name="Straight Arrow Connector 52"/>
          <p:cNvCxnSpPr>
            <a:stCxn id="16" idx="3"/>
            <a:endCxn id="19" idx="1"/>
          </p:cNvCxnSpPr>
          <p:nvPr/>
        </p:nvCxnSpPr>
        <p:spPr>
          <a:xfrm>
            <a:off x="9858375" y="3286125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3C41DF7-CE1A-4995-AD24-3B86AAADDD05}"/>
              </a:ext>
            </a:extLst>
          </p:cNvPr>
          <p:cNvSpPr>
            <a:spLocks noGrp="1"/>
          </p:cNvSpPr>
          <p:nvPr/>
        </p:nvSpPr>
        <p:spPr>
          <a:xfrm>
            <a:off x="1952625" y="4714875"/>
            <a:ext cx="8286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Uma formulação forte conecta todos os elementos em uma única explicação.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642D-7986-D287-C748-09060D518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4F2D05C0-3533-F807-056C-9DDA9AAA7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76" y="0"/>
            <a:ext cx="12514730" cy="75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16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Vocabulário da descoberta</a:t>
            </a:r>
          </a:p>
        </p:txBody>
      </p:sp>
      <p:sp>
        <p:nvSpPr>
          <p:cNvPr id="4" name="original-14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endParaRPr/>
          </a:p>
        </p:txBody>
      </p:sp>
      <p:graphicFrame>
        <p:nvGraphicFramePr>
          <p:cNvPr id="10" name="Table 9"/>
          <p:cNvGraphicFramePr/>
          <p:nvPr/>
        </p:nvGraphicFramePr>
        <p:xfrm>
          <a:off x="400050" y="1809750"/>
          <a:ext cx="11287125" cy="42862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Termo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Pergunta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Exemplo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Sintoma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 que aparece?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Atendimento demorado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Problema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 que impede o resultado?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Informação oficial dispersa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Necessidade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 progresso o usuário busca?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Encontrar orientação aplicável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Hipótese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 que ainda precisa de prova?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Busca guiada reduzirá o tempo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Restrição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 limite deve ser respeitado?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Somente documentos autorizados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Modelo de formulação do problema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Estrutura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[Usuário], no contexto [situação], precisa [resultado], mas enfrenta [dificuldade]. Hoje utiliza [alternativa], o que provoca [impacto].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Critério de melhoria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Consideraremos que houve melhoria quando [comportamento, métrica ou evidência verificável].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primeira redação e revisão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Primeira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redação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“</a:t>
            </a:r>
            <a:r>
              <a:rPr sz="1800" dirty="0" err="1">
                <a:solidFill>
                  <a:srgbClr val="FFFFFF"/>
                </a:solidFill>
              </a:rPr>
              <a:t>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alunos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têm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dificuldade</a:t>
            </a:r>
            <a:r>
              <a:rPr sz="1800" dirty="0">
                <a:solidFill>
                  <a:srgbClr val="FFFFFF"/>
                </a:solidFill>
              </a:rPr>
              <a:t> com </a:t>
            </a:r>
            <a:r>
              <a:rPr sz="1800" dirty="0" err="1">
                <a:solidFill>
                  <a:srgbClr val="FFFFFF"/>
                </a:solidFill>
              </a:rPr>
              <a:t>regras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acadêmicas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precisam</a:t>
            </a:r>
            <a:r>
              <a:rPr sz="1800" dirty="0">
                <a:solidFill>
                  <a:srgbClr val="FFFFFF"/>
                </a:solidFill>
              </a:rPr>
              <a:t> de um chatbot.”
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4A4E-F2EC-1327-8092-75C86722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FD3CE919-5B2D-EC9B-5BD2-64B652AF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primeira redação e revisão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0FB00ED9-EBDC-E7E8-551B-D22051F4877F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Primeira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redação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“</a:t>
            </a:r>
            <a:r>
              <a:rPr sz="1800" dirty="0" err="1">
                <a:solidFill>
                  <a:srgbClr val="FFFFFF"/>
                </a:solidFill>
              </a:rPr>
              <a:t>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alunos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têm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dificuldade</a:t>
            </a:r>
            <a:r>
              <a:rPr sz="1800" dirty="0">
                <a:solidFill>
                  <a:srgbClr val="FFFFFF"/>
                </a:solidFill>
              </a:rPr>
              <a:t> com </a:t>
            </a:r>
            <a:r>
              <a:rPr sz="1800" dirty="0" err="1">
                <a:solidFill>
                  <a:srgbClr val="FFFFFF"/>
                </a:solidFill>
              </a:rPr>
              <a:t>regras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acadêmicas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precisam</a:t>
            </a:r>
            <a:r>
              <a:rPr sz="1800" dirty="0">
                <a:solidFill>
                  <a:srgbClr val="FFFFFF"/>
                </a:solidFill>
              </a:rPr>
              <a:t> de um chatbot.”
</a:t>
            </a:r>
            <a:r>
              <a:rPr sz="1800" dirty="0" err="1">
                <a:solidFill>
                  <a:srgbClr val="FFFFFF"/>
                </a:solidFill>
              </a:rPr>
              <a:t>Faltam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contexto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alternativa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atual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impacto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sucesso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559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E239-025B-FC47-BCDC-64B4F9E5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5EEE0F7-0E11-CB37-47F8-FB1B088E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primeira redação e revisão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E29064C9-9A85-F5F2-E502-25833A08F1C5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Primeira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redação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“</a:t>
            </a:r>
            <a:r>
              <a:rPr sz="1800" dirty="0" err="1">
                <a:solidFill>
                  <a:srgbClr val="FFFFFF"/>
                </a:solidFill>
              </a:rPr>
              <a:t>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alunos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têm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dificuldade</a:t>
            </a:r>
            <a:r>
              <a:rPr sz="1800" dirty="0">
                <a:solidFill>
                  <a:srgbClr val="FFFFFF"/>
                </a:solidFill>
              </a:rPr>
              <a:t> com </a:t>
            </a:r>
            <a:r>
              <a:rPr sz="1800" dirty="0" err="1">
                <a:solidFill>
                  <a:srgbClr val="FFFFFF"/>
                </a:solidFill>
              </a:rPr>
              <a:t>regras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acadêmicas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precisam</a:t>
            </a:r>
            <a:r>
              <a:rPr sz="1800" dirty="0">
                <a:solidFill>
                  <a:srgbClr val="FFFFFF"/>
                </a:solidFill>
              </a:rPr>
              <a:t> de um chatbot.”
</a:t>
            </a:r>
            <a:r>
              <a:rPr sz="1800" dirty="0" err="1">
                <a:solidFill>
                  <a:srgbClr val="FFFFFF"/>
                </a:solidFill>
              </a:rPr>
              <a:t>Faltam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contexto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alternativa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atual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impacto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sucesso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A4B56A25-605E-0928-3C38-4096D803C2C9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Redação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revisada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endParaRPr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552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E907-387A-4B93-3F61-DB99FA03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A0F4AD-D8B0-7E00-F10F-855067F6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primeira redação e revisão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26CFD7A9-FEC4-D8DD-5F23-307C5D43BC7F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Primeira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redação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“</a:t>
            </a:r>
            <a:r>
              <a:rPr sz="1800" dirty="0" err="1">
                <a:solidFill>
                  <a:srgbClr val="FFFFFF"/>
                </a:solidFill>
              </a:rPr>
              <a:t>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alunos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têm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dificuldade</a:t>
            </a:r>
            <a:r>
              <a:rPr sz="1800" dirty="0">
                <a:solidFill>
                  <a:srgbClr val="FFFFFF"/>
                </a:solidFill>
              </a:rPr>
              <a:t> com </a:t>
            </a:r>
            <a:r>
              <a:rPr sz="1800" dirty="0" err="1">
                <a:solidFill>
                  <a:srgbClr val="FFFFFF"/>
                </a:solidFill>
              </a:rPr>
              <a:t>regras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acadêmicas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precisam</a:t>
            </a:r>
            <a:r>
              <a:rPr sz="1800" dirty="0">
                <a:solidFill>
                  <a:srgbClr val="FFFFFF"/>
                </a:solidFill>
              </a:rPr>
              <a:t> de um chatbot.”
</a:t>
            </a:r>
            <a:r>
              <a:rPr sz="1800" dirty="0" err="1">
                <a:solidFill>
                  <a:srgbClr val="FFFFFF"/>
                </a:solidFill>
              </a:rPr>
              <a:t>Faltam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contexto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alternativa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atual</a:t>
            </a:r>
            <a:r>
              <a:rPr sz="1800" dirty="0">
                <a:solidFill>
                  <a:srgbClr val="FFFFFF"/>
                </a:solidFill>
              </a:rPr>
              <a:t>, </a:t>
            </a:r>
            <a:r>
              <a:rPr sz="1800" dirty="0" err="1">
                <a:solidFill>
                  <a:srgbClr val="FFFFFF"/>
                </a:solidFill>
              </a:rPr>
              <a:t>impacto</a:t>
            </a:r>
            <a:r>
              <a:rPr sz="1800" dirty="0">
                <a:solidFill>
                  <a:srgbClr val="FFFFFF"/>
                </a:solidFill>
              </a:rPr>
              <a:t> e </a:t>
            </a:r>
            <a:r>
              <a:rPr sz="1800" dirty="0" err="1">
                <a:solidFill>
                  <a:srgbClr val="FFFFFF"/>
                </a:solidFill>
              </a:rPr>
              <a:t>sucesso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028B3596-23D0-A1FF-9261-3AB6904BD3AD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Redação revisada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“Estudantes dos primeiros períodos precisam localizar orientações oficiais, mas enfrentam documentos extensos e informação dispersa. Mediremos tempo, correção e acesso à fonte.”</a:t>
            </a:r>
          </a:p>
        </p:txBody>
      </p:sp>
    </p:spTree>
    <p:extLst>
      <p:ext uri="{BB962C8B-B14F-4D97-AF65-F5344CB8AC3E}">
        <p14:creationId xmlns:p14="http://schemas.microsoft.com/office/powerpoint/2010/main" val="2844428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Qualidade da formulação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problema deve sobreviver à troca da tecnologia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Usuário e contexto aparecem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Uma equipe diferente deve entender a situação sem ouvir a explicação oral.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Alternativa atual serve de linha de base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riginal-18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Evidência e suposição estão separadas</a:t>
            </a:r>
          </a:p>
        </p:txBody>
      </p:sp>
      <p:sp>
        <p:nvSpPr>
          <p:cNvPr id="11" name="original-19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original-2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Impacto do erro está explícito</a:t>
            </a:r>
          </a:p>
        </p:txBody>
      </p:sp>
      <p:sp>
        <p:nvSpPr>
          <p:cNvPr id="13" name="original-2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original-23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Sucesso pode ser observado</a:t>
            </a:r>
          </a:p>
        </p:txBody>
      </p:sp>
      <p:sp>
        <p:nvSpPr>
          <p:cNvPr id="15" name="original-24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83D377-C4F7-DA7F-64AD-F7DB5A357B77}"/>
              </a:ext>
            </a:extLst>
          </p:cNvPr>
          <p:cNvSpPr/>
          <p:nvPr/>
        </p:nvSpPr>
        <p:spPr>
          <a:xfrm>
            <a:off x="-375781" y="-1"/>
            <a:ext cx="13093875" cy="7365305"/>
          </a:xfrm>
          <a:prstGeom prst="rect">
            <a:avLst/>
          </a:prstGeom>
          <a:solidFill>
            <a:srgbClr val="000000"/>
          </a:solidFill>
          <a:ln w="8180" cap="flat">
            <a:noFill/>
            <a:prstDash val="solid"/>
            <a:miter/>
          </a:ln>
        </p:spPr>
        <p:txBody>
          <a:bodyPr/>
          <a:lstStyle/>
          <a:p>
            <a:endParaRPr lang="en-BR"/>
          </a:p>
        </p:txBody>
      </p:sp>
      <p:grpSp>
        <p:nvGrpSpPr>
          <p:cNvPr id="11" name="Graphic 5">
            <a:extLst>
              <a:ext uri="{FF2B5EF4-FFF2-40B4-BE49-F238E27FC236}">
                <a16:creationId xmlns:a16="http://schemas.microsoft.com/office/drawing/2014/main" id="{2B442266-E772-9FFD-085E-07A601CC0065}"/>
              </a:ext>
            </a:extLst>
          </p:cNvPr>
          <p:cNvGrpSpPr/>
          <p:nvPr/>
        </p:nvGrpSpPr>
        <p:grpSpPr>
          <a:xfrm>
            <a:off x="105636" y="265857"/>
            <a:ext cx="11859559" cy="6497625"/>
            <a:chOff x="105636" y="265857"/>
            <a:chExt cx="11859559" cy="64976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81BEF1-F744-26AF-0594-026F347BBFEB}"/>
                </a:ext>
              </a:extLst>
            </p:cNvPr>
            <p:cNvSpPr txBox="1"/>
            <p:nvPr/>
          </p:nvSpPr>
          <p:spPr>
            <a:xfrm>
              <a:off x="105636" y="265857"/>
              <a:ext cx="3332964" cy="5886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R" sz="3225" b="1" spc="0" baseline="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Duplo Diamante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51136E-6ED9-5B34-F3B7-9F153504C420}"/>
                </a:ext>
              </a:extLst>
            </p:cNvPr>
            <p:cNvSpPr txBox="1"/>
            <p:nvPr/>
          </p:nvSpPr>
          <p:spPr>
            <a:xfrm>
              <a:off x="105636" y="751108"/>
              <a:ext cx="8948283" cy="3808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R" sz="1875" dirty="0">
                  <a:ln/>
                  <a:solidFill>
                    <a:srgbClr val="B6C2CA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  <a:r>
                <a:rPr lang="en-BR" sz="1875" spc="0" baseline="0" dirty="0">
                  <a:ln/>
                  <a:solidFill>
                    <a:srgbClr val="B6C2CA"/>
                  </a:solidFill>
                  <a:latin typeface="Arial"/>
                  <a:cs typeface="Arial"/>
                  <a:sym typeface="Arial"/>
                  <a:rtl val="0"/>
                </a:rPr>
                <a:t>xploramos e fazemos escolhas duas vezes: sobre o problema e sobre a solução.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0FB8F1-6337-8E6D-6F60-3E3B7548397E}"/>
                </a:ext>
              </a:extLst>
            </p:cNvPr>
            <p:cNvSpPr txBox="1"/>
            <p:nvPr/>
          </p:nvSpPr>
          <p:spPr>
            <a:xfrm>
              <a:off x="1404656" y="1358250"/>
              <a:ext cx="3804430" cy="3382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R" sz="2025" b="1" spc="0" baseline="0">
                  <a:ln/>
                  <a:solidFill>
                    <a:srgbClr val="56DEEB"/>
                  </a:solidFill>
                  <a:latin typeface="Arial"/>
                  <a:cs typeface="Arial"/>
                  <a:sym typeface="Arial"/>
                  <a:rtl val="0"/>
                </a:rPr>
                <a:t>1 · COMPREENDER O PROBLEMA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E7A6D4-59D9-2AF5-BDB1-CAF20F38210C}"/>
                </a:ext>
              </a:extLst>
            </p:cNvPr>
            <p:cNvSpPr txBox="1"/>
            <p:nvPr/>
          </p:nvSpPr>
          <p:spPr>
            <a:xfrm>
              <a:off x="7442277" y="1358250"/>
              <a:ext cx="3186327" cy="3382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R" sz="2025" b="1" spc="0" baseline="0">
                  <a:ln/>
                  <a:solidFill>
                    <a:srgbClr val="FFC369"/>
                  </a:solidFill>
                  <a:latin typeface="Arial"/>
                  <a:cs typeface="Arial"/>
                  <a:sym typeface="Arial"/>
                  <a:rtl val="0"/>
                </a:rPr>
                <a:t>2 · CONSTRUIR A SOLUÇÃO</a:t>
              </a: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B7ECB73-D69E-59F9-AC2B-FFC90B45E5C2}"/>
                </a:ext>
              </a:extLst>
            </p:cNvPr>
            <p:cNvSpPr/>
            <p:nvPr/>
          </p:nvSpPr>
          <p:spPr>
            <a:xfrm>
              <a:off x="442586" y="2045917"/>
              <a:ext cx="5728570" cy="3027958"/>
            </a:xfrm>
            <a:custGeom>
              <a:avLst/>
              <a:gdLst>
                <a:gd name="csX0" fmla="*/ 0 w 5728570"/>
                <a:gd name="csY0" fmla="*/ 1513979 h 3027958"/>
                <a:gd name="csX1" fmla="*/ 2864285 w 5728570"/>
                <a:gd name="csY1" fmla="*/ 0 h 3027958"/>
                <a:gd name="csX2" fmla="*/ 5728571 w 5728570"/>
                <a:gd name="csY2" fmla="*/ 1513979 h 3027958"/>
                <a:gd name="csX3" fmla="*/ 2864285 w 5728570"/>
                <a:gd name="csY3" fmla="*/ 3027959 h 3027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28570" h="3027958">
                  <a:moveTo>
                    <a:pt x="0" y="1513979"/>
                  </a:moveTo>
                  <a:lnTo>
                    <a:pt x="2864285" y="0"/>
                  </a:lnTo>
                  <a:lnTo>
                    <a:pt x="5728571" y="1513979"/>
                  </a:lnTo>
                  <a:lnTo>
                    <a:pt x="2864285" y="3027959"/>
                  </a:lnTo>
                  <a:close/>
                </a:path>
              </a:pathLst>
            </a:custGeom>
            <a:solidFill>
              <a:srgbClr val="08292E"/>
            </a:solidFill>
            <a:ln w="32718" cap="flat">
              <a:solidFill>
                <a:srgbClr val="56DEEB"/>
              </a:solidFill>
              <a:prstDash val="solid"/>
              <a:miter/>
            </a:ln>
          </p:spPr>
          <p:txBody>
            <a:bodyPr/>
            <a:lstStyle/>
            <a:p>
              <a:endParaRPr lang="en-BR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7125E29-1616-F991-4D95-0EF3E42D115E}"/>
                </a:ext>
              </a:extLst>
            </p:cNvPr>
            <p:cNvSpPr/>
            <p:nvPr/>
          </p:nvSpPr>
          <p:spPr>
            <a:xfrm>
              <a:off x="6171156" y="2045917"/>
              <a:ext cx="5728570" cy="3027958"/>
            </a:xfrm>
            <a:custGeom>
              <a:avLst/>
              <a:gdLst>
                <a:gd name="csX0" fmla="*/ 0 w 5728570"/>
                <a:gd name="csY0" fmla="*/ 1513979 h 3027958"/>
                <a:gd name="csX1" fmla="*/ 2864285 w 5728570"/>
                <a:gd name="csY1" fmla="*/ 0 h 3027958"/>
                <a:gd name="csX2" fmla="*/ 5728571 w 5728570"/>
                <a:gd name="csY2" fmla="*/ 1513979 h 3027958"/>
                <a:gd name="csX3" fmla="*/ 2864285 w 5728570"/>
                <a:gd name="csY3" fmla="*/ 3027959 h 3027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28570" h="3027958">
                  <a:moveTo>
                    <a:pt x="0" y="1513979"/>
                  </a:moveTo>
                  <a:lnTo>
                    <a:pt x="2864285" y="0"/>
                  </a:lnTo>
                  <a:lnTo>
                    <a:pt x="5728571" y="1513979"/>
                  </a:lnTo>
                  <a:lnTo>
                    <a:pt x="2864285" y="3027959"/>
                  </a:lnTo>
                  <a:close/>
                </a:path>
              </a:pathLst>
            </a:custGeom>
            <a:solidFill>
              <a:srgbClr val="30220B"/>
            </a:solidFill>
            <a:ln w="32718" cap="flat">
              <a:solidFill>
                <a:srgbClr val="FFC369"/>
              </a:solidFill>
              <a:prstDash val="solid"/>
              <a:miter/>
            </a:ln>
          </p:spPr>
          <p:txBody>
            <a:bodyPr/>
            <a:lstStyle/>
            <a:p>
              <a:endParaRPr lang="en-BR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23123FF-4591-0B63-A4A9-DFD4194A850F}"/>
                </a:ext>
              </a:extLst>
            </p:cNvPr>
            <p:cNvSpPr/>
            <p:nvPr/>
          </p:nvSpPr>
          <p:spPr>
            <a:xfrm>
              <a:off x="3306871" y="2045917"/>
              <a:ext cx="8183" cy="3027958"/>
            </a:xfrm>
            <a:custGeom>
              <a:avLst/>
              <a:gdLst>
                <a:gd name="csX0" fmla="*/ 0 w 8183"/>
                <a:gd name="csY0" fmla="*/ 0 h 3027958"/>
                <a:gd name="csX1" fmla="*/ 0 w 8183"/>
                <a:gd name="csY1" fmla="*/ 3027959 h 3027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183" h="3027958">
                  <a:moveTo>
                    <a:pt x="0" y="0"/>
                  </a:moveTo>
                  <a:lnTo>
                    <a:pt x="0" y="3027959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16359" cap="flat">
              <a:solidFill>
                <a:srgbClr val="56DEEB">
                  <a:alpha val="50000"/>
                </a:srgbClr>
              </a:solidFill>
              <a:custDash>
                <a:ds d="525000" sp="675000"/>
              </a:custDash>
              <a:miter/>
            </a:ln>
          </p:spPr>
          <p:txBody>
            <a:bodyPr/>
            <a:lstStyle/>
            <a:p>
              <a:endParaRPr lang="en-BR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4CB68E4-2643-CD82-331F-050280E925E4}"/>
                </a:ext>
              </a:extLst>
            </p:cNvPr>
            <p:cNvSpPr/>
            <p:nvPr/>
          </p:nvSpPr>
          <p:spPr>
            <a:xfrm>
              <a:off x="9035441" y="2045917"/>
              <a:ext cx="8183" cy="3027958"/>
            </a:xfrm>
            <a:custGeom>
              <a:avLst/>
              <a:gdLst>
                <a:gd name="csX0" fmla="*/ 0 w 8183"/>
                <a:gd name="csY0" fmla="*/ 0 h 3027958"/>
                <a:gd name="csX1" fmla="*/ 0 w 8183"/>
                <a:gd name="csY1" fmla="*/ 3027959 h 3027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183" h="3027958">
                  <a:moveTo>
                    <a:pt x="0" y="0"/>
                  </a:moveTo>
                  <a:lnTo>
                    <a:pt x="0" y="3027959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16359" cap="flat">
              <a:solidFill>
                <a:srgbClr val="FFC369">
                  <a:alpha val="50000"/>
                </a:srgbClr>
              </a:solidFill>
              <a:custDash>
                <a:ds d="525000" sp="675000"/>
              </a:custDash>
              <a:miter/>
            </a:ln>
          </p:spPr>
          <p:txBody>
            <a:bodyPr/>
            <a:lstStyle/>
            <a:p>
              <a:endParaRPr lang="en-BR"/>
            </a:p>
          </p:txBody>
        </p:sp>
        <p:grpSp>
          <p:nvGrpSpPr>
            <p:cNvPr id="20" name="Graphic 5">
              <a:extLst>
                <a:ext uri="{FF2B5EF4-FFF2-40B4-BE49-F238E27FC236}">
                  <a16:creationId xmlns:a16="http://schemas.microsoft.com/office/drawing/2014/main" id="{908F3FA7-B9EC-D649-2472-EE3DEB9AAA92}"/>
                </a:ext>
              </a:extLst>
            </p:cNvPr>
            <p:cNvGrpSpPr/>
            <p:nvPr/>
          </p:nvGrpSpPr>
          <p:grpSpPr>
            <a:xfrm>
              <a:off x="1391836" y="3156051"/>
              <a:ext cx="9514054" cy="792161"/>
              <a:chOff x="1391836" y="3156051"/>
              <a:chExt cx="9514054" cy="79216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DA79DB-9C42-295E-8F53-16337CA29D71}"/>
                  </a:ext>
                </a:extLst>
              </p:cNvPr>
              <p:cNvSpPr txBox="1"/>
              <p:nvPr/>
            </p:nvSpPr>
            <p:spPr>
              <a:xfrm>
                <a:off x="1300396" y="3110331"/>
                <a:ext cx="1557848" cy="347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2100" b="1" spc="0" baseline="0">
                    <a:ln/>
                    <a:solidFill>
                      <a:srgbClr val="56DEEB"/>
                    </a:solidFill>
                    <a:latin typeface="Arial"/>
                    <a:cs typeface="Arial"/>
                    <a:sym typeface="Arial"/>
                    <a:rtl val="0"/>
                  </a:rPr>
                  <a:t>DESCOBRIR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73DE30-1FBD-E695-E406-D7609447F2E2}"/>
                  </a:ext>
                </a:extLst>
              </p:cNvPr>
              <p:cNvSpPr txBox="1"/>
              <p:nvPr/>
            </p:nvSpPr>
            <p:spPr>
              <a:xfrm>
                <a:off x="1352730" y="3464986"/>
                <a:ext cx="1453179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Ouvir e observar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B71BF9-AC72-183B-64AB-D41093491C01}"/>
                  </a:ext>
                </a:extLst>
              </p:cNvPr>
              <p:cNvSpPr txBox="1"/>
              <p:nvPr/>
            </p:nvSpPr>
            <p:spPr>
              <a:xfrm>
                <a:off x="1304857" y="3710496"/>
                <a:ext cx="1548925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Reunir evidências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A37CB7-22C2-3B30-AC1F-D0E9A81819E1}"/>
                  </a:ext>
                </a:extLst>
              </p:cNvPr>
              <p:cNvSpPr txBox="1"/>
              <p:nvPr/>
            </p:nvSpPr>
            <p:spPr>
              <a:xfrm>
                <a:off x="3984696" y="3110331"/>
                <a:ext cx="1099451" cy="347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2100" b="1" spc="0" baseline="0">
                    <a:ln/>
                    <a:solidFill>
                      <a:srgbClr val="56DEEB"/>
                    </a:solidFill>
                    <a:latin typeface="Arial"/>
                    <a:cs typeface="Arial"/>
                    <a:sym typeface="Arial"/>
                    <a:rtl val="0"/>
                  </a:rPr>
                  <a:t>DEFINIR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66429C-FF28-8680-A2AD-573DCD2803B8}"/>
                  </a:ext>
                </a:extLst>
              </p:cNvPr>
              <p:cNvSpPr txBox="1"/>
              <p:nvPr/>
            </p:nvSpPr>
            <p:spPr>
              <a:xfrm>
                <a:off x="3736043" y="3464986"/>
                <a:ext cx="1596757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Sintetizar achados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7CC5787-5FE9-BC70-807F-3684FF8537DC}"/>
                  </a:ext>
                </a:extLst>
              </p:cNvPr>
              <p:cNvSpPr txBox="1"/>
              <p:nvPr/>
            </p:nvSpPr>
            <p:spPr>
              <a:xfrm>
                <a:off x="3850712" y="3710496"/>
                <a:ext cx="1367418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Escolher o foco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78DD23-04F7-C033-71D8-97D78E60F1DF}"/>
                  </a:ext>
                </a:extLst>
              </p:cNvPr>
              <p:cNvSpPr txBox="1"/>
              <p:nvPr/>
            </p:nvSpPr>
            <p:spPr>
              <a:xfrm>
                <a:off x="6889742" y="3117739"/>
                <a:ext cx="1836297" cy="338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2025" b="1" spc="0" baseline="0">
                    <a:ln/>
                    <a:solidFill>
                      <a:srgbClr val="FFC369"/>
                    </a:solidFill>
                    <a:latin typeface="Arial"/>
                    <a:cs typeface="Arial"/>
                    <a:sym typeface="Arial"/>
                    <a:rtl val="0"/>
                  </a:rPr>
                  <a:t>DESENVOLVER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7ED30B-7894-1206-DD2A-7265FDCEA2CD}"/>
                  </a:ext>
                </a:extLst>
              </p:cNvPr>
              <p:cNvSpPr txBox="1"/>
              <p:nvPr/>
            </p:nvSpPr>
            <p:spPr>
              <a:xfrm>
                <a:off x="7066993" y="3464986"/>
                <a:ext cx="1481794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Criar alternativas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2FC1EA-97B0-C825-14E7-EE25C6E2EADA}"/>
                  </a:ext>
                </a:extLst>
              </p:cNvPr>
              <p:cNvSpPr txBox="1"/>
              <p:nvPr/>
            </p:nvSpPr>
            <p:spPr>
              <a:xfrm>
                <a:off x="7095524" y="3710496"/>
                <a:ext cx="1424732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Prototipar ideias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2B5EFC-50E9-76DC-2741-90FE2E3F1B6C}"/>
                  </a:ext>
                </a:extLst>
              </p:cNvPr>
              <p:cNvSpPr txBox="1"/>
              <p:nvPr/>
            </p:nvSpPr>
            <p:spPr>
              <a:xfrm>
                <a:off x="9528654" y="3110331"/>
                <a:ext cx="1468675" cy="347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2100" b="1" spc="0" baseline="0">
                    <a:ln/>
                    <a:solidFill>
                      <a:srgbClr val="FFC369"/>
                    </a:solidFill>
                    <a:latin typeface="Arial"/>
                    <a:cs typeface="Arial"/>
                    <a:sym typeface="Arial"/>
                    <a:rtl val="0"/>
                  </a:rPr>
                  <a:t>ENTREGAR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05F46D9-A340-8F9C-84BE-6E38BBD4B3FC}"/>
                  </a:ext>
                </a:extLst>
              </p:cNvPr>
              <p:cNvSpPr txBox="1"/>
              <p:nvPr/>
            </p:nvSpPr>
            <p:spPr>
              <a:xfrm>
                <a:off x="9598457" y="3464986"/>
                <a:ext cx="1329069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Testar e refinar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C843BCD-4D2E-0722-1712-0534E3015432}"/>
                  </a:ext>
                </a:extLst>
              </p:cNvPr>
              <p:cNvSpPr txBox="1"/>
              <p:nvPr/>
            </p:nvSpPr>
            <p:spPr>
              <a:xfrm>
                <a:off x="9569800" y="3710496"/>
                <a:ext cx="1386383" cy="28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575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Colocar em uso</a:t>
                </a:r>
              </a:p>
            </p:txBody>
          </p:sp>
        </p:grpSp>
        <p:grpSp>
          <p:nvGrpSpPr>
            <p:cNvPr id="33" name="Graphic 5">
              <a:extLst>
                <a:ext uri="{FF2B5EF4-FFF2-40B4-BE49-F238E27FC236}">
                  <a16:creationId xmlns:a16="http://schemas.microsoft.com/office/drawing/2014/main" id="{5DC86E89-59C4-3BB9-9E7F-D2F576FA313A}"/>
                </a:ext>
              </a:extLst>
            </p:cNvPr>
            <p:cNvGrpSpPr/>
            <p:nvPr/>
          </p:nvGrpSpPr>
          <p:grpSpPr>
            <a:xfrm>
              <a:off x="377116" y="3494427"/>
              <a:ext cx="11588079" cy="130938"/>
              <a:chOff x="377116" y="3494427"/>
              <a:chExt cx="11588079" cy="130938"/>
            </a:xfrm>
            <a:solidFill>
              <a:srgbClr val="FFFFFF"/>
            </a:solidFill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9B4F23D-A4B4-AD41-4D20-A5281F037CE9}"/>
                  </a:ext>
                </a:extLst>
              </p:cNvPr>
              <p:cNvSpPr/>
              <p:nvPr/>
            </p:nvSpPr>
            <p:spPr>
              <a:xfrm>
                <a:off x="377116" y="3494427"/>
                <a:ext cx="130938" cy="130938"/>
              </a:xfrm>
              <a:prstGeom prst="ellipse">
                <a:avLst/>
              </a:prstGeom>
              <a:solidFill>
                <a:srgbClr val="FFFFFF"/>
              </a:solidFill>
              <a:ln w="2453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BR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57A720-D524-71BF-AF35-C929EA2E67CC}"/>
                  </a:ext>
                </a:extLst>
              </p:cNvPr>
              <p:cNvSpPr/>
              <p:nvPr/>
            </p:nvSpPr>
            <p:spPr>
              <a:xfrm>
                <a:off x="6105687" y="3494427"/>
                <a:ext cx="130938" cy="130938"/>
              </a:xfrm>
              <a:prstGeom prst="ellipse">
                <a:avLst/>
              </a:prstGeom>
              <a:solidFill>
                <a:srgbClr val="FFFFFF"/>
              </a:solidFill>
              <a:ln w="2453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BR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C86B160-028D-4DB3-770F-E69DB8EC2379}"/>
                  </a:ext>
                </a:extLst>
              </p:cNvPr>
              <p:cNvSpPr/>
              <p:nvPr/>
            </p:nvSpPr>
            <p:spPr>
              <a:xfrm>
                <a:off x="11834257" y="3494427"/>
                <a:ext cx="130938" cy="130938"/>
              </a:xfrm>
              <a:prstGeom prst="ellipse">
                <a:avLst/>
              </a:prstGeom>
              <a:solidFill>
                <a:srgbClr val="FFFFFF"/>
              </a:solidFill>
              <a:ln w="24539" cap="flat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BR"/>
              </a:p>
            </p:txBody>
          </p:sp>
        </p:grpSp>
        <p:grpSp>
          <p:nvGrpSpPr>
            <p:cNvPr id="37" name="Graphic 5">
              <a:extLst>
                <a:ext uri="{FF2B5EF4-FFF2-40B4-BE49-F238E27FC236}">
                  <a16:creationId xmlns:a16="http://schemas.microsoft.com/office/drawing/2014/main" id="{F6502E90-C13B-101A-6790-5C519B135984}"/>
                </a:ext>
              </a:extLst>
            </p:cNvPr>
            <p:cNvGrpSpPr/>
            <p:nvPr/>
          </p:nvGrpSpPr>
          <p:grpSpPr>
            <a:xfrm>
              <a:off x="442586" y="3682651"/>
              <a:ext cx="11457140" cy="1661285"/>
              <a:chOff x="442586" y="3682651"/>
              <a:chExt cx="11457140" cy="1661285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B766944-A118-88C7-8EFF-CDF8EC52248E}"/>
                  </a:ext>
                </a:extLst>
              </p:cNvPr>
              <p:cNvSpPr/>
              <p:nvPr/>
            </p:nvSpPr>
            <p:spPr>
              <a:xfrm>
                <a:off x="442586" y="3682651"/>
                <a:ext cx="8183" cy="1661285"/>
              </a:xfrm>
              <a:custGeom>
                <a:avLst/>
                <a:gdLst>
                  <a:gd name="csX0" fmla="*/ 0 w 8183"/>
                  <a:gd name="csY0" fmla="*/ 0 h 1661285"/>
                  <a:gd name="csX1" fmla="*/ 0 w 8183"/>
                  <a:gd name="csY1" fmla="*/ 1661286 h 166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83" h="1661285">
                    <a:moveTo>
                      <a:pt x="0" y="0"/>
                    </a:moveTo>
                    <a:lnTo>
                      <a:pt x="0" y="1661286"/>
                    </a:lnTo>
                  </a:path>
                </a:pathLst>
              </a:custGeom>
              <a:solidFill>
                <a:srgbClr val="000000"/>
              </a:solidFill>
              <a:ln w="12269" cap="flat">
                <a:solidFill>
                  <a:srgbClr val="82939F"/>
                </a:solidFill>
                <a:custDash>
                  <a:ds d="300000" sp="375000"/>
                </a:custDash>
                <a:miter/>
              </a:ln>
            </p:spPr>
            <p:txBody>
              <a:bodyPr/>
              <a:lstStyle/>
              <a:p>
                <a:endParaRPr lang="en-BR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517D35FB-2434-6C38-2035-CF4E1D362560}"/>
                  </a:ext>
                </a:extLst>
              </p:cNvPr>
              <p:cNvSpPr/>
              <p:nvPr/>
            </p:nvSpPr>
            <p:spPr>
              <a:xfrm>
                <a:off x="6171156" y="3682651"/>
                <a:ext cx="8183" cy="1661285"/>
              </a:xfrm>
              <a:custGeom>
                <a:avLst/>
                <a:gdLst>
                  <a:gd name="csX0" fmla="*/ 0 w 8183"/>
                  <a:gd name="csY0" fmla="*/ 0 h 1661285"/>
                  <a:gd name="csX1" fmla="*/ 0 w 8183"/>
                  <a:gd name="csY1" fmla="*/ 1661286 h 166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83" h="1661285">
                    <a:moveTo>
                      <a:pt x="0" y="0"/>
                    </a:moveTo>
                    <a:lnTo>
                      <a:pt x="0" y="1661286"/>
                    </a:lnTo>
                  </a:path>
                </a:pathLst>
              </a:custGeom>
              <a:solidFill>
                <a:srgbClr val="000000"/>
              </a:solidFill>
              <a:ln w="12269" cap="flat">
                <a:solidFill>
                  <a:srgbClr val="82939F"/>
                </a:solidFill>
                <a:custDash>
                  <a:ds d="300000" sp="375000"/>
                </a:custDash>
                <a:miter/>
              </a:ln>
            </p:spPr>
            <p:txBody>
              <a:bodyPr/>
              <a:lstStyle/>
              <a:p>
                <a:endParaRPr lang="en-BR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414E25D-5ED4-22F4-6E5A-252BA083CE33}"/>
                  </a:ext>
                </a:extLst>
              </p:cNvPr>
              <p:cNvSpPr/>
              <p:nvPr/>
            </p:nvSpPr>
            <p:spPr>
              <a:xfrm>
                <a:off x="11899726" y="3682651"/>
                <a:ext cx="8183" cy="1661285"/>
              </a:xfrm>
              <a:custGeom>
                <a:avLst/>
                <a:gdLst>
                  <a:gd name="csX0" fmla="*/ 0 w 8183"/>
                  <a:gd name="csY0" fmla="*/ 0 h 1661285"/>
                  <a:gd name="csX1" fmla="*/ 0 w 8183"/>
                  <a:gd name="csY1" fmla="*/ 1661286 h 1661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183" h="1661285">
                    <a:moveTo>
                      <a:pt x="0" y="0"/>
                    </a:moveTo>
                    <a:lnTo>
                      <a:pt x="0" y="1661286"/>
                    </a:lnTo>
                  </a:path>
                </a:pathLst>
              </a:custGeom>
              <a:solidFill>
                <a:srgbClr val="000000"/>
              </a:solidFill>
              <a:ln w="12269" cap="flat">
                <a:solidFill>
                  <a:srgbClr val="82939F"/>
                </a:solidFill>
                <a:custDash>
                  <a:ds d="300000" sp="375000"/>
                </a:custDash>
                <a:miter/>
              </a:ln>
            </p:spPr>
            <p:txBody>
              <a:bodyPr/>
              <a:lstStyle/>
              <a:p>
                <a:endParaRPr lang="en-BR"/>
              </a:p>
            </p:txBody>
          </p:sp>
        </p:grpSp>
        <p:grpSp>
          <p:nvGrpSpPr>
            <p:cNvPr id="41" name="Graphic 5">
              <a:extLst>
                <a:ext uri="{FF2B5EF4-FFF2-40B4-BE49-F238E27FC236}">
                  <a16:creationId xmlns:a16="http://schemas.microsoft.com/office/drawing/2014/main" id="{190B4309-C580-3C5C-4D69-781A0BFDAC85}"/>
                </a:ext>
              </a:extLst>
            </p:cNvPr>
            <p:cNvGrpSpPr/>
            <p:nvPr/>
          </p:nvGrpSpPr>
          <p:grpSpPr>
            <a:xfrm>
              <a:off x="105636" y="5388924"/>
              <a:ext cx="11830416" cy="292579"/>
              <a:chOff x="105636" y="5388924"/>
              <a:chExt cx="11830416" cy="292579"/>
            </a:xfrm>
            <a:solidFill>
              <a:srgbClr val="FFFFFF"/>
            </a:solidFill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892CAF-907A-9F1D-7063-EB1653D76D07}"/>
                  </a:ext>
                </a:extLst>
              </p:cNvPr>
              <p:cNvSpPr txBox="1"/>
              <p:nvPr/>
            </p:nvSpPr>
            <p:spPr>
              <a:xfrm>
                <a:off x="105636" y="5388924"/>
                <a:ext cx="1393583" cy="2925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65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Desafio inicial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0C2284-26E7-AE7F-58BE-72921348EBEE}"/>
                  </a:ext>
                </a:extLst>
              </p:cNvPr>
              <p:cNvSpPr txBox="1"/>
              <p:nvPr/>
            </p:nvSpPr>
            <p:spPr>
              <a:xfrm>
                <a:off x="5294455" y="5388924"/>
                <a:ext cx="1753401" cy="2925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650" b="1" spc="0" baseline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Problema definido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E00DE8-3B56-649A-DBD2-E9BB81091964}"/>
                  </a:ext>
                </a:extLst>
              </p:cNvPr>
              <p:cNvSpPr txBox="1"/>
              <p:nvPr/>
            </p:nvSpPr>
            <p:spPr>
              <a:xfrm>
                <a:off x="10372450" y="5388924"/>
                <a:ext cx="1563602" cy="2925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BR" sz="1650" b="1" spc="0" baseline="0" dirty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Solução testada</a:t>
                </a:r>
              </a:p>
            </p:txBody>
          </p:sp>
        </p:grp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9A1D30C-0BAE-FF86-C027-610117622109}"/>
                </a:ext>
              </a:extLst>
            </p:cNvPr>
            <p:cNvSpPr/>
            <p:nvPr/>
          </p:nvSpPr>
          <p:spPr>
            <a:xfrm>
              <a:off x="442586" y="5933161"/>
              <a:ext cx="11457140" cy="8183"/>
            </a:xfrm>
            <a:custGeom>
              <a:avLst/>
              <a:gdLst>
                <a:gd name="csX0" fmla="*/ 0 w 11457140"/>
                <a:gd name="csY0" fmla="*/ 0 h 8183"/>
                <a:gd name="csX1" fmla="*/ 11457141 w 11457140"/>
                <a:gd name="csY1" fmla="*/ 0 h 8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457140" h="8183">
                  <a:moveTo>
                    <a:pt x="0" y="0"/>
                  </a:moveTo>
                  <a:lnTo>
                    <a:pt x="11457141" y="0"/>
                  </a:lnTo>
                </a:path>
              </a:pathLst>
            </a:custGeom>
            <a:solidFill>
              <a:srgbClr val="000000"/>
            </a:solidFill>
            <a:ln w="16359" cap="flat">
              <a:solidFill>
                <a:srgbClr val="B6C2CA"/>
              </a:solidFill>
              <a:prstDash val="solid"/>
              <a:miter/>
            </a:ln>
          </p:spPr>
          <p:txBody>
            <a:bodyPr/>
            <a:lstStyle/>
            <a:p>
              <a:endParaRPr lang="en-BR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807F09C-9D3B-61EB-11EA-E7010E97F65D}"/>
                </a:ext>
              </a:extLst>
            </p:cNvPr>
            <p:cNvSpPr txBox="1"/>
            <p:nvPr/>
          </p:nvSpPr>
          <p:spPr>
            <a:xfrm>
              <a:off x="3220276" y="6016741"/>
              <a:ext cx="5901760" cy="265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R" sz="1425" spc="0" baseline="0">
                  <a:ln/>
                  <a:solidFill>
                    <a:srgbClr val="B6C2CA"/>
                  </a:solidFill>
                  <a:latin typeface="Arial"/>
                  <a:cs typeface="Arial"/>
                  <a:sym typeface="Arial"/>
                  <a:rtl val="0"/>
                </a:rPr>
                <a:t>Avanço do processo — com retornos e iterações quando surgem novas evidências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24C2BB0-A267-3DB2-47E8-1E8CE141964D}"/>
                </a:ext>
              </a:extLst>
            </p:cNvPr>
            <p:cNvSpPr txBox="1"/>
            <p:nvPr/>
          </p:nvSpPr>
          <p:spPr>
            <a:xfrm>
              <a:off x="105636" y="6461760"/>
              <a:ext cx="7925081" cy="30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BR" sz="1725" spc="0" baseline="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Abrir o losango = ampliar possibilidades. Fechar o losango = sintetizar, selecionar e priorizar.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0620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Problemas complexos e múltiplas perspectivas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8688" r="8688"/>
          <a:stretch>
            <a:fillRect/>
          </a:stretch>
        </p:blipFill>
        <p:spPr>
          <a:xfrm>
            <a:off x="400050" y="1571625"/>
            <a:ext cx="6572250" cy="4476750"/>
          </a:xfrm>
          <a:prstGeom prst="roundRect">
            <a:avLst>
              <a:gd name="adj" fmla="val 2979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4EA5FD-F83C-454A-8E9A-C54A2BE6A191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409575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Alguns problemas mudam quando investigamos usuários, interesses e consequências.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iginal-4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4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adequação da IA</a:t>
            </a:r>
          </a:p>
        </p:txBody>
      </p:sp>
      <p:sp>
        <p:nvSpPr>
          <p:cNvPr id="2" name="original-5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740" y="3425868"/>
            <a:ext cx="4904809" cy="149860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pt-BR" sz="187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Identificar se e onde a IA acrescenta valor, e mostrar como </a:t>
            </a:r>
            <a:r>
              <a:rPr lang="pt-BR" sz="1875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esse valor será avaliado.</a:t>
            </a:r>
            <a:endParaRPr sz="1875" b="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original-6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Bloco 2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Escada de mecanismos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1818FF-35E1-4C28-BE0A-B25E76B6C9E0}"/>
              </a:ext>
            </a:extLst>
          </p:cNvPr>
          <p:cNvSpPr>
            <a:spLocks noGrp="1"/>
          </p:cNvSpPr>
          <p:nvPr/>
        </p:nvSpPr>
        <p:spPr>
          <a:xfrm>
            <a:off x="428625" y="4238625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152A2D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BD619-907B-45D1-9B00-962AABFD7DCD}"/>
              </a:ext>
            </a:extLst>
          </p:cNvPr>
          <p:cNvSpPr>
            <a:spLocks noGrp="1"/>
          </p:cNvSpPr>
          <p:nvPr/>
        </p:nvSpPr>
        <p:spPr>
          <a:xfrm>
            <a:off x="561975" y="435292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Regras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36D7A-966B-4DFD-873F-9C26196DD6DA}"/>
              </a:ext>
            </a:extLst>
          </p:cNvPr>
          <p:cNvSpPr>
            <a:spLocks noGrp="1"/>
          </p:cNvSpPr>
          <p:nvPr/>
        </p:nvSpPr>
        <p:spPr>
          <a:xfrm>
            <a:off x="561975" y="4733925"/>
            <a:ext cx="135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decisão explícita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EDB627-FA98-4211-882C-013D3FD50671}"/>
              </a:ext>
            </a:extLst>
          </p:cNvPr>
          <p:cNvSpPr>
            <a:spLocks noGrp="1"/>
          </p:cNvSpPr>
          <p:nvPr/>
        </p:nvSpPr>
        <p:spPr>
          <a:xfrm>
            <a:off x="2352675" y="3819525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152A2D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8E0A62-E6D6-4138-AAE1-BE915697D45F}"/>
              </a:ext>
            </a:extLst>
          </p:cNvPr>
          <p:cNvSpPr>
            <a:spLocks noGrp="1"/>
          </p:cNvSpPr>
          <p:nvPr/>
        </p:nvSpPr>
        <p:spPr>
          <a:xfrm>
            <a:off x="2486025" y="393382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Busca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4A0D4F-1F70-4E5E-88BE-B048A9EEE14A}"/>
              </a:ext>
            </a:extLst>
          </p:cNvPr>
          <p:cNvSpPr>
            <a:spLocks noGrp="1"/>
          </p:cNvSpPr>
          <p:nvPr/>
        </p:nvSpPr>
        <p:spPr>
          <a:xfrm>
            <a:off x="2486025" y="4314825"/>
            <a:ext cx="135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localização direta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1BC3A6-C9DA-4671-AAC4-443DFC12951B}"/>
              </a:ext>
            </a:extLst>
          </p:cNvPr>
          <p:cNvSpPr>
            <a:spLocks noGrp="1"/>
          </p:cNvSpPr>
          <p:nvPr/>
        </p:nvSpPr>
        <p:spPr>
          <a:xfrm>
            <a:off x="4276725" y="3400425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16242C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4DEBDD-E56B-47A9-8B25-800DF099A7CB}"/>
              </a:ext>
            </a:extLst>
          </p:cNvPr>
          <p:cNvSpPr>
            <a:spLocks noGrp="1"/>
          </p:cNvSpPr>
          <p:nvPr/>
        </p:nvSpPr>
        <p:spPr>
          <a:xfrm>
            <a:off x="4410075" y="351472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ML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BC7804-249C-4AFD-B390-0980C249B740}"/>
              </a:ext>
            </a:extLst>
          </p:cNvPr>
          <p:cNvSpPr>
            <a:spLocks noGrp="1"/>
          </p:cNvSpPr>
          <p:nvPr/>
        </p:nvSpPr>
        <p:spPr>
          <a:xfrm>
            <a:off x="4410075" y="3895725"/>
            <a:ext cx="135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previsão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2433F5-095C-4E18-90BB-D81197BBEE96}"/>
              </a:ext>
            </a:extLst>
          </p:cNvPr>
          <p:cNvSpPr>
            <a:spLocks noGrp="1"/>
          </p:cNvSpPr>
          <p:nvPr/>
        </p:nvSpPr>
        <p:spPr>
          <a:xfrm>
            <a:off x="6200775" y="2981325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16242C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2AD8F-13E0-4764-B7B4-00EEED96A010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IA generativa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15A561-5F71-4814-A2B3-67C98DB9BC74}"/>
              </a:ext>
            </a:extLst>
          </p:cNvPr>
          <p:cNvSpPr>
            <a:spLocks noGrp="1"/>
          </p:cNvSpPr>
          <p:nvPr/>
        </p:nvSpPr>
        <p:spPr>
          <a:xfrm>
            <a:off x="6334125" y="3476625"/>
            <a:ext cx="135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síntese e transformação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1E96BA-C440-455B-8728-71D9C634F7D6}"/>
              </a:ext>
            </a:extLst>
          </p:cNvPr>
          <p:cNvSpPr>
            <a:spLocks noGrp="1"/>
          </p:cNvSpPr>
          <p:nvPr/>
        </p:nvSpPr>
        <p:spPr>
          <a:xfrm>
            <a:off x="8124825" y="2562225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2C2418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89C7D9-3073-4C35-94CB-25272E0A24CF}"/>
              </a:ext>
            </a:extLst>
          </p:cNvPr>
          <p:cNvSpPr>
            <a:spLocks noGrp="1"/>
          </p:cNvSpPr>
          <p:nvPr/>
        </p:nvSpPr>
        <p:spPr>
          <a:xfrm>
            <a:off x="8258175" y="267652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RAG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15E281-FC34-4970-985E-6AF84A493CEB}"/>
              </a:ext>
            </a:extLst>
          </p:cNvPr>
          <p:cNvSpPr>
            <a:spLocks noGrp="1"/>
          </p:cNvSpPr>
          <p:nvPr/>
        </p:nvSpPr>
        <p:spPr>
          <a:xfrm>
            <a:off x="8258175" y="3057525"/>
            <a:ext cx="135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resposta com evidência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78A19A3-2300-4F64-960F-A79688AE9365}"/>
              </a:ext>
            </a:extLst>
          </p:cNvPr>
          <p:cNvSpPr>
            <a:spLocks noGrp="1"/>
          </p:cNvSpPr>
          <p:nvPr/>
        </p:nvSpPr>
        <p:spPr>
          <a:xfrm>
            <a:off x="10048875" y="2143125"/>
            <a:ext cx="1619250" cy="1000125"/>
          </a:xfrm>
          <a:prstGeom prst="roundRect">
            <a:avLst>
              <a:gd name="adj" fmla="val 11429"/>
            </a:avLst>
          </a:prstGeom>
          <a:solidFill>
            <a:srgbClr val="2C2418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E63D6-39E9-4DFD-8F01-5290228F6CFB}"/>
              </a:ext>
            </a:extLst>
          </p:cNvPr>
          <p:cNvSpPr>
            <a:spLocks noGrp="1"/>
          </p:cNvSpPr>
          <p:nvPr/>
        </p:nvSpPr>
        <p:spPr>
          <a:xfrm>
            <a:off x="10182225" y="2257425"/>
            <a:ext cx="135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Agente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FA6B8-0CCF-40A2-8664-CB75E037800F}"/>
              </a:ext>
            </a:extLst>
          </p:cNvPr>
          <p:cNvSpPr>
            <a:spLocks noGrp="1"/>
          </p:cNvSpPr>
          <p:nvPr/>
        </p:nvSpPr>
        <p:spPr>
          <a:xfrm>
            <a:off x="10182225" y="2638425"/>
            <a:ext cx="135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ações em várias etapas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7A4B89-7BE6-43D5-BE54-1D227757C77E}"/>
              </a:ext>
            </a:extLst>
          </p:cNvPr>
          <p:cNvSpPr>
            <a:spLocks noGrp="1"/>
          </p:cNvSpPr>
          <p:nvPr/>
        </p:nvSpPr>
        <p:spPr>
          <a:xfrm>
            <a:off x="8096250" y="13335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Mais flexibilidade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7256D0-D897-4CF9-9640-1A814E10B796}"/>
              </a:ext>
            </a:extLst>
          </p:cNvPr>
          <p:cNvSpPr>
            <a:spLocks noGrp="1"/>
          </p:cNvSpPr>
          <p:nvPr/>
        </p:nvSpPr>
        <p:spPr>
          <a:xfrm>
            <a:off x="8096250" y="1666875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Mais incerteza e avaliação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Comparação das abordagens</a:t>
            </a:r>
          </a:p>
        </p:txBody>
      </p:sp>
      <p:sp>
        <p:nvSpPr>
          <p:cNvPr id="4" name="original-14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endParaRPr/>
          </a:p>
        </p:txBody>
      </p:sp>
      <p:graphicFrame>
        <p:nvGraphicFramePr>
          <p:cNvPr id="10" name="Table 9"/>
          <p:cNvGraphicFramePr/>
          <p:nvPr/>
        </p:nvGraphicFramePr>
        <p:xfrm>
          <a:off x="400050" y="1809750"/>
          <a:ext cx="11287125" cy="4286247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Abordagem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Indicação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Pergunta crítica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Regra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Política estável e resultado exato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decisão cabe em condições claras?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Busca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Conteúdo estruturado e consulta direta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Recuperar o item resolve a necessidade?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 preditivo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Padrões aprendidos com exemplos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Há dados e alvo mensurável?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 generativa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Linguagem, síntese e transformação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variação da resposta é aceitável?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Resposta apoiada em documentos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evidência pode ser recuperada e citada?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Escolha e execução de ações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autonomia compensa risco e complexidade?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Teste de adequação da IA</a:t>
            </a:r>
          </a:p>
        </p:txBody>
      </p:sp>
      <p:sp>
        <p:nvSpPr>
          <p:cNvPr id="4" name="original-534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valor deve aparecer antes do modelo</a:t>
            </a:r>
          </a:p>
        </p:txBody>
      </p:sp>
      <p:sp>
        <p:nvSpPr>
          <p:cNvPr id="5" name="original-2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valor específico a IA acrescenta?</a:t>
            </a:r>
          </a:p>
        </p:txBody>
      </p:sp>
      <p:sp>
        <p:nvSpPr>
          <p:cNvPr id="6" name="original-3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original-12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 resposta precisa de evidência ou de um plano de validação.</a:t>
            </a:r>
          </a:p>
        </p:txBody>
      </p:sp>
      <p:sp>
        <p:nvSpPr>
          <p:cNvPr id="8" name="original-16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</a:t>
            </a:r>
            <a:r>
              <a:rPr lang="pt-BR" sz="17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baseline atual</a:t>
            </a:r>
            <a:r>
              <a:rPr sz="17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9" name="original-17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original-18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Como avaliar resposta ou ação?</a:t>
            </a:r>
          </a:p>
        </p:txBody>
      </p:sp>
      <p:sp>
        <p:nvSpPr>
          <p:cNvPr id="11" name="original-19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original-2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é o custo do erro?</a:t>
            </a:r>
          </a:p>
        </p:txBody>
      </p:sp>
      <p:sp>
        <p:nvSpPr>
          <p:cNvPr id="13" name="original-2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original-23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usuário pode revisar ou interromper?</a:t>
            </a:r>
          </a:p>
        </p:txBody>
      </p:sp>
      <p:sp>
        <p:nvSpPr>
          <p:cNvPr id="15" name="original-24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Linha de base e experimento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3C0CEF-A847-48A6-892A-CBF6F0E919A1}"/>
              </a:ext>
            </a:extLst>
          </p:cNvPr>
          <p:cNvSpPr>
            <a:spLocks noGrp="1"/>
          </p:cNvSpPr>
          <p:nvPr/>
        </p:nvSpPr>
        <p:spPr>
          <a:xfrm>
            <a:off x="809625" y="2524125"/>
            <a:ext cx="2619375" cy="1476375"/>
          </a:xfrm>
          <a:prstGeom prst="roundRect">
            <a:avLst>
              <a:gd name="adj" fmla="val 7742"/>
            </a:avLst>
          </a:prstGeom>
          <a:solidFill>
            <a:srgbClr val="182126"/>
          </a:solidFill>
          <a:ln w="11430">
            <a:solidFill>
              <a:srgbClr val="6B778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DFBD8-B969-4444-B2F7-16B9321D4543}"/>
              </a:ext>
            </a:extLst>
          </p:cNvPr>
          <p:cNvSpPr>
            <a:spLocks noGrp="1"/>
          </p:cNvSpPr>
          <p:nvPr/>
        </p:nvSpPr>
        <p:spPr>
          <a:xfrm>
            <a:off x="942975" y="2638425"/>
            <a:ext cx="23526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Fluxo atual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7A6F5-63D0-4E73-8945-06E88928D459}"/>
              </a:ext>
            </a:extLst>
          </p:cNvPr>
          <p:cNvSpPr>
            <a:spLocks noGrp="1"/>
          </p:cNvSpPr>
          <p:nvPr/>
        </p:nvSpPr>
        <p:spPr>
          <a:xfrm>
            <a:off x="942975" y="3019425"/>
            <a:ext cx="2352675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busca manual, FAQ ou regra simples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7B7E0B-5DAF-4133-BB39-8EDAA417616A}"/>
              </a:ext>
            </a:extLst>
          </p:cNvPr>
          <p:cNvSpPr>
            <a:spLocks noGrp="1"/>
          </p:cNvSpPr>
          <p:nvPr/>
        </p:nvSpPr>
        <p:spPr>
          <a:xfrm>
            <a:off x="4762500" y="2524125"/>
            <a:ext cx="2857500" cy="1476375"/>
          </a:xfrm>
          <a:prstGeom prst="roundRect">
            <a:avLst>
              <a:gd name="adj" fmla="val 7742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FD3AB-3D74-471F-816C-3A1FF4FB99AD}"/>
              </a:ext>
            </a:extLst>
          </p:cNvPr>
          <p:cNvSpPr>
            <a:spLocks noGrp="1"/>
          </p:cNvSpPr>
          <p:nvPr/>
        </p:nvSpPr>
        <p:spPr>
          <a:xfrm>
            <a:off x="4895850" y="2638425"/>
            <a:ext cx="2590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Experimento com 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C3FB39-0BEA-4AEF-8C20-783655F23456}"/>
              </a:ext>
            </a:extLst>
          </p:cNvPr>
          <p:cNvSpPr>
            <a:spLocks noGrp="1"/>
          </p:cNvSpPr>
          <p:nvPr/>
        </p:nvSpPr>
        <p:spPr>
          <a:xfrm>
            <a:off x="4895850" y="3019425"/>
            <a:ext cx="259080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mesma tarefa, casos e condições de comparação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90DCDA-D572-4390-9AB0-D475E35449B9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2524125" cy="1476375"/>
          </a:xfrm>
          <a:prstGeom prst="roundRect">
            <a:avLst>
              <a:gd name="adj" fmla="val 7742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17CC7-CD2B-4BDF-A183-BF9400B00B6B}"/>
              </a:ext>
            </a:extLst>
          </p:cNvPr>
          <p:cNvSpPr>
            <a:spLocks noGrp="1"/>
          </p:cNvSpPr>
          <p:nvPr/>
        </p:nvSpPr>
        <p:spPr>
          <a:xfrm>
            <a:off x="8991600" y="2638425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Evidência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E2CD6-5373-4C1F-9AC6-81569C634F29}"/>
              </a:ext>
            </a:extLst>
          </p:cNvPr>
          <p:cNvSpPr>
            <a:spLocks noGrp="1"/>
          </p:cNvSpPr>
          <p:nvPr/>
        </p:nvSpPr>
        <p:spPr>
          <a:xfrm>
            <a:off x="8991600" y="3019425"/>
            <a:ext cx="2257425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qualidade, tempo, custo e falhas observadas</a:t>
            </a:r>
          </a:p>
        </p:txBody>
      </p:sp>
      <p:cxnSp>
        <p:nvCxnSpPr>
          <p:cNvPr id="28" name="Straight Arrow Connector 27"/>
          <p:cNvCxnSpPr>
            <a:stCxn id="4" idx="3"/>
            <a:endCxn id="7" idx="1"/>
          </p:cNvCxnSpPr>
          <p:nvPr/>
        </p:nvCxnSpPr>
        <p:spPr>
          <a:xfrm>
            <a:off x="3429000" y="3262313"/>
            <a:ext cx="133350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29" name="Straight Arrow Connector 28"/>
          <p:cNvCxnSpPr>
            <a:stCxn id="7" idx="3"/>
            <a:endCxn id="10" idx="1"/>
          </p:cNvCxnSpPr>
          <p:nvPr/>
        </p:nvCxnSpPr>
        <p:spPr>
          <a:xfrm>
            <a:off x="7620000" y="3262313"/>
            <a:ext cx="1238250" cy="0"/>
          </a:xfrm>
          <a:prstGeom prst="straightConnector1">
            <a:avLst/>
          </a:prstGeom>
          <a:ln w="19050">
            <a:solidFill>
              <a:srgbClr val="FFB44A"/>
            </a:solidFill>
            <a:prstDash val="solid"/>
            <a:tailEnd type="triangle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36F80FB-ACC9-4DE8-9CD0-10AA39B2C8FE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comparação transforma uma demonstração em aprendizado.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orientação acadêmica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Alternativas simples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FAQ organizada.
Busca por palavra-chave.
Filtro por curso e período.
Encaminhamento para a secretaria.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Hipótese com IA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RAG pode sintetizar uma resposta e citar trechos oficiais.
A equipe ainda precisa comparar tempo, correção, fundamentação e comportamento sem evidência.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3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Falhas comuns em propostas iniciais</a:t>
            </a:r>
          </a:p>
        </p:txBody>
      </p:sp>
      <p:sp>
        <p:nvSpPr>
          <p:cNvPr id="4" name="original-10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Tecnologia primeiro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O grupo escolhe agente ou RAG antes de delimitar a necessidade.</a:t>
            </a:r>
          </a:p>
        </p:txBody>
      </p:sp>
      <p:sp>
        <p:nvSpPr>
          <p:cNvPr id="5" name="original-11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Precisão sem protocolo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A proposta promete qualidade sem casos, avaliador ou métrica.</a:t>
            </a:r>
          </a:p>
        </p:txBody>
      </p:sp>
      <p:sp>
        <p:nvSpPr>
          <p:cNvPr id="6" name="original-4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Autonomia sem limite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O sistema age sem confirmação, permissão ou saída segura.</a:t>
            </a:r>
          </a:p>
        </p:txBody>
      </p:sp>
      <p:sp>
        <p:nvSpPr>
          <p:cNvPr id="7" name="original-5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MVP acumulativo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O escopo reúne toda tecnologia estudada em uma única entrega.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3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Fundamentos para produtos com IA</a:t>
            </a:r>
          </a:p>
        </p:txBody>
      </p:sp>
      <p:sp>
        <p:nvSpPr>
          <p:cNvPr id="4" name="original-10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Métrica antes do modelo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A linha de base e a medida orientam a escolha.</a:t>
            </a:r>
          </a:p>
        </p:txBody>
      </p:sp>
      <p:sp>
        <p:nvSpPr>
          <p:cNvPr id="5" name="original-11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Sistema além do modelo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Dados, integração e operação concentram parte importante do trabalho.</a:t>
            </a:r>
          </a:p>
        </p:txBody>
      </p:sp>
      <p:sp>
        <p:nvSpPr>
          <p:cNvPr id="6" name="original-4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Finalidade documentada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Contexto, usuários, benefícios e danos precisam aparecer cedo.</a:t>
            </a:r>
          </a:p>
        </p:txBody>
      </p:sp>
      <p:sp>
        <p:nvSpPr>
          <p:cNvPr id="7" name="original-5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 dirty="0" err="1">
                <a:solidFill>
                  <a:srgbClr val="FFFFFF"/>
                </a:solidFill>
              </a:rPr>
              <a:t>Processo</a:t>
            </a:r>
            <a:r>
              <a:rPr sz="2175" b="0" dirty="0">
                <a:solidFill>
                  <a:srgbClr val="FFFFFF"/>
                </a:solidFill>
              </a:rPr>
              <a:t> </a:t>
            </a:r>
            <a:r>
              <a:rPr sz="2175" b="0" dirty="0" err="1">
                <a:solidFill>
                  <a:srgbClr val="FFFFFF"/>
                </a:solidFill>
              </a:rPr>
              <a:t>iterativo</a:t>
            </a:r>
            <a:endParaRPr sz="2175" b="0" dirty="0">
              <a:solidFill>
                <a:srgbClr val="FFFFFF"/>
              </a:solidFill>
            </a:endParaRP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FFFFFF"/>
                </a:solidFill>
              </a:rPr>
              <a:t>Equipes </a:t>
            </a:r>
            <a:r>
              <a:rPr sz="1800" dirty="0" err="1">
                <a:solidFill>
                  <a:srgbClr val="FFFFFF"/>
                </a:solidFill>
              </a:rPr>
              <a:t>integram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práticas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ao</a:t>
            </a:r>
            <a:r>
              <a:rPr sz="1800" dirty="0">
                <a:solidFill>
                  <a:srgbClr val="FFFFFF"/>
                </a:solidFill>
              </a:rPr>
              <a:t> </a:t>
            </a:r>
            <a:r>
              <a:rPr sz="1800" dirty="0" err="1">
                <a:solidFill>
                  <a:srgbClr val="FFFFFF"/>
                </a:solidFill>
              </a:rPr>
              <a:t>desenvolvimento</a:t>
            </a:r>
            <a:r>
              <a:rPr sz="1800" dirty="0">
                <a:solidFill>
                  <a:srgbClr val="FFFFFF"/>
                </a:solidFill>
              </a:rPr>
              <a:t> de software </a:t>
            </a:r>
            <a:r>
              <a:rPr sz="1800" dirty="0" err="1">
                <a:solidFill>
                  <a:srgbClr val="FFFFFF"/>
                </a:solidFill>
              </a:rPr>
              <a:t>existente</a:t>
            </a:r>
            <a:r>
              <a:rPr sz="18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iginal-4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4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recorte do MVP</a:t>
            </a:r>
          </a:p>
        </p:txBody>
      </p:sp>
      <p:sp>
        <p:nvSpPr>
          <p:cNvPr id="2" name="original-5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primeiro incremento testa uma hipótese relevante com o menor escopo coerente.</a:t>
            </a:r>
          </a:p>
        </p:txBody>
      </p:sp>
      <p:sp>
        <p:nvSpPr>
          <p:cNvPr id="3" name="original-6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725" b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Bloco 3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MVP como experimento de produto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Objetivo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Entregar uma jornada utilizável que permita observar valor, risco e aprendizagem.
O MVP mantém qualidade suficiente para que o teste seja confiável.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Conteúdo mínimo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Um usuário prioritário.
Uma hipótese de valor.
Um fluxo completo.
Uma capacidade de IA justificada.
Uma forma de observar resultado e falha.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Protótipo, MVP, piloto e produto</a:t>
            </a:r>
          </a:p>
        </p:txBody>
      </p:sp>
      <p:sp>
        <p:nvSpPr>
          <p:cNvPr id="4" name="original-14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endParaRPr/>
          </a:p>
        </p:txBody>
      </p:sp>
      <p:graphicFrame>
        <p:nvGraphicFramePr>
          <p:cNvPr id="10" name="Table 9"/>
          <p:cNvGraphicFramePr/>
          <p:nvPr/>
        </p:nvGraphicFramePr>
        <p:xfrm>
          <a:off x="400050" y="1809750"/>
          <a:ext cx="11287125" cy="42862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Artefato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Pergunta principal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D7E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Uso típico</a:t>
                      </a:r>
                    </a:p>
                  </a:txBody>
                  <a:tcPr>
                    <a:solidFill>
                      <a:srgbClr val="123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Protótipo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ideia pode ser compreendida e explorada?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Aprender sobre interação ou viabilidade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MVP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hipótese principal produz valor observável?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Primeiro incremento utilizável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Piloto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solução funciona em contexto controlado?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Operação limitada com usuários reais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Produto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solução sustenta uso contínuo?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Operação, evolução e suporte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Lean Inception: visão geral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5483853-5C0A-465E-BAFE-AEF2BBB83E8A}"/>
              </a:ext>
            </a:extLst>
          </p:cNvPr>
          <p:cNvSpPr>
            <a:spLocks noGrp="1"/>
          </p:cNvSpPr>
          <p:nvPr/>
        </p:nvSpPr>
        <p:spPr>
          <a:xfrm>
            <a:off x="333375" y="271462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A891C-6152-4F73-9616-B452C9A2A083}"/>
              </a:ext>
            </a:extLst>
          </p:cNvPr>
          <p:cNvSpPr>
            <a:spLocks noGrp="1"/>
          </p:cNvSpPr>
          <p:nvPr/>
        </p:nvSpPr>
        <p:spPr>
          <a:xfrm>
            <a:off x="466725" y="2828925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Visão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ABE82B-F384-4D0C-90FF-08457A30C761}"/>
              </a:ext>
            </a:extLst>
          </p:cNvPr>
          <p:cNvSpPr>
            <a:spLocks noGrp="1"/>
          </p:cNvSpPr>
          <p:nvPr/>
        </p:nvSpPr>
        <p:spPr>
          <a:xfrm>
            <a:off x="466725" y="3209925"/>
            <a:ext cx="14001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benefício e direção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13E1CF-CD9C-4A67-94C9-2CC0541BA125}"/>
              </a:ext>
            </a:extLst>
          </p:cNvPr>
          <p:cNvSpPr>
            <a:spLocks noGrp="1"/>
          </p:cNvSpPr>
          <p:nvPr/>
        </p:nvSpPr>
        <p:spPr>
          <a:xfrm>
            <a:off x="2286000" y="271462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3BE48-E2F3-4270-AF9B-85351D9D53D6}"/>
              </a:ext>
            </a:extLst>
          </p:cNvPr>
          <p:cNvSpPr>
            <a:spLocks noGrp="1"/>
          </p:cNvSpPr>
          <p:nvPr/>
        </p:nvSpPr>
        <p:spPr>
          <a:xfrm>
            <a:off x="2419350" y="2828925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Personas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872ED1-F9A8-403C-A606-55FDFA17C761}"/>
              </a:ext>
            </a:extLst>
          </p:cNvPr>
          <p:cNvSpPr>
            <a:spLocks noGrp="1"/>
          </p:cNvSpPr>
          <p:nvPr/>
        </p:nvSpPr>
        <p:spPr>
          <a:xfrm>
            <a:off x="2419350" y="3209925"/>
            <a:ext cx="14001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usuários prioritários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A840F00-9030-4F0D-85A3-9E4B404BBE5A}"/>
              </a:ext>
            </a:extLst>
          </p:cNvPr>
          <p:cNvSpPr>
            <a:spLocks noGrp="1"/>
          </p:cNvSpPr>
          <p:nvPr/>
        </p:nvSpPr>
        <p:spPr>
          <a:xfrm>
            <a:off x="4238625" y="271462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D2684-9046-4F51-B02E-A8DE0D9DA20E}"/>
              </a:ext>
            </a:extLst>
          </p:cNvPr>
          <p:cNvSpPr>
            <a:spLocks noGrp="1"/>
          </p:cNvSpPr>
          <p:nvPr/>
        </p:nvSpPr>
        <p:spPr>
          <a:xfrm>
            <a:off x="4371975" y="2828925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Jornada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7EC18-1F5B-4015-AE89-A1F5CFE889CE}"/>
              </a:ext>
            </a:extLst>
          </p:cNvPr>
          <p:cNvSpPr>
            <a:spLocks noGrp="1"/>
          </p:cNvSpPr>
          <p:nvPr/>
        </p:nvSpPr>
        <p:spPr>
          <a:xfrm>
            <a:off x="4371975" y="3209925"/>
            <a:ext cx="14001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passos e dificuldades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BE74E0-7F50-4521-BD85-5782269D11C1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8470E9-0477-4477-B1FD-F24E9FD3C4E0}"/>
              </a:ext>
            </a:extLst>
          </p:cNvPr>
          <p:cNvSpPr>
            <a:spLocks noGrp="1"/>
          </p:cNvSpPr>
          <p:nvPr/>
        </p:nvSpPr>
        <p:spPr>
          <a:xfrm>
            <a:off x="6324600" y="2828925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Funcionalidades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B9608A-DE96-4B2C-8B78-2D0502549E0F}"/>
              </a:ext>
            </a:extLst>
          </p:cNvPr>
          <p:cNvSpPr>
            <a:spLocks noGrp="1"/>
          </p:cNvSpPr>
          <p:nvPr/>
        </p:nvSpPr>
        <p:spPr>
          <a:xfrm>
            <a:off x="6324600" y="3209925"/>
            <a:ext cx="14001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capacidade e valor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E1A505-B326-4A70-A33E-D19B37DB74F2}"/>
              </a:ext>
            </a:extLst>
          </p:cNvPr>
          <p:cNvSpPr>
            <a:spLocks noGrp="1"/>
          </p:cNvSpPr>
          <p:nvPr/>
        </p:nvSpPr>
        <p:spPr>
          <a:xfrm>
            <a:off x="8143875" y="271462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3702EB-E771-4FE3-9DE1-E8D11128BFDD}"/>
              </a:ext>
            </a:extLst>
          </p:cNvPr>
          <p:cNvSpPr>
            <a:spLocks noGrp="1"/>
          </p:cNvSpPr>
          <p:nvPr/>
        </p:nvSpPr>
        <p:spPr>
          <a:xfrm>
            <a:off x="8277225" y="2828925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Revisão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A94E11-7748-4302-855F-A2EF356F6474}"/>
              </a:ext>
            </a:extLst>
          </p:cNvPr>
          <p:cNvSpPr>
            <a:spLocks noGrp="1"/>
          </p:cNvSpPr>
          <p:nvPr/>
        </p:nvSpPr>
        <p:spPr>
          <a:xfrm>
            <a:off x="8277225" y="3209925"/>
            <a:ext cx="14001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esforço e incerteza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C7A3141-3CE8-4FA7-A3DD-002CCAF6AD55}"/>
              </a:ext>
            </a:extLst>
          </p:cNvPr>
          <p:cNvSpPr>
            <a:spLocks noGrp="1"/>
          </p:cNvSpPr>
          <p:nvPr/>
        </p:nvSpPr>
        <p:spPr>
          <a:xfrm>
            <a:off x="10096500" y="2714625"/>
            <a:ext cx="1666875" cy="1381125"/>
          </a:xfrm>
          <a:prstGeom prst="roundRect">
            <a:avLst>
              <a:gd name="adj" fmla="val 8276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C164AF-C986-4AF1-92DF-D2D614592120}"/>
              </a:ext>
            </a:extLst>
          </p:cNvPr>
          <p:cNvSpPr>
            <a:spLocks noGrp="1"/>
          </p:cNvSpPr>
          <p:nvPr/>
        </p:nvSpPr>
        <p:spPr>
          <a:xfrm>
            <a:off x="10229850" y="2828925"/>
            <a:ext cx="1400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F5DC88-CAF0-4505-B319-045B2B6BBD23}"/>
              </a:ext>
            </a:extLst>
          </p:cNvPr>
          <p:cNvSpPr>
            <a:spLocks noGrp="1"/>
          </p:cNvSpPr>
          <p:nvPr/>
        </p:nvSpPr>
        <p:spPr>
          <a:xfrm>
            <a:off x="10229850" y="3209925"/>
            <a:ext cx="14001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hipótese e métrica</a:t>
            </a:r>
          </a:p>
        </p:txBody>
      </p:sp>
      <p:cxnSp>
        <p:nvCxnSpPr>
          <p:cNvPr id="48" name="Straight Arrow Connector 47"/>
          <p:cNvCxnSpPr>
            <a:stCxn id="4" idx="3"/>
            <a:endCxn id="7" idx="1"/>
          </p:cNvCxnSpPr>
          <p:nvPr/>
        </p:nvCxnSpPr>
        <p:spPr>
          <a:xfrm>
            <a:off x="2000250" y="3405188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49" name="Straight Arrow Connector 48"/>
          <p:cNvCxnSpPr>
            <a:stCxn id="7" idx="3"/>
            <a:endCxn id="10" idx="1"/>
          </p:cNvCxnSpPr>
          <p:nvPr/>
        </p:nvCxnSpPr>
        <p:spPr>
          <a:xfrm>
            <a:off x="3952875" y="3405188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0" name="Straight Arrow Connector 49"/>
          <p:cNvCxnSpPr>
            <a:stCxn id="10" idx="3"/>
            <a:endCxn id="13" idx="1"/>
          </p:cNvCxnSpPr>
          <p:nvPr/>
        </p:nvCxnSpPr>
        <p:spPr>
          <a:xfrm>
            <a:off x="5905500" y="3405188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1" name="Straight Arrow Connector 50"/>
          <p:cNvCxnSpPr>
            <a:stCxn id="13" idx="3"/>
            <a:endCxn id="16" idx="1"/>
          </p:cNvCxnSpPr>
          <p:nvPr/>
        </p:nvCxnSpPr>
        <p:spPr>
          <a:xfrm>
            <a:off x="7858125" y="3405188"/>
            <a:ext cx="285750" cy="0"/>
          </a:xfrm>
          <a:prstGeom prst="straightConnector1">
            <a:avLst/>
          </a:prstGeom>
          <a:ln w="19050">
            <a:solidFill>
              <a:srgbClr val="28D7E5"/>
            </a:solidFill>
            <a:prstDash val="solid"/>
            <a:tailEnd type="triangle" w="sm" len="sm"/>
          </a:ln>
        </p:spPr>
      </p:cxnSp>
      <p:cxnSp>
        <p:nvCxnSpPr>
          <p:cNvPr id="52" name="Straight Arrow Connector 51"/>
          <p:cNvCxnSpPr>
            <a:stCxn id="16" idx="3"/>
            <a:endCxn id="19" idx="1"/>
          </p:cNvCxnSpPr>
          <p:nvPr/>
        </p:nvCxnSpPr>
        <p:spPr>
          <a:xfrm>
            <a:off x="9810750" y="3405188"/>
            <a:ext cx="285750" cy="0"/>
          </a:xfrm>
          <a:prstGeom prst="straightConnector1">
            <a:avLst/>
          </a:prstGeom>
          <a:ln w="19050">
            <a:solidFill>
              <a:srgbClr val="FFB44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3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Quatro decisões para a aula</a:t>
            </a:r>
          </a:p>
        </p:txBody>
      </p:sp>
      <p:sp>
        <p:nvSpPr>
          <p:cNvPr id="4" name="original-10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Visão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Para quem, qual problema, qual benefício e qual diferença.</a:t>
            </a:r>
          </a:p>
        </p:txBody>
      </p:sp>
      <p:sp>
        <p:nvSpPr>
          <p:cNvPr id="5" name="original-11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Fronteiras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O que o produto é, não é, faz e não faz.</a:t>
            </a:r>
          </a:p>
        </p:txBody>
      </p:sp>
      <p:sp>
        <p:nvSpPr>
          <p:cNvPr id="6" name="original-4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Hipótese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Qual capacidade deve produzir qual resultado.</a:t>
            </a:r>
          </a:p>
        </p:txBody>
      </p:sp>
      <p:sp>
        <p:nvSpPr>
          <p:cNvPr id="7" name="original-5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Jornada mínima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Qual fluxo completo testa a hipótese.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Fronteiras do produto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05426F-7C1D-466C-B3BD-18F33F39F8DB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5000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6117D-BC33-4A4A-8353-C0A15C202A2D}"/>
              </a:ext>
            </a:extLst>
          </p:cNvPr>
          <p:cNvSpPr>
            <a:spLocks noGrp="1"/>
          </p:cNvSpPr>
          <p:nvPr/>
        </p:nvSpPr>
        <p:spPr>
          <a:xfrm>
            <a:off x="990600" y="2066925"/>
            <a:ext cx="4733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2ADAA-CA8F-45E9-9E58-A81C9D43C7AF}"/>
              </a:ext>
            </a:extLst>
          </p:cNvPr>
          <p:cNvSpPr>
            <a:spLocks noGrp="1"/>
          </p:cNvSpPr>
          <p:nvPr/>
        </p:nvSpPr>
        <p:spPr>
          <a:xfrm>
            <a:off x="990600" y="2447925"/>
            <a:ext cx="4733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assistente de consulta a fontes oficiais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8EB03D-3B94-4EF1-8F37-12CA0D5F50A2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5000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04451-A92A-4FF7-A749-905198F9944C}"/>
              </a:ext>
            </a:extLst>
          </p:cNvPr>
          <p:cNvSpPr>
            <a:spLocks noGrp="1"/>
          </p:cNvSpPr>
          <p:nvPr/>
        </p:nvSpPr>
        <p:spPr>
          <a:xfrm>
            <a:off x="6467475" y="2066925"/>
            <a:ext cx="4733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Não 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7BB37-B42E-41F1-9ECF-10D7D00399B9}"/>
              </a:ext>
            </a:extLst>
          </p:cNvPr>
          <p:cNvSpPr>
            <a:spLocks noGrp="1"/>
          </p:cNvSpPr>
          <p:nvPr/>
        </p:nvSpPr>
        <p:spPr>
          <a:xfrm>
            <a:off x="6467475" y="2447925"/>
            <a:ext cx="4733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autoridade que decide casos individuais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A70D49-9BE5-434D-BE34-4A740DE05EAC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5000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28D7E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26A66-98B2-4283-82CD-603EF10609C5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4733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8D7E5"/>
                </a:solidFill>
                <a:latin typeface="Helvetica Neue"/>
                <a:ea typeface="Helvetica Neue"/>
                <a:cs typeface="Helvetica Neue"/>
              </a:rPr>
              <a:t>Faz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75110A-FA7F-4A82-9A3E-82F91188847A}"/>
              </a:ext>
            </a:extLst>
          </p:cNvPr>
          <p:cNvSpPr>
            <a:spLocks noGrp="1"/>
          </p:cNvSpPr>
          <p:nvPr/>
        </p:nvSpPr>
        <p:spPr>
          <a:xfrm>
            <a:off x="990600" y="4591050"/>
            <a:ext cx="4733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recupera evidência e explica em linguagem simples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5D7B57-8272-418A-B786-B4219B08B997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5000625" cy="1571625"/>
          </a:xfrm>
          <a:prstGeom prst="roundRect">
            <a:avLst>
              <a:gd name="adj" fmla="val 7273"/>
            </a:avLst>
          </a:prstGeom>
          <a:solidFill>
            <a:srgbClr val="182126"/>
          </a:solidFill>
          <a:ln w="11430">
            <a:solidFill>
              <a:srgbClr val="FFB44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1FF31B-BE4F-41B8-B1DC-0DFCA628EE34}"/>
              </a:ext>
            </a:extLst>
          </p:cNvPr>
          <p:cNvSpPr>
            <a:spLocks noGrp="1"/>
          </p:cNvSpPr>
          <p:nvPr/>
        </p:nvSpPr>
        <p:spPr>
          <a:xfrm>
            <a:off x="6467475" y="4210050"/>
            <a:ext cx="47339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44A"/>
                </a:solidFill>
                <a:latin typeface="Helvetica Neue"/>
                <a:ea typeface="Helvetica Neue"/>
                <a:cs typeface="Helvetica Neue"/>
              </a:rPr>
              <a:t>Não faz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ECDB0F-2FD2-41B9-A7A9-FD1B6833C845}"/>
              </a:ext>
            </a:extLst>
          </p:cNvPr>
          <p:cNvSpPr>
            <a:spLocks noGrp="1"/>
          </p:cNvSpPr>
          <p:nvPr/>
        </p:nvSpPr>
        <p:spPr>
          <a:xfrm>
            <a:off x="6467475" y="4591050"/>
            <a:ext cx="4733925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2CC"/>
                </a:solidFill>
                <a:latin typeface="Helvetica Neue"/>
                <a:ea typeface="Helvetica Neue"/>
                <a:cs typeface="Helvetica Neue"/>
              </a:rPr>
              <a:t>altera matrícula ou inventa orientação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Hipótese do MVP</a:t>
            </a:r>
          </a:p>
        </p:txBody>
      </p:sp>
      <p:sp>
        <p:nvSpPr>
          <p:cNvPr id="4" name="original-7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Estrutura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Acreditamos que [capacidade] ajudará [usuário] a [resultado].
Compararemos com [linha de base].
Consideraremos a hipótese apoiada quando [evidência ou limiar].</a:t>
            </a:r>
          </a:p>
        </p:txBody>
      </p:sp>
      <p:sp>
        <p:nvSpPr>
          <p:cNvPr id="5" name="original-8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100"/>
              </a:spcAft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</a:rPr>
              <a:t>Exemplo</a:t>
            </a:r>
          </a:p>
          <a:p>
            <a:pPr marL="0" indent="0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</a:rPr>
              <a:t>Acreditamos que busca com resposta fundamentada ajudará estudantes a localizar orientação. Compararemos com busca manual e mediremos tempo, correção e acesso à fonte.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iginal-533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buNone/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Corte de funcionalidades</a:t>
            </a:r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DD82F86A-8D15-4EDD-ACAB-7BED866ADF22}"/>
              </a:ext>
            </a:extLst>
          </p:cNvPr>
          <p:cNvSpPr>
            <a:spLocks noGrp="1"/>
          </p:cNvSpPr>
          <p:nvPr/>
        </p:nvSpPr>
        <p:spPr>
          <a:xfrm>
            <a:off x="1809750" y="1714500"/>
            <a:ext cx="8572500" cy="781050"/>
          </a:xfrm>
          <a:prstGeom prst="trapezoid">
            <a:avLst/>
          </a:prstGeom>
          <a:solidFill>
            <a:srgbClr val="273238"/>
          </a:solidFill>
          <a:ln w="13335">
            <a:solidFill>
              <a:srgbClr val="28D7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Ideias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678CACB6-0B8F-4E27-B444-BDA8F401B636}"/>
              </a:ext>
            </a:extLst>
          </p:cNvPr>
          <p:cNvSpPr>
            <a:spLocks noGrp="1"/>
          </p:cNvSpPr>
          <p:nvPr/>
        </p:nvSpPr>
        <p:spPr>
          <a:xfrm>
            <a:off x="2667000" y="2714625"/>
            <a:ext cx="6858000" cy="781050"/>
          </a:xfrm>
          <a:prstGeom prst="trapezoid">
            <a:avLst/>
          </a:prstGeom>
          <a:solidFill>
            <a:srgbClr val="214047"/>
          </a:solidFill>
          <a:ln w="13335">
            <a:solidFill>
              <a:srgbClr val="28D7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Funcionalidades ligadas à jornada</a:t>
            </a:r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4B151AF-7D5C-4DF7-836E-B587F7C82BE7}"/>
              </a:ext>
            </a:extLst>
          </p:cNvPr>
          <p:cNvSpPr>
            <a:spLocks noGrp="1"/>
          </p:cNvSpPr>
          <p:nvPr/>
        </p:nvSpPr>
        <p:spPr>
          <a:xfrm>
            <a:off x="3524250" y="3714750"/>
            <a:ext cx="5143500" cy="781050"/>
          </a:xfrm>
          <a:prstGeom prst="trapezoid">
            <a:avLst/>
          </a:prstGeom>
          <a:solidFill>
            <a:srgbClr val="195660"/>
          </a:solidFill>
          <a:ln w="13335">
            <a:solidFill>
              <a:srgbClr val="28D7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Capacidades que testam a hipótese</a:t>
            </a: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BD423A49-816B-4012-B24F-412A88313CE5}"/>
              </a:ext>
            </a:extLst>
          </p:cNvPr>
          <p:cNvSpPr>
            <a:spLocks noGrp="1"/>
          </p:cNvSpPr>
          <p:nvPr/>
        </p:nvSpPr>
        <p:spPr>
          <a:xfrm>
            <a:off x="4667250" y="4714875"/>
            <a:ext cx="2857500" cy="781050"/>
          </a:xfrm>
          <a:prstGeom prst="trapezoid">
            <a:avLst/>
          </a:prstGeom>
          <a:solidFill>
            <a:srgbClr val="8A5A18"/>
          </a:solidFill>
          <a:ln w="13335">
            <a:solidFill>
              <a:srgbClr val="FFB44A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2846</Words>
  <Application>Microsoft Macintosh PowerPoint</Application>
  <DocSecurity>0</DocSecurity>
  <PresentationFormat>Widescreen</PresentationFormat>
  <Paragraphs>368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Helvetica Neue</vt:lpstr>
      <vt:lpstr>Arial</vt:lpstr>
      <vt:lpstr>Default Codex Theme</vt:lpstr>
      <vt:lpstr>Do problema à
especificação</vt:lpstr>
      <vt:lpstr>Uma ideia aparentemente clara</vt:lpstr>
      <vt:lpstr>Perguntas que a ideia ainda não responde</vt:lpstr>
      <vt:lpstr>Perguntas que a ideia ainda não responde</vt:lpstr>
      <vt:lpstr>Perguntas que a ideia ainda não responde</vt:lpstr>
      <vt:lpstr>Perguntas que a ideia ainda não responde</vt:lpstr>
      <vt:lpstr>Perguntas que a ideia ainda não responde</vt:lpstr>
      <vt:lpstr>Perguntas que a ideia ainda não responde</vt:lpstr>
      <vt:lpstr>Perguntas que a ideia ainda não responde</vt:lpstr>
      <vt:lpstr>Conhecimento, suposições e investigação</vt:lpstr>
      <vt:lpstr>Ideia de solução e formulação do problema</vt:lpstr>
      <vt:lpstr>Ideia de solução e formulação do problema</vt:lpstr>
      <vt:lpstr>Anatomia de um problema útil</vt:lpstr>
      <vt:lpstr>PowerPoint Presentation</vt:lpstr>
      <vt:lpstr>Vocabulário da descoberta</vt:lpstr>
      <vt:lpstr>Modelo de formulação do problema</vt:lpstr>
      <vt:lpstr>Exemplo: primeira redação e revisão</vt:lpstr>
      <vt:lpstr>Exemplo: primeira redação e revisão</vt:lpstr>
      <vt:lpstr>Exemplo: primeira redação e revisão</vt:lpstr>
      <vt:lpstr>Exemplo: primeira redação e revisão</vt:lpstr>
      <vt:lpstr>Qualidade da formulação</vt:lpstr>
      <vt:lpstr>PowerPoint Presentation</vt:lpstr>
      <vt:lpstr>Problemas complexos e múltiplas perspectivas</vt:lpstr>
      <vt:lpstr>A adequação da IA</vt:lpstr>
      <vt:lpstr>Escada de mecanismos</vt:lpstr>
      <vt:lpstr>Comparação das abordagens</vt:lpstr>
      <vt:lpstr>Teste de adequação da IA</vt:lpstr>
      <vt:lpstr>Linha de base e experimento</vt:lpstr>
      <vt:lpstr>Exemplo: orientação acadêmica</vt:lpstr>
      <vt:lpstr>Falhas comuns em propostas iniciais</vt:lpstr>
      <vt:lpstr>Fundamentos para produtos com IA</vt:lpstr>
      <vt:lpstr>O recorte do MVP</vt:lpstr>
      <vt:lpstr>MVP como experimento de produto</vt:lpstr>
      <vt:lpstr>Protótipo, MVP, piloto e produto</vt:lpstr>
      <vt:lpstr>Lean Inception: visão geral</vt:lpstr>
      <vt:lpstr>Quatro decisões para a aula</vt:lpstr>
      <vt:lpstr>Fronteiras do produto</vt:lpstr>
      <vt:lpstr>Hipótese do MVP</vt:lpstr>
      <vt:lpstr>Corte de funcionalidades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João Aldo da Silva Leite Nune</cp:lastModifiedBy>
  <cp:revision>14</cp:revision>
  <dcterms:created xsi:type="dcterms:W3CDTF">2026-09-21T12:19:57Z</dcterms:created>
  <dcterms:modified xsi:type="dcterms:W3CDTF">2026-09-24T22:31:58Z</dcterms:modified>
</cp:coreProperties>
</file>