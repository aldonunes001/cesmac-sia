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9"/>
  </p:notesMasterIdLst>
  <p:sldIdLst>
    <p:sldId id="256" r:id="rId2"/>
    <p:sldId id="258" r:id="rId3"/>
    <p:sldId id="259" r:id="rId4"/>
    <p:sldId id="260" r:id="rId5"/>
    <p:sldId id="261" r:id="rId6"/>
    <p:sldId id="262" r:id="rId7"/>
    <p:sldId id="264" r:id="rId8"/>
    <p:sldId id="265" r:id="rId9"/>
    <p:sldId id="266" r:id="rId10"/>
    <p:sldId id="267" r:id="rId11"/>
    <p:sldId id="268"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6" r:id="rId27"/>
    <p:sldId id="287" r:id="rId28"/>
  </p:sldIdLst>
  <p:sldSz cx="12192000" cy="6858000"/>
  <p:notesSz cx="6858000" cy="9144000"/>
  <p:defaultTextStyle>
    <a:defPPr>
      <a:defRPr lang="en-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7"/>
  </p:normalViewPr>
  <p:slideViewPr>
    <p:cSldViewPr snapToGrid="0">
      <p:cViewPr varScale="1">
        <p:scale>
          <a:sx n="141" d="100"/>
          <a:sy n="141" d="100"/>
        </p:scale>
        <p:origin x="3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dk1" tx1="lt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Apresentação inicial aos alunos. O plano é uma proposta e poderá ajustar a sequência conforme o diagnóstico e o calendário. Pesquisa de referências em 17/09/2026. A ilustração é conceitual, gerada por 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Python básico é o ponto de partida. Exemplos preparados reduzem o tempo de configuração. Avaliação e segurança aparecem desde o primeiro exercício. O recorte é engenharia de aplicações com IA generativa. O projeto do grupo também pode empregar classificação, recomendação, visão ou previsão, desde que demonstre valor e qualidade.</a:t>
            </a:r>
          </a:p>
          <a:p>
            <a:endParaRPr/>
          </a:p>
          <a:p>
            <a:r>
              <a:t>Fontes:</a:t>
            </a:r>
          </a:p>
          <a:p>
            <a:r>
              <a:t>https://www.anthropic.com/engineering/effective-context-engineering-for-ai-agents</a:t>
            </a:r>
          </a:p>
          <a:p>
            <a:r>
              <a:t>https://github.com/github/spec-kit</a:t>
            </a:r>
          </a:p>
          <a:p>
            <a:r>
              <a:t>https://qdrant.tech/documentation/tutorials-basics/reranking-hybrid-search/</a:t>
            </a:r>
          </a:p>
          <a:p>
            <a:r>
              <a:t>https://www.anthropic.com/engineering/building-effective-agents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MCP padroniza integração com capacidades externas. Skills empacotam procedimentos e recursos. A2A trata colaboração entre agentes independentes. Esses elementos não precisam aparecer todos no produto final. Cada grupo justifica a seleção de tecnologias. Kubernetes é uma trilha de aprofundamento, conforme infraestrutura e tempo.</a:t>
            </a:r>
          </a:p>
          <a:p>
            <a:endParaRPr/>
          </a:p>
          <a:p>
            <a:r>
              <a:t>Fontes:</a:t>
            </a:r>
          </a:p>
          <a:p>
            <a:r>
              <a:t>https://modelcontextprotocol.io/docs/2026-07-28/learn/architecture</a:t>
            </a:r>
          </a:p>
          <a:p>
            <a:r>
              <a:t>https://agentskills.io/specification</a:t>
            </a:r>
          </a:p>
          <a:p>
            <a:r>
              <a:t>https://a2a-protocol.org/latest/topics/what-is-a2a/</a:t>
            </a:r>
          </a:p>
          <a:p>
            <a:r>
              <a:t>https://www.anthropic.com/engineering/demystifying-evals-for-ai-agents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Comparar os conceitos usando um atendimento acadêmico. Uma função pode recuperar documentos, uma skill pode orientar a preparação da resposta, e o agente pode escolher a ferramenta. A especificação registra requisitos. Os testes verificam os resultados.</a:t>
            </a:r>
          </a:p>
          <a:p>
            <a:endParaRPr/>
          </a:p>
          <a:p>
            <a:r>
              <a:t>Fontes:</a:t>
            </a:r>
          </a:p>
          <a:p>
            <a:r>
              <a:t>https://modelcontextprotocol.io/docs/2026-07-28/learn/architecture</a:t>
            </a:r>
          </a:p>
          <a:p>
            <a:r>
              <a:t>https://agentskills.io/specification</a:t>
            </a:r>
          </a:p>
          <a:p>
            <a:r>
              <a:t>https://github.com/github/spec-kit</a:t>
            </a:r>
          </a:p>
          <a:p>
            <a:r>
              <a:t>https://www.anthropic.com/engineering/demystifying-evals-for-ai-agents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Proposta de requisito: pelo menos uma capacidade de IA funcional, integrada ao fluxo principal. Treinar um modelo do zero não é obrigatório. Um serviço externo é permitido com documentação de modelo, versão ou identificador, parâmetros relevantes e custos. Comparar com regras ou busca simples quando adequado.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“Sistema completo” significa concluir um fluxo de valor de ponta a ponta. Não significa implementar um produto comercial de grande porte. Publicação pode exigir acesso autenticado. O PO receberá acesso de demonstração. Dados sintéticos são suficientes.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O professor é o cliente e o PO, conforme definido para a disciplina. Os estudantes não devem eleger um segundo PO. Um integrante pode atuar como interlocutor, sem substituir a autoridade do professor. Proposta: grupos de 4 a 5, com rotação do Scrum Master entre sprints e responsabilidade técnica compartilhada. A aceitação de produto e a avaliação acadêmica são registros distintos.</a:t>
            </a:r>
          </a:p>
          <a:p>
            <a:pPr marL="0" lvl="0" indent="0" algn="l">
              <a:spcBef>
                <a:spcPts val="0"/>
              </a:spcBef>
              <a:spcAft>
                <a:spcPts val="0"/>
              </a:spcAft>
              <a:buNone/>
            </a:pPr>
            <a:endParaRPr/>
          </a:p>
          <a:p>
            <a:pPr marL="0" lvl="0" indent="0" algn="l">
              <a:spcBef>
                <a:spcPts val="0"/>
              </a:spcBef>
              <a:spcAft>
                <a:spcPts val="0"/>
              </a:spcAft>
              <a:buNone/>
            </a:pPr>
            <a:r>
              <a:t>Fontes:</a:t>
            </a:r>
          </a:p>
          <a:p>
            <a:pPr marL="0" lvl="0" indent="0" algn="l">
              <a:spcBef>
                <a:spcPts val="0"/>
              </a:spcBef>
              <a:spcAft>
                <a:spcPts val="0"/>
              </a:spcAft>
              <a:buNone/>
            </a:pPr>
            <a:r>
              <a:t>https://scrumguides.org/scrum-guide.html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Lean Inception é um workshop colaborativo de alinhamento de MVP. Aqui propomos uma adaptação curta: encontro inicial de 60 a 90 minutos em grupo, preparação extraclasse e validação com o PO. Registrar participantes, atividades, versões do quadro e decisões. Não apresentar essa adaptação como aplicação integral da agenda original.</a:t>
            </a:r>
          </a:p>
          <a:p>
            <a:endParaRPr/>
          </a:p>
          <a:p>
            <a:r>
              <a:t>Fontes:</a:t>
            </a:r>
          </a:p>
          <a:p>
            <a:r>
              <a:t>https://caroli.org/lean-inception-3/</a:t>
            </a:r>
          </a:p>
          <a:p>
            <a:r>
              <a:t>https://martinfowler.com/articles/lean-inception/build-mvp-canvas.html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Sugestão de evidências: visão do produto, personas, jornada, Canvas MVP, backlog inicial e ata da conversa com o PO. Exemplo de hipótese didática: facilitar a localização de informações em um conjunto documental. O grupo deve medir antes de afirmar melhoria. As metas são propostas pelo grupo e acordadas com o PO.</a:t>
            </a:r>
          </a:p>
          <a:p>
            <a:endParaRPr/>
          </a:p>
          <a:p>
            <a:r>
              <a:t>Fontes:</a:t>
            </a:r>
          </a:p>
          <a:p>
            <a:r>
              <a:t>https://martinfowler.com/articles/lean-inception/build-mvp-canvas.html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Scrum inclui Sprints e os eventos apresentados. Para o curso, propomos Planning de 30 minutos, Review de 15 a 20 por grupo e Retrospectiva de 20. Registrar Daily nos dias úteis da sprint. Se a turma adotar comunicação assíncrona, declarar a adaptação pedagógica. Refinamento é atividade contínua, não um evento formal adicional. A Daily não exige presença do PO.</a:t>
            </a:r>
          </a:p>
          <a:p>
            <a:endParaRPr/>
          </a:p>
          <a:p>
            <a:r>
              <a:t>Fontes:</a:t>
            </a:r>
          </a:p>
          <a:p>
            <a:r>
              <a:t>https://scrumguides.org/scrum-guide.html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Proposta: reunião curta de refinamento no meio da sprint e Review ao final. O professor agenda horários por grupo. Registrar data, participantes, versão demonstrada, feedback, decisão do PO e itens de backlog afetados. Marcar decisões como propostas ou confirmadas. Ausência de resposta não equivale a aprovação. Com muitos grupos, distribuir as reuniões fora das duas horas de aula para preservar os laboratórios.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Registrar durante o trabalho e manter versões no Git ou links estáveis no repositório. O registro deve ajudar outra pessoa a entender a decisão e reproduzir a entrega. Evitar produzir documentação apenas na véspera. Não pontuar por volume de páginas.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Registrar prompts de desenvolvimento e prompts que o produto executa. Guardar as interações substantivas e suas revisões, inclusive tentativas descartadas que influenciaram decisões. Exportações podem complementar o índice. Remover segredos, credenciais e dados pessoais. Quando houver redação, indicar o que foi removido. Não exigir raciocínio interno oculto do modelo. A responsabilidade pela entrega continua com os estudantes.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Exemplo educacional. Uma spec também registra objetivo, escopo, exclusões, restrições, contratos de API, dados e requisitos não funcionais. Relacionar critérios com testes. A revisão do PO trata comportamento e valor. O grupo decide a implementação e registra as decisões técnicas. Spec Kit é uma ferramenta possível, sem obrigatoriedade de uso.</a:t>
            </a:r>
          </a:p>
          <a:p>
            <a:pPr marL="0" lvl="0" indent="0" algn="l">
              <a:spcBef>
                <a:spcPts val="0"/>
              </a:spcBef>
              <a:spcAft>
                <a:spcPts val="0"/>
              </a:spcAft>
              <a:buNone/>
            </a:pPr>
            <a:endParaRPr/>
          </a:p>
          <a:p>
            <a:pPr marL="0" lvl="0" indent="0" algn="l">
              <a:spcBef>
                <a:spcPts val="0"/>
              </a:spcBef>
              <a:spcAft>
                <a:spcPts val="0"/>
              </a:spcAft>
              <a:buNone/>
            </a:pPr>
            <a:r>
              <a:t>Fontes:</a:t>
            </a:r>
          </a:p>
          <a:p>
            <a:pPr marL="0" lvl="0" indent="0" algn="l">
              <a:spcBef>
                <a:spcPts val="0"/>
              </a:spcBef>
              <a:spcAft>
                <a:spcPts val="0"/>
              </a:spcAft>
              <a:buNone/>
            </a:pPr>
            <a:r>
              <a:t>https://github.com/github/spec-kit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ADR significa Architecture Decision Record. Proposta: pelo menos quatro decisões relevantes documentadas, cobrindo escopo, IA, dados ou arquitetura e hospedagem. O número é um mínimo didático, não uma métrica de qualidade. Exemplo: escolher monólito modular para reduzir custo operacional. Documentar consequências e motivo para rever a decisão.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Ponto de partida sugerido, não stack obrigatória. Apresentar diagrama de contexto, componentes principais, fluxo de dados e implantação. Um monólito modular pode atender ao MVP. Não exigir microserviços. Autenticação é necessária quando o produto apresenta contas ou dados restritos. Camadas transversais: testes, logs, configuração e gestão de segredos.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Aplicar apenas o que fizer sentido ao produto. Para RAG, avaliar busca e geração separadamente. Para agentes, verificar o estado final. Um sistema multiagente precisa de contratos de comunicação e comparação com uma alternativa simples. MCP e skills são opções para integração e reutilização, não itens obrigatórios em todo MVP.</a:t>
            </a:r>
          </a:p>
          <a:p>
            <a:pPr marL="0" lvl="0" indent="0" algn="l">
              <a:spcBef>
                <a:spcPts val="0"/>
              </a:spcBef>
              <a:spcAft>
                <a:spcPts val="0"/>
              </a:spcAft>
              <a:buNone/>
            </a:pPr>
            <a:endParaRPr/>
          </a:p>
          <a:p>
            <a:pPr marL="0" lvl="0" indent="0" algn="l">
              <a:spcBef>
                <a:spcPts val="0"/>
              </a:spcBef>
              <a:spcAft>
                <a:spcPts val="0"/>
              </a:spcAft>
              <a:buNone/>
            </a:pPr>
            <a:r>
              <a:t>Fontes:</a:t>
            </a:r>
          </a:p>
          <a:p>
            <a:pPr marL="0" lvl="0" indent="0" algn="l">
              <a:spcBef>
                <a:spcPts val="0"/>
              </a:spcBef>
              <a:spcAft>
                <a:spcPts val="0"/>
              </a:spcAft>
              <a:buNone/>
            </a:pPr>
            <a:r>
              <a:t>https://qdrant.tech/documentation/tutorials-basics/reranking-hybrid-search/</a:t>
            </a:r>
          </a:p>
          <a:p>
            <a:pPr marL="0" lvl="0" indent="0" algn="l">
              <a:spcBef>
                <a:spcPts val="0"/>
              </a:spcBef>
              <a:spcAft>
                <a:spcPts val="0"/>
              </a:spcAft>
              <a:buNone/>
            </a:pPr>
            <a:r>
              <a:t>https://www.anthropic.com/engineering/building-effective-agents</a:t>
            </a:r>
          </a:p>
          <a:p>
            <a:pPr marL="0" lvl="0" indent="0" algn="l">
              <a:spcBef>
                <a:spcPts val="0"/>
              </a:spcBef>
              <a:spcAft>
                <a:spcPts val="0"/>
              </a:spcAft>
              <a:buNone/>
            </a:pPr>
            <a:r>
              <a:t>https://www.anthropic.com/engineering/multi-agent-research-system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Os alunos devem demonstrar um cenário de acesso indevido bloqueado quando houver perfis de usuário, ou explicar por que o app é público e sem dados restritos. Usar dados sintéticos no projeto sempre que possível. Incluir revisão de dependências e teste de injeção de prompt quando aplicável. As práticas são requisitos educacionais e não uma certificação de conformidade.</a:t>
            </a:r>
          </a:p>
          <a:p>
            <a:endParaRPr/>
          </a:p>
          <a:p>
            <a:r>
              <a:t>Fontes:</a:t>
            </a:r>
          </a:p>
          <a:p>
            <a:r>
              <a:t>https://modelcontextprotocol.io/docs/2026-07-28/tutorials/security/security_best_practices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Evidência mínima proposta: testes automatizados dos critérios críticos, pelo menos um teste E2E da jornada, integração com persistência e falhas externas simuladas. Cobertura numérica não substitui qualidade dos casos. Separar testes com mocks dos que exercitam a integração real. Registrar ambiente, versão e resultado.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Os 15 casos são uma exigência didática proposta, não um tamanho suficiente para validar produção comercial. Incluir pelo menos cinco casos de falha ou adversariais. Separar uma parte para avaliação final, sem ajustar o sistema diretamente a ela. Comparar com baseline e repetir casos críticos. Se usar juiz por LLM, realizar conferência humana e declarar limitações.</a:t>
            </a:r>
          </a:p>
          <a:p>
            <a:endParaRPr/>
          </a:p>
          <a:p>
            <a:r>
              <a:t>Fontes:</a:t>
            </a:r>
          </a:p>
          <a:p>
            <a:r>
              <a:t>https://www.anthropic.com/engineering/demystifying-evals-for-ai-agents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Proposta de fluxo: issue, branch curta, PR, revisão por colega, CI, merge, release e deploy. Configurar pipeline com lint, testes e build. Registrar falhas e correções. O deploy pode exigir aprovação manual. Guardar segredos no mecanismo apropriado da plataforma e separar ambientes. Exemplos de ferramenta: GitHub Actions ou equivalente.</a:t>
            </a:r>
          </a:p>
          <a:p>
            <a:pPr marL="0" lvl="0" indent="0" algn="l">
              <a:spcBef>
                <a:spcPts val="0"/>
              </a:spcBef>
              <a:spcAft>
                <a:spcPts val="0"/>
              </a:spcAft>
              <a:buNone/>
            </a:pPr>
            <a:endParaRPr/>
          </a:p>
          <a:p>
            <a:pPr marL="0" lvl="0" indent="0" algn="l">
              <a:spcBef>
                <a:spcPts val="0"/>
              </a:spcBef>
              <a:spcAft>
                <a:spcPts val="0"/>
              </a:spcAft>
              <a:buNone/>
            </a:pPr>
            <a:r>
              <a:t>Fontes:</a:t>
            </a:r>
          </a:p>
          <a:p>
            <a:pPr marL="0" lvl="0" indent="0" algn="l">
              <a:spcBef>
                <a:spcPts val="0"/>
              </a:spcBef>
              <a:spcAft>
                <a:spcPts val="0"/>
              </a:spcAft>
              <a:buNone/>
            </a:pPr>
            <a:r>
              <a:t>https://docs.github.com/en/actions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Proposta: manter a aplicação acessível até a avaliação final e por sete dias após, salvo acordo diferente com o professor. Definir teto de gasto e responsável pela infraestrutura. Produção educacional pode ter acesso restrito e dados sintéticos. Um vídeo de contingência ajuda na apresentação, mas não substitui a publicação. Não é necessário domínio pago.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Kubernetes é opcional nesta proposta de 20 horas e Python básico. Pode virar requisito se o professor disponibilizar cluster, roteiro e carga de laboratório adicional. Cluster local comprova o exercício de orquestração, mas não substitui URL publicada para o PO. Avaliar qualidade técnica dentro do critério de operação, sem bônus por complexidade. Explicar diferenças: readiness controla aptidão para receber tráfego e liveness verifica necessidade de reinício. Configuração incorreta pode causar falhas.</a:t>
            </a:r>
          </a:p>
          <a:p>
            <a:pPr marL="0" lvl="0" indent="0" algn="l">
              <a:spcBef>
                <a:spcPts val="0"/>
              </a:spcBef>
              <a:spcAft>
                <a:spcPts val="0"/>
              </a:spcAft>
              <a:buNone/>
            </a:pPr>
            <a:endParaRPr/>
          </a:p>
          <a:p>
            <a:pPr marL="0" lvl="0" indent="0" algn="l">
              <a:spcBef>
                <a:spcPts val="0"/>
              </a:spcBef>
              <a:spcAft>
                <a:spcPts val="0"/>
              </a:spcAft>
              <a:buNone/>
            </a:pPr>
            <a:r>
              <a:t>Fontes:</a:t>
            </a:r>
          </a:p>
          <a:p>
            <a:pPr marL="0" lvl="0" indent="0" algn="l">
              <a:spcBef>
                <a:spcPts val="0"/>
              </a:spcBef>
              <a:spcAft>
                <a:spcPts val="0"/>
              </a:spcAft>
              <a:buNone/>
            </a:pPr>
            <a:r>
              <a:t>https://kubernetes.io/docs/tasks/configure-pod-container/configure-liveness-readiness-probes/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Pedir uma demonstração controlada: interromper uma dependência ou usar uma resposta de erro simulada, observar os logs e recuperar o fluxo. O runbook deve indicar onde consultar logs, como reiniciar ou reverter e quem é responsável. Documentar custos medidos e uma estimativa de uso com premissas explícitas.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Proposta de checklist educacional. Um item incompleto não deve aparecer como concluído. O feedback do PO pode gerar novos itens sem alterar retrospectivamente a evidência. A Sprint Review não é a única oportunidade de liberar valor. O aceite de uma funcionalidade não elimina pendências de testes ou documentação.</a:t>
            </a:r>
          </a:p>
          <a:p>
            <a:pPr marL="0" lvl="0" indent="0" algn="l">
              <a:spcBef>
                <a:spcPts val="0"/>
              </a:spcBef>
              <a:spcAft>
                <a:spcPts val="0"/>
              </a:spcAft>
              <a:buNone/>
            </a:pPr>
            <a:endParaRPr/>
          </a:p>
          <a:p>
            <a:pPr marL="0" lvl="0" indent="0" algn="l">
              <a:spcBef>
                <a:spcPts val="0"/>
              </a:spcBef>
              <a:spcAft>
                <a:spcPts val="0"/>
              </a:spcAft>
              <a:buNone/>
            </a:pPr>
            <a:r>
              <a:t>Fontes:</a:t>
            </a:r>
          </a:p>
          <a:p>
            <a:pPr marL="0" lvl="0" indent="0" algn="l">
              <a:spcBef>
                <a:spcPts val="0"/>
              </a:spcBef>
              <a:spcAft>
                <a:spcPts val="0"/>
              </a:spcAft>
              <a:buNone/>
            </a:pPr>
            <a:r>
              <a:t>https://scrumguides.org/scrum-guide.html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Exemplo: US-07 consulta de prazo, SPEC-07, ADR-03 escolha de recuperação, PROMPT-012, PR-21, TEST-09 e release v0.3. Esses identificadores são ilustrativos. O essencial é conseguir seguir o caminho de uma necessidade até o comportamento publicado. Registrar também mudanças de direção, com data e justificativa.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Proposta de apresentação: dez minutos de demonstração por grupo, com problema, fluxo real, papel da IA, evidências e uma falha tratada. Acrescentar perguntas individuais em agenda própria. Com muitos grupos, usar estações ou sessões adicionais. Entregar acesso sem publicar senhas no repositório. Registro em vídeo é contingência.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buNone/>
              <a:defRPr sz="6000"/>
            </a:lvl1pPr>
          </a:lstStyle>
          <a:p>
            <a:r>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213811"/>
            <a:ext cx="2595934" cy="3780589"/>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idx="12"/>
          </p:nvPr>
        </p:nvSpPr>
        <p:spPr>
          <a:xfrm>
            <a:off x="3334966"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2213811"/>
            <a:ext cx="2595934" cy="3780589"/>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idx="14"/>
          </p:nvPr>
        </p:nvSpPr>
        <p:spPr>
          <a:xfrm>
            <a:off x="9205679"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defTabSz="914400">
        <a:lnSpc>
          <a:spcPct val="90000"/>
        </a:lnSpc>
        <a:spcBef>
          <a:spcPct val="0"/>
        </a:spcBef>
        <a:buNone/>
        <a:defRPr sz="29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riginal-4">
            <a:extLst>
              <a:ext uri="{FF2B5EF4-FFF2-40B4-BE49-F238E27FC236}">
                <a16:creationId xmlns:a16="http://schemas.microsoft.com/office/drawing/2014/main" id="{C47CD47D-0812-5F5E-8AA0-B4316F994F47}"/>
              </a:ext>
            </a:extLst>
          </p:cNvPr>
          <p:cNvSpPr>
            <a:spLocks noGrp="1"/>
          </p:cNvSpPr>
          <p:nvPr>
            <p:ph type="ctrTitle"/>
          </p:nvPr>
        </p:nvSpPr>
        <p:spPr>
          <a:xfrm>
            <a:off x="415733" y="1907316"/>
            <a:ext cx="7174888" cy="2491490"/>
          </a:xfrm>
        </p:spPr>
        <p:txBody>
          <a:bodyPr lIns="0" tIns="0" rIns="0" bIns="0" anchor="t">
            <a:noAutofit/>
          </a:bodyPr>
          <a:lstStyle/>
          <a:p>
            <a:pPr marL="0" indent="0">
              <a:buNone/>
              <a:defRPr sz="4575">
                <a:solidFill>
                  <a:srgbClr val="FFFFFF"/>
                </a:solidFill>
                <a:latin typeface="Helvetica Neue"/>
                <a:ea typeface="Helvetica Neue"/>
                <a:cs typeface="Helvetica Neue"/>
              </a:defRPr>
            </a:pPr>
            <a:r>
              <a:rPr sz="4575">
                <a:solidFill>
                  <a:srgbClr val="FFFFFF"/>
                </a:solidFill>
                <a:latin typeface="Helvetica Neue"/>
                <a:ea typeface="Helvetica Neue"/>
                <a:cs typeface="Helvetica Neue"/>
              </a:rPr>
              <a:t>Sistemas inteligentes
aplicados</a:t>
            </a:r>
          </a:p>
        </p:txBody>
      </p:sp>
      <p:pic>
        <p:nvPicPr>
          <p:cNvPr id="8" name="original-7"/>
          <p:cNvPicPr>
            <a:picLocks noChangeAspect="1"/>
          </p:cNvPicPr>
          <p:nvPr/>
        </p:nvPicPr>
        <p:blipFill>
          <a:blip r:embed="rId3"/>
          <a:srcRect l="3052" r="3052"/>
          <a:stretch>
            <a:fillRect/>
          </a:stretch>
        </p:blipFill>
        <p:spPr>
          <a:xfrm>
            <a:off x="7899094" y="0"/>
            <a:ext cx="4292906" cy="6858000"/>
          </a:xfrm>
          <a:prstGeom prst="rect">
            <a:avLst/>
          </a:prstGeom>
        </p:spPr>
      </p:pic>
    </p:spTree>
    <p:extLst>
      <p:ext uri="{BB962C8B-B14F-4D97-AF65-F5344CB8AC3E}">
        <p14:creationId xmlns:p14="http://schemas.microsoft.com/office/powerpoint/2010/main" val="3258783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riginal-5">
            <a:extLst>
              <a:ext uri="{FF2B5EF4-FFF2-40B4-BE49-F238E27FC236}">
                <a16:creationId xmlns:a16="http://schemas.microsoft.com/office/drawing/2014/main" id="{D2FC4FC7-396D-BE8D-1F0E-C849A74CA5DD}"/>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B3BD1300-E71C-732F-134B-B7EE0492A9B7}"/>
              </a:ext>
            </a:extLst>
          </p:cNvPr>
          <p:cNvSpPr>
            <a:spLocks noGrp="1"/>
          </p:cNvSpPr>
          <p:nvPr>
            <p:ph type="sldNum" idx="4"/>
          </p:nvPr>
        </p:nvSpPr>
        <p:spPr>
          <a:xfrm>
            <a:off x="11279332" y="6279294"/>
            <a:ext cx="518968" cy="24124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3</a:t>
            </a:r>
          </a:p>
        </p:txBody>
      </p:sp>
      <p:sp>
        <p:nvSpPr>
          <p:cNvPr id="3" name="original-3">
            <a:extLst>
              <a:ext uri="{FF2B5EF4-FFF2-40B4-BE49-F238E27FC236}">
                <a16:creationId xmlns:a16="http://schemas.microsoft.com/office/drawing/2014/main" id="{FC59BB80-DF6A-0532-F91A-4A78B8E5820E}"/>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Conteúdos previstos: aulas 1 a 5</a:t>
            </a:r>
          </a:p>
        </p:txBody>
      </p:sp>
      <p:graphicFrame>
        <p:nvGraphicFramePr>
          <p:cNvPr id="8" name="original-6"/>
          <p:cNvGraphicFramePr/>
          <p:nvPr>
            <p:extLst>
              <p:ext uri="{D42A27DB-BD31-4B8C-83A1-F6EECF244321}">
                <p14:modId xmlns:p14="http://schemas.microsoft.com/office/powerpoint/2010/main" val="2560363407"/>
              </p:ext>
            </p:extLst>
          </p:nvPr>
        </p:nvGraphicFramePr>
        <p:xfrm>
          <a:off x="393700" y="2080009"/>
          <a:ext cx="11404600" cy="3914388"/>
        </p:xfrm>
        <a:graphic>
          <a:graphicData uri="http://schemas.openxmlformats.org/drawingml/2006/table">
            <a:tbl>
              <a:tblPr firstRow="1" bandRow="1">
                <a:tableStyleId>{5C22544A-7EE6-4342-B048-85BDC9FD1C3A}</a:tableStyleId>
              </a:tblPr>
              <a:tblGrid>
                <a:gridCol w="878509">
                  <a:extLst>
                    <a:ext uri="{9D8B030D-6E8A-4147-A177-3AD203B41FA5}">
                      <a16:colId xmlns:a16="http://schemas.microsoft.com/office/drawing/2014/main" val="20000"/>
                    </a:ext>
                  </a:extLst>
                </a:gridCol>
                <a:gridCol w="10526091">
                  <a:extLst>
                    <a:ext uri="{9D8B030D-6E8A-4147-A177-3AD203B41FA5}">
                      <a16:colId xmlns:a16="http://schemas.microsoft.com/office/drawing/2014/main" val="20001"/>
                    </a:ext>
                  </a:extLst>
                </a:gridCol>
              </a:tblGrid>
              <a:tr h="652398">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01</a:t>
                      </a:r>
                    </a:p>
                  </a:txBody>
                  <a:tcPr marL="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Sistemas inteligentes, LLMs e contexto</a:t>
                      </a:r>
                    </a:p>
                  </a:txBody>
                  <a:tcPr marL="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52398">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02</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Specs, critérios de aceitação e SDD</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52398">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03</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RAG com respostas fundamentadas</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52398">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04</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Busca híbrida e qualidade do RAG</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52398">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05</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Agentes, ferramentas e memória</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52398">
                <a:tc>
                  <a:txBody>
                    <a:bodyPr/>
                    <a:lstStyle/>
                    <a:p>
                      <a:pPr marL="0" marR="0" lvl="0" indent="0" algn="l" defTabSz="914400">
                        <a:lnSpc>
                          <a:spcPct val="100000"/>
                        </a:lnSpc>
                        <a:spcBef>
                          <a:spcPts val="0"/>
                        </a:spcBef>
                        <a:spcAft>
                          <a:spcPts val="0"/>
                        </a:spcAft>
                        <a:buClrTx/>
                        <a:buSzTx/>
                        <a:buFontTx/>
                        <a:buNone/>
                      </a:pPr>
                      <a:endParaRP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endParaRPr sz="1800" b="0" i="0" u="none" cap="none" spc="0" dirty="0">
                        <a:ln>
                          <a:noFill/>
                        </a:ln>
                        <a:solidFill>
                          <a:srgbClr val="FFFFFF"/>
                        </a:solidFill>
                        <a:latin typeface="Helvetica Neue"/>
                        <a:ea typeface="Helvetica Neue"/>
                        <a:cs typeface="Helvetica Neue"/>
                      </a:endParaRP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15877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riginal-5">
            <a:extLst>
              <a:ext uri="{FF2B5EF4-FFF2-40B4-BE49-F238E27FC236}">
                <a16:creationId xmlns:a16="http://schemas.microsoft.com/office/drawing/2014/main" id="{D2FC4FC7-396D-BE8D-1F0E-C849A74CA5DD}"/>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B3BD1300-E71C-732F-134B-B7EE0492A9B7}"/>
              </a:ext>
            </a:extLst>
          </p:cNvPr>
          <p:cNvSpPr>
            <a:spLocks noGrp="1"/>
          </p:cNvSpPr>
          <p:nvPr>
            <p:ph type="sldNum" idx="4"/>
          </p:nvPr>
        </p:nvSpPr>
        <p:spPr>
          <a:xfrm>
            <a:off x="11279332" y="6279294"/>
            <a:ext cx="518968" cy="24124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4</a:t>
            </a:r>
          </a:p>
        </p:txBody>
      </p:sp>
      <p:sp>
        <p:nvSpPr>
          <p:cNvPr id="3" name="original-3">
            <a:extLst>
              <a:ext uri="{FF2B5EF4-FFF2-40B4-BE49-F238E27FC236}">
                <a16:creationId xmlns:a16="http://schemas.microsoft.com/office/drawing/2014/main" id="{FC59BB80-DF6A-0532-F91A-4A78B8E5820E}"/>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Conteúdos previstos: aulas 6 a 10</a:t>
            </a:r>
          </a:p>
        </p:txBody>
      </p:sp>
      <p:graphicFrame>
        <p:nvGraphicFramePr>
          <p:cNvPr id="8" name="original-6"/>
          <p:cNvGraphicFramePr/>
          <p:nvPr>
            <p:extLst>
              <p:ext uri="{D42A27DB-BD31-4B8C-83A1-F6EECF244321}">
                <p14:modId xmlns:p14="http://schemas.microsoft.com/office/powerpoint/2010/main" val="1779569899"/>
              </p:ext>
            </p:extLst>
          </p:nvPr>
        </p:nvGraphicFramePr>
        <p:xfrm>
          <a:off x="393700" y="2080009"/>
          <a:ext cx="11404600" cy="3914388"/>
        </p:xfrm>
        <a:graphic>
          <a:graphicData uri="http://schemas.openxmlformats.org/drawingml/2006/table">
            <a:tbl>
              <a:tblPr firstRow="1" bandRow="1">
                <a:tableStyleId>{5C22544A-7EE6-4342-B048-85BDC9FD1C3A}</a:tableStyleId>
              </a:tblPr>
              <a:tblGrid>
                <a:gridCol w="878509">
                  <a:extLst>
                    <a:ext uri="{9D8B030D-6E8A-4147-A177-3AD203B41FA5}">
                      <a16:colId xmlns:a16="http://schemas.microsoft.com/office/drawing/2014/main" val="20000"/>
                    </a:ext>
                  </a:extLst>
                </a:gridCol>
                <a:gridCol w="10526091">
                  <a:extLst>
                    <a:ext uri="{9D8B030D-6E8A-4147-A177-3AD203B41FA5}">
                      <a16:colId xmlns:a16="http://schemas.microsoft.com/office/drawing/2014/main" val="20001"/>
                    </a:ext>
                  </a:extLst>
                </a:gridCol>
              </a:tblGrid>
              <a:tr h="652398">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06</a:t>
                      </a:r>
                    </a:p>
                  </a:txBody>
                  <a:tcPr marL="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MCP e integração com sistemas</a:t>
                      </a:r>
                    </a:p>
                  </a:txBody>
                  <a:tcPr marL="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52398">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07</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Agent Skills e procedimentos reutilizáveis</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52398">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08</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Sistemas multiagentes e visão de A2A</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52398">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09</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Evals, segurança e observabilidade</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52398">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10</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250" b="0" i="0" u="none" cap="none" spc="0">
                          <a:ln>
                            <a:noFill/>
                          </a:ln>
                          <a:solidFill>
                            <a:srgbClr val="FFFFFF"/>
                          </a:solidFill>
                          <a:latin typeface="Helvetica Neue"/>
                          <a:ea typeface="Helvetica Neue"/>
                          <a:cs typeface="Helvetica Neue"/>
                        </a:rPr>
                        <a:t>Demonstração e defesa dos projetos</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52398">
                <a:tc>
                  <a:txBody>
                    <a:bodyPr/>
                    <a:lstStyle/>
                    <a:p>
                      <a:pPr marL="0" marR="0" lvl="0" indent="0" algn="l" defTabSz="914400">
                        <a:lnSpc>
                          <a:spcPct val="100000"/>
                        </a:lnSpc>
                        <a:spcBef>
                          <a:spcPts val="0"/>
                        </a:spcBef>
                        <a:spcAft>
                          <a:spcPts val="0"/>
                        </a:spcAft>
                        <a:buClrTx/>
                        <a:buSzTx/>
                        <a:buFontTx/>
                        <a:buNone/>
                      </a:pPr>
                      <a:endParaRP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endParaRPr sz="1800" b="0" i="0" u="none" cap="none" spc="0" dirty="0">
                        <a:ln>
                          <a:noFill/>
                        </a:ln>
                        <a:solidFill>
                          <a:srgbClr val="FFFFFF"/>
                        </a:solidFill>
                        <a:latin typeface="Helvetica Neue"/>
                        <a:ea typeface="Helvetica Neue"/>
                        <a:cs typeface="Helvetica Neue"/>
                      </a:endParaRP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15877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riginal-6">
            <a:extLst>
              <a:ext uri="{FF2B5EF4-FFF2-40B4-BE49-F238E27FC236}">
                <a16:creationId xmlns:a16="http://schemas.microsoft.com/office/drawing/2014/main" id="{E79D819C-33DB-D779-0CC9-74786C7AA643}"/>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5</a:t>
            </a:r>
          </a:p>
        </p:txBody>
      </p:sp>
      <p:sp>
        <p:nvSpPr>
          <p:cNvPr id="3" name="original-3">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Como os conceitos se conectam</a:t>
            </a:r>
          </a:p>
        </p:txBody>
      </p:sp>
      <p:sp>
        <p:nvSpPr>
          <p:cNvPr id="4" name="original-10">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RAG</a:t>
            </a:r>
          </a:p>
          <a:p>
            <a:pPr marL="0" indent="0">
              <a:lnSpc>
                <a:spcPct val="115000"/>
              </a:lnSpc>
              <a:buNone/>
              <a:defRPr sz="1875">
                <a:solidFill>
                  <a:srgbClr val="FFFFFF"/>
                </a:solidFill>
                <a:latin typeface="Helvetica Neue"/>
                <a:ea typeface="Helvetica Neue"/>
                <a:cs typeface="Helvetica Neue"/>
              </a:defRPr>
            </a:pPr>
            <a:r>
              <a:rPr sz="1875"/>
              <a:t>Busca evidências nos dados para apoiar a resposta.</a:t>
            </a:r>
          </a:p>
        </p:txBody>
      </p:sp>
      <p:sp>
        <p:nvSpPr>
          <p:cNvPr id="5" name="original-11">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Agentes</a:t>
            </a:r>
          </a:p>
          <a:p>
            <a:pPr marL="0" indent="0">
              <a:lnSpc>
                <a:spcPct val="115000"/>
              </a:lnSpc>
              <a:buNone/>
              <a:defRPr sz="1875">
                <a:solidFill>
                  <a:srgbClr val="FFFFFF"/>
                </a:solidFill>
                <a:latin typeface="Helvetica Neue"/>
                <a:ea typeface="Helvetica Neue"/>
                <a:cs typeface="Helvetica Neue"/>
              </a:defRPr>
            </a:pPr>
            <a:r>
              <a:rPr sz="1875"/>
              <a:t>Escolhem passos e ferramentas dentro de limites definidos.</a:t>
            </a:r>
          </a:p>
        </p:txBody>
      </p:sp>
      <p:sp>
        <p:nvSpPr>
          <p:cNvPr id="6" name="original-4">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MCP e skills</a:t>
            </a:r>
          </a:p>
          <a:p>
            <a:pPr marL="0" indent="0">
              <a:lnSpc>
                <a:spcPct val="115000"/>
              </a:lnSpc>
              <a:buNone/>
              <a:defRPr sz="1875">
                <a:solidFill>
                  <a:srgbClr val="FFFFFF"/>
                </a:solidFill>
                <a:latin typeface="Helvetica Neue"/>
                <a:ea typeface="Helvetica Neue"/>
                <a:cs typeface="Helvetica Neue"/>
              </a:defRPr>
            </a:pPr>
            <a:r>
              <a:rPr sz="1875"/>
              <a:t>MCP conecta capacidades. Skills orientam procedimentos reutilizáveis.</a:t>
            </a:r>
          </a:p>
        </p:txBody>
      </p:sp>
      <p:sp>
        <p:nvSpPr>
          <p:cNvPr id="7" name="original-5">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Specs e evals</a:t>
            </a:r>
          </a:p>
          <a:p>
            <a:pPr marL="0" indent="0">
              <a:lnSpc>
                <a:spcPct val="115000"/>
              </a:lnSpc>
              <a:buNone/>
              <a:defRPr sz="1875">
                <a:solidFill>
                  <a:srgbClr val="FFFFFF"/>
                </a:solidFill>
                <a:latin typeface="Helvetica Neue"/>
                <a:ea typeface="Helvetica Neue"/>
                <a:cs typeface="Helvetica Neue"/>
              </a:defRPr>
            </a:pPr>
            <a:r>
              <a:rPr sz="1875"/>
              <a:t>Specs descrevem o esperado. Evals verificam o comportamento.</a:t>
            </a:r>
          </a:p>
        </p:txBody>
      </p:sp>
    </p:spTree>
    <p:extLst>
      <p:ext uri="{BB962C8B-B14F-4D97-AF65-F5344CB8AC3E}">
        <p14:creationId xmlns:p14="http://schemas.microsoft.com/office/powerpoint/2010/main" val="360145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riginal-3">
            <a:extLst>
              <a:ext uri="{FF2B5EF4-FFF2-40B4-BE49-F238E27FC236}">
                <a16:creationId xmlns:a16="http://schemas.microsoft.com/office/drawing/2014/main" id="{39EA4C82-C623-0196-4A95-876ADF5DEE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1BCBE750-7048-686D-1472-52C53362D6CD}"/>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6</a:t>
            </a:r>
          </a:p>
        </p:txBody>
      </p:sp>
      <p:sp>
        <p:nvSpPr>
          <p:cNvPr id="3" name="original-533">
            <a:extLst>
              <a:ext uri="{FF2B5EF4-FFF2-40B4-BE49-F238E27FC236}">
                <a16:creationId xmlns:a16="http://schemas.microsoft.com/office/drawing/2014/main" id="{1B5D55CD-1C17-7CD8-F26A-2DD65B067687}"/>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Escolha de IA com justificativa</a:t>
            </a:r>
          </a:p>
        </p:txBody>
      </p:sp>
      <p:sp>
        <p:nvSpPr>
          <p:cNvPr id="4" name="original-7">
            <a:extLst>
              <a:ext uri="{FF2B5EF4-FFF2-40B4-BE49-F238E27FC236}">
                <a16:creationId xmlns:a16="http://schemas.microsoft.com/office/drawing/2014/main" id="{3A923FEE-B8D2-CD3A-ABBD-21770B40AA24}"/>
              </a:ext>
            </a:extLst>
          </p:cNvPr>
          <p:cNvSpPr>
            <a:spLocks noGrp="1"/>
          </p:cNvSpPr>
          <p:nvPr/>
        </p:nvSpPr>
        <p:spPr>
          <a:xfrm>
            <a:off x="393700" y="2031999"/>
            <a:ext cx="5537200" cy="3534787"/>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a:t>Possibilidades</a:t>
            </a:r>
          </a:p>
          <a:p>
            <a:pPr marL="0" indent="0">
              <a:lnSpc>
                <a:spcPct val="115000"/>
              </a:lnSpc>
              <a:buNone/>
              <a:defRPr sz="2025">
                <a:solidFill>
                  <a:srgbClr val="FFFFFF"/>
                </a:solidFill>
                <a:latin typeface="Helvetica Neue"/>
                <a:ea typeface="Helvetica Neue"/>
                <a:cs typeface="Helvetica Neue"/>
              </a:defRPr>
            </a:pPr>
            <a:r>
              <a:rPr sz="2025"/>
              <a:t>LLM com RAG, classificação, recomendação, visão computacional ou previsão.
A IA deve resolver uma necessidade observável do usuário.</a:t>
            </a:r>
          </a:p>
        </p:txBody>
      </p:sp>
      <p:sp>
        <p:nvSpPr>
          <p:cNvPr id="5" name="original-8">
            <a:extLst>
              <a:ext uri="{FF2B5EF4-FFF2-40B4-BE49-F238E27FC236}">
                <a16:creationId xmlns:a16="http://schemas.microsoft.com/office/drawing/2014/main" id="{2EE8F343-A95F-2AAA-FE9E-A6C31E298DF7}"/>
              </a:ext>
            </a:extLst>
          </p:cNvPr>
          <p:cNvSpPr>
            <a:spLocks noGrp="1"/>
          </p:cNvSpPr>
          <p:nvPr/>
        </p:nvSpPr>
        <p:spPr>
          <a:xfrm>
            <a:off x="6256618" y="2031999"/>
            <a:ext cx="5537200" cy="3534787"/>
          </a:xfrm>
          <a:prstGeom prst="rect">
            <a:avLst/>
          </a:prstGeom>
        </p:spPr>
        <p:txBody>
          <a:bodyPr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a:t>Evidência esperada</a:t>
            </a:r>
          </a:p>
          <a:p>
            <a:pPr marL="0" indent="0">
              <a:lnSpc>
                <a:spcPct val="115000"/>
              </a:lnSpc>
              <a:buNone/>
              <a:defRPr sz="2025">
                <a:solidFill>
                  <a:srgbClr val="FFFFFF"/>
                </a:solidFill>
                <a:latin typeface="Helvetica Neue"/>
                <a:ea typeface="Helvetica Neue"/>
                <a:cs typeface="Helvetica Neue"/>
              </a:defRPr>
            </a:pPr>
            <a:r>
              <a:rPr sz="2025"/>
              <a:t>Uma solução de referência simples, casos de teste e comparação dos resultados.
Custo, qualidade e limitações orientam a escolha.</a:t>
            </a:r>
          </a:p>
        </p:txBody>
      </p:sp>
    </p:spTree>
    <p:extLst>
      <p:ext uri="{BB962C8B-B14F-4D97-AF65-F5344CB8AC3E}">
        <p14:creationId xmlns:p14="http://schemas.microsoft.com/office/powerpoint/2010/main" val="3667182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iginal-4">
            <a:extLst>
              <a:ext uri="{FF2B5EF4-FFF2-40B4-BE49-F238E27FC236}">
                <a16:creationId xmlns:a16="http://schemas.microsoft.com/office/drawing/2014/main" id="{8C44867F-CEA9-06EF-47ED-8F63A6DAE6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787BCE7D-BEA2-12A4-00CE-1447A3C11BCB}"/>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7</a:t>
            </a:r>
          </a:p>
        </p:txBody>
      </p:sp>
      <p:sp>
        <p:nvSpPr>
          <p:cNvPr id="3" name="original-533">
            <a:extLst>
              <a:ext uri="{FF2B5EF4-FFF2-40B4-BE49-F238E27FC236}">
                <a16:creationId xmlns:a16="http://schemas.microsoft.com/office/drawing/2014/main" id="{451E053B-8CD7-DAF7-BA60-B58D00D61D06}"/>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Projeto integrador: um web app em produção</a:t>
            </a:r>
          </a:p>
        </p:txBody>
      </p:sp>
      <p:sp>
        <p:nvSpPr>
          <p:cNvPr id="4" name="original-534">
            <a:extLst>
              <a:ext uri="{FF2B5EF4-FFF2-40B4-BE49-F238E27FC236}">
                <a16:creationId xmlns:a16="http://schemas.microsoft.com/office/drawing/2014/main" id="{92B9D060-8F6B-685E-C699-7CF3FDA228BA}"/>
              </a:ext>
            </a:extLst>
          </p:cNvPr>
          <p:cNvSpPr>
            <a:spLocks noGrp="1"/>
          </p:cNvSpPr>
          <p:nvPr>
            <p:ph idx="4294967295"/>
          </p:nvPr>
        </p:nvSpPr>
        <p:spPr>
          <a:xfrm>
            <a:off x="393700" y="1722438"/>
            <a:ext cx="5537200" cy="865187"/>
          </a:xfrm>
          <a:prstGeom prst="rect">
            <a:avLst/>
          </a:prstGeom>
        </p:spPr>
        <p:txBody>
          <a:bodyPr spcFirstLastPara="1" vert="horz" wrap="square" lIns="0" tIns="0" rIns="0" bIns="0" anchor="t">
            <a:noAutofit/>
          </a:bodyPr>
          <a:lstStyle/>
          <a:p>
            <a:pPr marL="0" indent="0">
              <a:buNone/>
              <a:defRPr sz="2325">
                <a:solidFill>
                  <a:srgbClr val="FFFFFF"/>
                </a:solidFill>
                <a:latin typeface="Helvetica Neue"/>
                <a:ea typeface="Helvetica Neue"/>
                <a:cs typeface="Helvetica Neue"/>
              </a:defRPr>
            </a:pPr>
            <a:r>
              <a:rPr sz="2325">
                <a:solidFill>
                  <a:srgbClr val="FFFFFF"/>
                </a:solidFill>
                <a:latin typeface="Helvetica Neue"/>
                <a:ea typeface="Helvetica Neue"/>
                <a:cs typeface="Helvetica Neue"/>
              </a:rPr>
              <a:t>Produto de escopo controlado</a:t>
            </a:r>
          </a:p>
        </p:txBody>
      </p:sp>
      <p:sp>
        <p:nvSpPr>
          <p:cNvPr id="5" name="original-2">
            <a:extLst>
              <a:ext uri="{FF2B5EF4-FFF2-40B4-BE49-F238E27FC236}">
                <a16:creationId xmlns:a16="http://schemas.microsoft.com/office/drawing/2014/main" id="{F1357382-F889-8A40-7C64-C4E276E66544}"/>
              </a:ext>
            </a:extLst>
          </p:cNvPr>
          <p:cNvSpPr>
            <a:spLocks noGrp="1"/>
          </p:cNvSpPr>
          <p:nvPr/>
        </p:nvSpPr>
        <p:spPr>
          <a:xfrm>
            <a:off x="7886700" y="2990317"/>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Interface utilizável</a:t>
            </a:r>
          </a:p>
        </p:txBody>
      </p:sp>
      <p:sp>
        <p:nvSpPr>
          <p:cNvPr id="6" name="original-3">
            <a:extLst>
              <a:ext uri="{FF2B5EF4-FFF2-40B4-BE49-F238E27FC236}">
                <a16:creationId xmlns:a16="http://schemas.microsoft.com/office/drawing/2014/main" id="{DECE1942-1885-9577-DF5F-685A8B1C7180}"/>
              </a:ext>
            </a:extLst>
          </p:cNvPr>
          <p:cNvSpPr>
            <a:spLocks noGrp="1"/>
          </p:cNvSpPr>
          <p:nvPr/>
        </p:nvSpPr>
        <p:spPr>
          <a:xfrm>
            <a:off x="7507725" y="3015150"/>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7" name="original-12">
            <a:extLst>
              <a:ext uri="{FF2B5EF4-FFF2-40B4-BE49-F238E27FC236}">
                <a16:creationId xmlns:a16="http://schemas.microsoft.com/office/drawing/2014/main" id="{70BD0609-EAC0-DFEC-8761-6C5A72DB268A}"/>
              </a:ext>
            </a:extLst>
          </p:cNvPr>
          <p:cNvSpPr>
            <a:spLocks noGrp="1"/>
          </p:cNvSpPr>
          <p:nvPr/>
        </p:nvSpPr>
        <p:spPr>
          <a:xfrm>
            <a:off x="393700" y="2990316"/>
            <a:ext cx="5537200" cy="2884636"/>
          </a:xfrm>
          <a:prstGeom prst="rect">
            <a:avLst/>
          </a:prstGeom>
          <a:noFill/>
        </p:spPr>
        <p:txBody>
          <a:bodyPr wrap="square" lIns="0" tIns="0" rIns="0" bIns="0" anchor="t">
            <a:noAutofit/>
          </a:bodyPr>
          <a:lstStyle/>
          <a:p>
            <a:pPr marL="0" indent="0">
              <a:buNone/>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Uma jornada completa que o usuário consiga executar.
O grupo negocia o MVP com o professor/PO e demonstra incrementos ao longo do projeto.</a:t>
            </a:r>
          </a:p>
        </p:txBody>
      </p:sp>
      <p:sp>
        <p:nvSpPr>
          <p:cNvPr id="8" name="original-16">
            <a:extLst>
              <a:ext uri="{FF2B5EF4-FFF2-40B4-BE49-F238E27FC236}">
                <a16:creationId xmlns:a16="http://schemas.microsoft.com/office/drawing/2014/main" id="{01B260BF-9264-3C70-DF2D-2E6EA83AC133}"/>
              </a:ext>
            </a:extLst>
          </p:cNvPr>
          <p:cNvSpPr>
            <a:spLocks noGrp="1"/>
          </p:cNvSpPr>
          <p:nvPr/>
        </p:nvSpPr>
        <p:spPr>
          <a:xfrm>
            <a:off x="7886700" y="3599916"/>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Backend e persistência</a:t>
            </a:r>
          </a:p>
        </p:txBody>
      </p:sp>
      <p:sp>
        <p:nvSpPr>
          <p:cNvPr id="9" name="original-17">
            <a:extLst>
              <a:ext uri="{FF2B5EF4-FFF2-40B4-BE49-F238E27FC236}">
                <a16:creationId xmlns:a16="http://schemas.microsoft.com/office/drawing/2014/main" id="{A6CF1E9A-BF4C-E7B2-D556-8AB5FB2B65F0}"/>
              </a:ext>
            </a:extLst>
          </p:cNvPr>
          <p:cNvSpPr>
            <a:spLocks noGrp="1"/>
          </p:cNvSpPr>
          <p:nvPr/>
        </p:nvSpPr>
        <p:spPr>
          <a:xfrm>
            <a:off x="7507725" y="3624749"/>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0" name="original-18">
            <a:extLst>
              <a:ext uri="{FF2B5EF4-FFF2-40B4-BE49-F238E27FC236}">
                <a16:creationId xmlns:a16="http://schemas.microsoft.com/office/drawing/2014/main" id="{FE696631-18B5-8115-E5AD-ACCFD6221418}"/>
              </a:ext>
            </a:extLst>
          </p:cNvPr>
          <p:cNvSpPr>
            <a:spLocks noGrp="1"/>
          </p:cNvSpPr>
          <p:nvPr/>
        </p:nvSpPr>
        <p:spPr>
          <a:xfrm>
            <a:off x="7886700" y="4214765"/>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IA no fluxo principal</a:t>
            </a:r>
          </a:p>
        </p:txBody>
      </p:sp>
      <p:sp>
        <p:nvSpPr>
          <p:cNvPr id="11" name="original-19">
            <a:extLst>
              <a:ext uri="{FF2B5EF4-FFF2-40B4-BE49-F238E27FC236}">
                <a16:creationId xmlns:a16="http://schemas.microsoft.com/office/drawing/2014/main" id="{6ECBDA1E-6C7D-6B0F-A430-DF8A0965C58D}"/>
              </a:ext>
            </a:extLst>
          </p:cNvPr>
          <p:cNvSpPr>
            <a:spLocks noGrp="1"/>
          </p:cNvSpPr>
          <p:nvPr/>
        </p:nvSpPr>
        <p:spPr>
          <a:xfrm>
            <a:off x="7507725" y="4239598"/>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2" name="original-20">
            <a:extLst>
              <a:ext uri="{FF2B5EF4-FFF2-40B4-BE49-F238E27FC236}">
                <a16:creationId xmlns:a16="http://schemas.microsoft.com/office/drawing/2014/main" id="{9FC4B09F-4593-687E-52A3-7E683F7FE9E4}"/>
              </a:ext>
            </a:extLst>
          </p:cNvPr>
          <p:cNvSpPr>
            <a:spLocks noGrp="1"/>
          </p:cNvSpPr>
          <p:nvPr/>
        </p:nvSpPr>
        <p:spPr>
          <a:xfrm>
            <a:off x="7886700" y="48243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Testes e documentação</a:t>
            </a:r>
          </a:p>
        </p:txBody>
      </p:sp>
      <p:sp>
        <p:nvSpPr>
          <p:cNvPr id="13" name="original-21">
            <a:extLst>
              <a:ext uri="{FF2B5EF4-FFF2-40B4-BE49-F238E27FC236}">
                <a16:creationId xmlns:a16="http://schemas.microsoft.com/office/drawing/2014/main" id="{006032E6-DDFC-FA22-4D08-3BFFC755BB8D}"/>
              </a:ext>
            </a:extLst>
          </p:cNvPr>
          <p:cNvSpPr>
            <a:spLocks noGrp="1"/>
          </p:cNvSpPr>
          <p:nvPr/>
        </p:nvSpPr>
        <p:spPr>
          <a:xfrm>
            <a:off x="7507725" y="48491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4" name="original-23">
            <a:extLst>
              <a:ext uri="{FF2B5EF4-FFF2-40B4-BE49-F238E27FC236}">
                <a16:creationId xmlns:a16="http://schemas.microsoft.com/office/drawing/2014/main" id="{EDAB1F81-E12B-29DC-E09F-27F129E42AE8}"/>
              </a:ext>
            </a:extLst>
          </p:cNvPr>
          <p:cNvSpPr>
            <a:spLocks noGrp="1"/>
          </p:cNvSpPr>
          <p:nvPr/>
        </p:nvSpPr>
        <p:spPr>
          <a:xfrm>
            <a:off x="7886700" y="54466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URL publicada e operação</a:t>
            </a:r>
          </a:p>
        </p:txBody>
      </p:sp>
      <p:sp>
        <p:nvSpPr>
          <p:cNvPr id="15" name="original-24">
            <a:extLst>
              <a:ext uri="{FF2B5EF4-FFF2-40B4-BE49-F238E27FC236}">
                <a16:creationId xmlns:a16="http://schemas.microsoft.com/office/drawing/2014/main" id="{A052337A-4696-49F7-A089-E21DA71AD3B2}"/>
              </a:ext>
            </a:extLst>
          </p:cNvPr>
          <p:cNvSpPr>
            <a:spLocks noGrp="1"/>
          </p:cNvSpPr>
          <p:nvPr/>
        </p:nvSpPr>
        <p:spPr>
          <a:xfrm>
            <a:off x="7507725" y="54714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riginal-3">
            <a:extLst>
              <a:ext uri="{FF2B5EF4-FFF2-40B4-BE49-F238E27FC236}">
                <a16:creationId xmlns:a16="http://schemas.microsoft.com/office/drawing/2014/main" id="{39EA4C82-C623-0196-4A95-876ADF5DEE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1BCBE750-7048-686D-1472-52C53362D6CD}"/>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9</a:t>
            </a:r>
          </a:p>
        </p:txBody>
      </p:sp>
      <p:sp>
        <p:nvSpPr>
          <p:cNvPr id="3" name="original-533">
            <a:extLst>
              <a:ext uri="{FF2B5EF4-FFF2-40B4-BE49-F238E27FC236}">
                <a16:creationId xmlns:a16="http://schemas.microsoft.com/office/drawing/2014/main" id="{1B5D55CD-1C17-7CD8-F26A-2DD65B067687}"/>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Professor como cliente e Product Owner</a:t>
            </a:r>
          </a:p>
        </p:txBody>
      </p:sp>
      <p:sp>
        <p:nvSpPr>
          <p:cNvPr id="4" name="original-7">
            <a:extLst>
              <a:ext uri="{FF2B5EF4-FFF2-40B4-BE49-F238E27FC236}">
                <a16:creationId xmlns:a16="http://schemas.microsoft.com/office/drawing/2014/main" id="{3A923FEE-B8D2-CD3A-ABBD-21770B40AA24}"/>
              </a:ext>
            </a:extLst>
          </p:cNvPr>
          <p:cNvSpPr>
            <a:spLocks noGrp="1"/>
          </p:cNvSpPr>
          <p:nvPr/>
        </p:nvSpPr>
        <p:spPr>
          <a:xfrm>
            <a:off x="393700" y="2031999"/>
            <a:ext cx="5537200" cy="3534787"/>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a:t>Professor / PO</a:t>
            </a:r>
          </a:p>
          <a:p>
            <a:pPr marL="0" indent="0">
              <a:lnSpc>
                <a:spcPct val="115000"/>
              </a:lnSpc>
              <a:buNone/>
              <a:defRPr sz="2025">
                <a:solidFill>
                  <a:srgbClr val="FFFFFF"/>
                </a:solidFill>
                <a:latin typeface="Helvetica Neue"/>
                <a:ea typeface="Helvetica Neue"/>
                <a:cs typeface="Helvetica Neue"/>
              </a:defRPr>
            </a:pPr>
            <a:r>
              <a:rPr sz="2025"/>
              <a:t>Define a visão do produto e ordena o backlog.
Esclarece requisitos e participa das reviews.
Decide prioridades com base no que o grupo demonstra.</a:t>
            </a:r>
          </a:p>
        </p:txBody>
      </p:sp>
      <p:sp>
        <p:nvSpPr>
          <p:cNvPr id="5" name="original-8">
            <a:extLst>
              <a:ext uri="{FF2B5EF4-FFF2-40B4-BE49-F238E27FC236}">
                <a16:creationId xmlns:a16="http://schemas.microsoft.com/office/drawing/2014/main" id="{2EE8F343-A95F-2AAA-FE9E-A6C31E298DF7}"/>
              </a:ext>
            </a:extLst>
          </p:cNvPr>
          <p:cNvSpPr>
            <a:spLocks noGrp="1"/>
          </p:cNvSpPr>
          <p:nvPr/>
        </p:nvSpPr>
        <p:spPr>
          <a:xfrm>
            <a:off x="6256618" y="2031999"/>
            <a:ext cx="5537200" cy="3534787"/>
          </a:xfrm>
          <a:prstGeom prst="rect">
            <a:avLst/>
          </a:prstGeom>
        </p:spPr>
        <p:txBody>
          <a:bodyPr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a:t>Grupo de estudantes</a:t>
            </a:r>
          </a:p>
          <a:p>
            <a:pPr marL="0" indent="0">
              <a:lnSpc>
                <a:spcPct val="115000"/>
              </a:lnSpc>
              <a:buNone/>
              <a:defRPr sz="2025">
                <a:solidFill>
                  <a:srgbClr val="FFFFFF"/>
                </a:solidFill>
                <a:latin typeface="Helvetica Neue"/>
                <a:ea typeface="Helvetica Neue"/>
                <a:cs typeface="Helvetica Neue"/>
              </a:defRPr>
            </a:pPr>
            <a:r>
              <a:rPr sz="2025"/>
              <a:t>Planeja e executa o trabalho técnico.
Designa um Scrum Master para facilitar o processo.
Assume qualidade, documentação e entrega.</a:t>
            </a:r>
          </a:p>
        </p:txBody>
      </p:sp>
    </p:spTree>
    <p:extLst>
      <p:ext uri="{BB962C8B-B14F-4D97-AF65-F5344CB8AC3E}">
        <p14:creationId xmlns:p14="http://schemas.microsoft.com/office/powerpoint/2010/main" val="3667182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riginal-6">
            <a:extLst>
              <a:ext uri="{FF2B5EF4-FFF2-40B4-BE49-F238E27FC236}">
                <a16:creationId xmlns:a16="http://schemas.microsoft.com/office/drawing/2014/main" id="{E79D819C-33DB-D779-0CC9-74786C7AA643}"/>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10</a:t>
            </a:r>
          </a:p>
        </p:txBody>
      </p:sp>
      <p:sp>
        <p:nvSpPr>
          <p:cNvPr id="3" name="original-3">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Lean Inception adaptada ao curso</a:t>
            </a:r>
          </a:p>
        </p:txBody>
      </p:sp>
      <p:sp>
        <p:nvSpPr>
          <p:cNvPr id="4" name="original-10">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Visão e problema</a:t>
            </a:r>
          </a:p>
          <a:p>
            <a:pPr marL="0" indent="0">
              <a:lnSpc>
                <a:spcPct val="115000"/>
              </a:lnSpc>
              <a:buNone/>
              <a:defRPr sz="1875">
                <a:solidFill>
                  <a:srgbClr val="FFFFFF"/>
                </a:solidFill>
                <a:latin typeface="Helvetica Neue"/>
                <a:ea typeface="Helvetica Neue"/>
                <a:cs typeface="Helvetica Neue"/>
              </a:defRPr>
            </a:pPr>
            <a:r>
              <a:rPr sz="1875"/>
              <a:t>Quem enfrenta o problema e qual resultado deseja?</a:t>
            </a:r>
          </a:p>
        </p:txBody>
      </p:sp>
      <p:sp>
        <p:nvSpPr>
          <p:cNvPr id="5" name="original-11">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Personas e jornada</a:t>
            </a:r>
          </a:p>
          <a:p>
            <a:pPr marL="0" indent="0">
              <a:lnSpc>
                <a:spcPct val="115000"/>
              </a:lnSpc>
              <a:buNone/>
              <a:defRPr sz="1875">
                <a:solidFill>
                  <a:srgbClr val="FFFFFF"/>
                </a:solidFill>
                <a:latin typeface="Helvetica Neue"/>
                <a:ea typeface="Helvetica Neue"/>
                <a:cs typeface="Helvetica Neue"/>
              </a:defRPr>
            </a:pPr>
            <a:r>
              <a:rPr sz="1875"/>
              <a:t>Quais etapas e dificuldades orientam o produto?</a:t>
            </a:r>
          </a:p>
        </p:txBody>
      </p:sp>
      <p:sp>
        <p:nvSpPr>
          <p:cNvPr id="6" name="original-4">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Funcionalidades e riscos</a:t>
            </a:r>
          </a:p>
          <a:p>
            <a:pPr marL="0" indent="0">
              <a:lnSpc>
                <a:spcPct val="115000"/>
              </a:lnSpc>
              <a:buNone/>
              <a:defRPr sz="1875">
                <a:solidFill>
                  <a:srgbClr val="FFFFFF"/>
                </a:solidFill>
                <a:latin typeface="Helvetica Neue"/>
                <a:ea typeface="Helvetica Neue"/>
                <a:cs typeface="Helvetica Neue"/>
              </a:defRPr>
            </a:pPr>
            <a:r>
              <a:rPr sz="1875"/>
              <a:t>O que tem valor, o que é viável e o que precisamos validar?</a:t>
            </a:r>
          </a:p>
        </p:txBody>
      </p:sp>
      <p:sp>
        <p:nvSpPr>
          <p:cNvPr id="7" name="original-5">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MVP e experimentos</a:t>
            </a:r>
          </a:p>
          <a:p>
            <a:pPr marL="0" indent="0">
              <a:lnSpc>
                <a:spcPct val="115000"/>
              </a:lnSpc>
              <a:buNone/>
              <a:defRPr sz="1875">
                <a:solidFill>
                  <a:srgbClr val="FFFFFF"/>
                </a:solidFill>
                <a:latin typeface="Helvetica Neue"/>
                <a:ea typeface="Helvetica Neue"/>
                <a:cs typeface="Helvetica Neue"/>
              </a:defRPr>
            </a:pPr>
            <a:r>
              <a:rPr sz="1875"/>
              <a:t>Qual entrega pequena permite aprender com usuários?</a:t>
            </a:r>
          </a:p>
        </p:txBody>
      </p:sp>
    </p:spTree>
    <p:extLst>
      <p:ext uri="{BB962C8B-B14F-4D97-AF65-F5344CB8AC3E}">
        <p14:creationId xmlns:p14="http://schemas.microsoft.com/office/powerpoint/2010/main" val="360145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riginal-6">
            <a:extLst>
              <a:ext uri="{FF2B5EF4-FFF2-40B4-BE49-F238E27FC236}">
                <a16:creationId xmlns:a16="http://schemas.microsoft.com/office/drawing/2014/main" id="{E79D819C-33DB-D779-0CC9-74786C7AA643}"/>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11</a:t>
            </a:r>
          </a:p>
        </p:txBody>
      </p:sp>
      <p:sp>
        <p:nvSpPr>
          <p:cNvPr id="3" name="original-3">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Acordo do MVP com o PO</a:t>
            </a:r>
          </a:p>
        </p:txBody>
      </p:sp>
      <p:sp>
        <p:nvSpPr>
          <p:cNvPr id="4" name="original-10">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Escopo incluído</a:t>
            </a:r>
          </a:p>
          <a:p>
            <a:pPr marL="0" indent="0">
              <a:lnSpc>
                <a:spcPct val="115000"/>
              </a:lnSpc>
              <a:buNone/>
              <a:defRPr sz="1875">
                <a:solidFill>
                  <a:srgbClr val="FFFFFF"/>
                </a:solidFill>
                <a:latin typeface="Helvetica Neue"/>
                <a:ea typeface="Helvetica Neue"/>
                <a:cs typeface="Helvetica Neue"/>
              </a:defRPr>
            </a:pPr>
            <a:r>
              <a:rPr sz="1875"/>
              <a:t>Uma persona, uma jornada principal e até três capacidades essenciais.</a:t>
            </a:r>
          </a:p>
        </p:txBody>
      </p:sp>
      <p:sp>
        <p:nvSpPr>
          <p:cNvPr id="5" name="original-11">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Escopo adiado</a:t>
            </a:r>
          </a:p>
          <a:p>
            <a:pPr marL="0" indent="0">
              <a:lnSpc>
                <a:spcPct val="115000"/>
              </a:lnSpc>
              <a:buNone/>
              <a:defRPr sz="1875">
                <a:solidFill>
                  <a:srgbClr val="FFFFFF"/>
                </a:solidFill>
                <a:latin typeface="Helvetica Neue"/>
                <a:ea typeface="Helvetica Neue"/>
                <a:cs typeface="Helvetica Neue"/>
              </a:defRPr>
            </a:pPr>
            <a:r>
              <a:rPr sz="1875"/>
              <a:t>Ideias para depois, com justificativa e registro no backlog.</a:t>
            </a:r>
          </a:p>
        </p:txBody>
      </p:sp>
      <p:sp>
        <p:nvSpPr>
          <p:cNvPr id="6" name="original-4">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Hipótese de valor</a:t>
            </a:r>
          </a:p>
          <a:p>
            <a:pPr marL="0" indent="0">
              <a:lnSpc>
                <a:spcPct val="115000"/>
              </a:lnSpc>
              <a:buNone/>
              <a:defRPr sz="1875">
                <a:solidFill>
                  <a:srgbClr val="FFFFFF"/>
                </a:solidFill>
                <a:latin typeface="Helvetica Neue"/>
                <a:ea typeface="Helvetica Neue"/>
                <a:cs typeface="Helvetica Neue"/>
              </a:defRPr>
            </a:pPr>
            <a:r>
              <a:rPr sz="1875"/>
              <a:t>Uma melhoria observável, com forma de medição definida.</a:t>
            </a:r>
          </a:p>
        </p:txBody>
      </p:sp>
      <p:sp>
        <p:nvSpPr>
          <p:cNvPr id="7" name="original-5">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Critérios de sucesso</a:t>
            </a:r>
          </a:p>
          <a:p>
            <a:pPr marL="0" indent="0">
              <a:lnSpc>
                <a:spcPct val="115000"/>
              </a:lnSpc>
              <a:buNone/>
              <a:defRPr sz="1875">
                <a:solidFill>
                  <a:srgbClr val="FFFFFF"/>
                </a:solidFill>
                <a:latin typeface="Helvetica Neue"/>
                <a:ea typeface="Helvetica Neue"/>
                <a:cs typeface="Helvetica Neue"/>
              </a:defRPr>
            </a:pPr>
            <a:r>
              <a:rPr sz="1875"/>
              <a:t>Comportamento esperado, dados de teste e limites de operação.</a:t>
            </a:r>
          </a:p>
        </p:txBody>
      </p:sp>
    </p:spTree>
    <p:extLst>
      <p:ext uri="{BB962C8B-B14F-4D97-AF65-F5344CB8AC3E}">
        <p14:creationId xmlns:p14="http://schemas.microsoft.com/office/powerpoint/2010/main" val="360145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riginal-6">
            <a:extLst>
              <a:ext uri="{FF2B5EF4-FFF2-40B4-BE49-F238E27FC236}">
                <a16:creationId xmlns:a16="http://schemas.microsoft.com/office/drawing/2014/main" id="{E79D819C-33DB-D779-0CC9-74786C7AA643}"/>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12</a:t>
            </a:r>
          </a:p>
        </p:txBody>
      </p:sp>
      <p:sp>
        <p:nvSpPr>
          <p:cNvPr id="3" name="original-3">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Scrum na rotina dos grupos</a:t>
            </a:r>
          </a:p>
        </p:txBody>
      </p:sp>
      <p:sp>
        <p:nvSpPr>
          <p:cNvPr id="4" name="original-10">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Sprint Planning</a:t>
            </a:r>
          </a:p>
          <a:p>
            <a:pPr marL="0" indent="0">
              <a:lnSpc>
                <a:spcPct val="115000"/>
              </a:lnSpc>
              <a:buNone/>
              <a:defRPr sz="1875">
                <a:solidFill>
                  <a:srgbClr val="FFFFFF"/>
                </a:solidFill>
                <a:latin typeface="Helvetica Neue"/>
                <a:ea typeface="Helvetica Neue"/>
                <a:cs typeface="Helvetica Neue"/>
              </a:defRPr>
            </a:pPr>
            <a:r>
              <a:rPr sz="1875"/>
              <a:t>Objetivo da sprint e seleção do trabalho pelo grupo.</a:t>
            </a:r>
          </a:p>
        </p:txBody>
      </p:sp>
      <p:sp>
        <p:nvSpPr>
          <p:cNvPr id="5" name="original-11">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Daily Scrum</a:t>
            </a:r>
          </a:p>
          <a:p>
            <a:pPr marL="0" indent="0">
              <a:lnSpc>
                <a:spcPct val="115000"/>
              </a:lnSpc>
              <a:buNone/>
              <a:defRPr sz="1875">
                <a:solidFill>
                  <a:srgbClr val="FFFFFF"/>
                </a:solidFill>
                <a:latin typeface="Helvetica Neue"/>
                <a:ea typeface="Helvetica Neue"/>
                <a:cs typeface="Helvetica Neue"/>
              </a:defRPr>
            </a:pPr>
            <a:r>
              <a:rPr sz="1875"/>
              <a:t>Até 15 minutos para inspecionar o avanço e ajustar o plano.</a:t>
            </a:r>
          </a:p>
        </p:txBody>
      </p:sp>
      <p:sp>
        <p:nvSpPr>
          <p:cNvPr id="6" name="original-4">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Sprint Review com o PO</a:t>
            </a:r>
          </a:p>
          <a:p>
            <a:pPr marL="0" indent="0">
              <a:lnSpc>
                <a:spcPct val="115000"/>
              </a:lnSpc>
              <a:buNone/>
              <a:defRPr sz="1875">
                <a:solidFill>
                  <a:srgbClr val="FFFFFF"/>
                </a:solidFill>
                <a:latin typeface="Helvetica Neue"/>
                <a:ea typeface="Helvetica Neue"/>
                <a:cs typeface="Helvetica Neue"/>
              </a:defRPr>
            </a:pPr>
            <a:r>
              <a:rPr sz="1875"/>
              <a:t>Produto em funcionamento, feedback e atualização do backlog.</a:t>
            </a:r>
          </a:p>
        </p:txBody>
      </p:sp>
      <p:sp>
        <p:nvSpPr>
          <p:cNvPr id="7" name="original-5">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Retrospectiva</a:t>
            </a:r>
          </a:p>
          <a:p>
            <a:pPr marL="0" indent="0">
              <a:lnSpc>
                <a:spcPct val="115000"/>
              </a:lnSpc>
              <a:buNone/>
              <a:defRPr sz="1875">
                <a:solidFill>
                  <a:srgbClr val="FFFFFF"/>
                </a:solidFill>
                <a:latin typeface="Helvetica Neue"/>
                <a:ea typeface="Helvetica Neue"/>
                <a:cs typeface="Helvetica Neue"/>
              </a:defRPr>
            </a:pPr>
            <a:r>
              <a:rPr sz="1875"/>
              <a:t>Uma melhoria concreta de processo para a próxima sprint.</a:t>
            </a:r>
          </a:p>
        </p:txBody>
      </p:sp>
    </p:spTree>
    <p:extLst>
      <p:ext uri="{BB962C8B-B14F-4D97-AF65-F5344CB8AC3E}">
        <p14:creationId xmlns:p14="http://schemas.microsoft.com/office/powerpoint/2010/main" val="360145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iginal-4">
            <a:extLst>
              <a:ext uri="{FF2B5EF4-FFF2-40B4-BE49-F238E27FC236}">
                <a16:creationId xmlns:a16="http://schemas.microsoft.com/office/drawing/2014/main" id="{8C44867F-CEA9-06EF-47ED-8F63A6DAE6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787BCE7D-BEA2-12A4-00CE-1447A3C11BCB}"/>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13</a:t>
            </a:r>
          </a:p>
        </p:txBody>
      </p:sp>
      <p:sp>
        <p:nvSpPr>
          <p:cNvPr id="3" name="original-533">
            <a:extLst>
              <a:ext uri="{FF2B5EF4-FFF2-40B4-BE49-F238E27FC236}">
                <a16:creationId xmlns:a16="http://schemas.microsoft.com/office/drawing/2014/main" id="{451E053B-8CD7-DAF7-BA60-B58D00D61D06}"/>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Reuniões de acompanhamento com o PO</a:t>
            </a:r>
          </a:p>
        </p:txBody>
      </p:sp>
      <p:sp>
        <p:nvSpPr>
          <p:cNvPr id="4" name="original-534">
            <a:extLst>
              <a:ext uri="{FF2B5EF4-FFF2-40B4-BE49-F238E27FC236}">
                <a16:creationId xmlns:a16="http://schemas.microsoft.com/office/drawing/2014/main" id="{92B9D060-8F6B-685E-C699-7CF3FDA228BA}"/>
              </a:ext>
            </a:extLst>
          </p:cNvPr>
          <p:cNvSpPr>
            <a:spLocks noGrp="1"/>
          </p:cNvSpPr>
          <p:nvPr>
            <p:ph idx="4294967295"/>
          </p:nvPr>
        </p:nvSpPr>
        <p:spPr>
          <a:xfrm>
            <a:off x="393700" y="1722438"/>
            <a:ext cx="5537200" cy="865187"/>
          </a:xfrm>
          <a:prstGeom prst="rect">
            <a:avLst/>
          </a:prstGeom>
        </p:spPr>
        <p:txBody>
          <a:bodyPr spcFirstLastPara="1" vert="horz" wrap="square" lIns="0" tIns="0" rIns="0" bIns="0" anchor="t">
            <a:noAutofit/>
          </a:bodyPr>
          <a:lstStyle/>
          <a:p>
            <a:pPr marL="0" indent="0">
              <a:buNone/>
              <a:defRPr sz="2325">
                <a:solidFill>
                  <a:srgbClr val="FFFFFF"/>
                </a:solidFill>
                <a:latin typeface="Helvetica Neue"/>
                <a:ea typeface="Helvetica Neue"/>
                <a:cs typeface="Helvetica Neue"/>
              </a:defRPr>
            </a:pPr>
            <a:r>
              <a:rPr sz="2325">
                <a:solidFill>
                  <a:srgbClr val="FFFFFF"/>
                </a:solidFill>
                <a:latin typeface="Helvetica Neue"/>
                <a:ea typeface="Helvetica Neue"/>
                <a:cs typeface="Helvetica Neue"/>
              </a:rPr>
              <a:t>Incrementos e decisões</a:t>
            </a:r>
          </a:p>
        </p:txBody>
      </p:sp>
      <p:sp>
        <p:nvSpPr>
          <p:cNvPr id="5" name="original-2">
            <a:extLst>
              <a:ext uri="{FF2B5EF4-FFF2-40B4-BE49-F238E27FC236}">
                <a16:creationId xmlns:a16="http://schemas.microsoft.com/office/drawing/2014/main" id="{F1357382-F889-8A40-7C64-C4E276E66544}"/>
              </a:ext>
            </a:extLst>
          </p:cNvPr>
          <p:cNvSpPr>
            <a:spLocks noGrp="1"/>
          </p:cNvSpPr>
          <p:nvPr/>
        </p:nvSpPr>
        <p:spPr>
          <a:xfrm>
            <a:off x="7886700" y="2990317"/>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Objetivo e demonstração</a:t>
            </a:r>
          </a:p>
        </p:txBody>
      </p:sp>
      <p:sp>
        <p:nvSpPr>
          <p:cNvPr id="6" name="original-3">
            <a:extLst>
              <a:ext uri="{FF2B5EF4-FFF2-40B4-BE49-F238E27FC236}">
                <a16:creationId xmlns:a16="http://schemas.microsoft.com/office/drawing/2014/main" id="{DECE1942-1885-9577-DF5F-685A8B1C7180}"/>
              </a:ext>
            </a:extLst>
          </p:cNvPr>
          <p:cNvSpPr>
            <a:spLocks noGrp="1"/>
          </p:cNvSpPr>
          <p:nvPr/>
        </p:nvSpPr>
        <p:spPr>
          <a:xfrm>
            <a:off x="7507725" y="3015150"/>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7" name="original-12">
            <a:extLst>
              <a:ext uri="{FF2B5EF4-FFF2-40B4-BE49-F238E27FC236}">
                <a16:creationId xmlns:a16="http://schemas.microsoft.com/office/drawing/2014/main" id="{70BD0609-EAC0-DFEC-8761-6C5A72DB268A}"/>
              </a:ext>
            </a:extLst>
          </p:cNvPr>
          <p:cNvSpPr>
            <a:spLocks noGrp="1"/>
          </p:cNvSpPr>
          <p:nvPr/>
        </p:nvSpPr>
        <p:spPr>
          <a:xfrm>
            <a:off x="393700" y="2990316"/>
            <a:ext cx="5537200" cy="2884636"/>
          </a:xfrm>
          <a:prstGeom prst="rect">
            <a:avLst/>
          </a:prstGeom>
          <a:noFill/>
        </p:spPr>
        <p:txBody>
          <a:bodyPr wrap="square" lIns="0" tIns="0" rIns="0" bIns="0" anchor="t">
            <a:noAutofit/>
          </a:bodyPr>
          <a:lstStyle/>
          <a:p>
            <a:pPr marL="0" indent="0">
              <a:buNone/>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Cada grupo chega com uma versão executável e perguntas objetivas.
As decisões da reunião orientam o próximo ciclo.</a:t>
            </a:r>
          </a:p>
        </p:txBody>
      </p:sp>
      <p:sp>
        <p:nvSpPr>
          <p:cNvPr id="8" name="original-16">
            <a:extLst>
              <a:ext uri="{FF2B5EF4-FFF2-40B4-BE49-F238E27FC236}">
                <a16:creationId xmlns:a16="http://schemas.microsoft.com/office/drawing/2014/main" id="{01B260BF-9264-3C70-DF2D-2E6EA83AC133}"/>
              </a:ext>
            </a:extLst>
          </p:cNvPr>
          <p:cNvSpPr>
            <a:spLocks noGrp="1"/>
          </p:cNvSpPr>
          <p:nvPr/>
        </p:nvSpPr>
        <p:spPr>
          <a:xfrm>
            <a:off x="7886700" y="3599916"/>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Critérios atendidos e pendências</a:t>
            </a:r>
          </a:p>
        </p:txBody>
      </p:sp>
      <p:sp>
        <p:nvSpPr>
          <p:cNvPr id="9" name="original-17">
            <a:extLst>
              <a:ext uri="{FF2B5EF4-FFF2-40B4-BE49-F238E27FC236}">
                <a16:creationId xmlns:a16="http://schemas.microsoft.com/office/drawing/2014/main" id="{A6CF1E9A-BF4C-E7B2-D556-8AB5FB2B65F0}"/>
              </a:ext>
            </a:extLst>
          </p:cNvPr>
          <p:cNvSpPr>
            <a:spLocks noGrp="1"/>
          </p:cNvSpPr>
          <p:nvPr/>
        </p:nvSpPr>
        <p:spPr>
          <a:xfrm>
            <a:off x="7507725" y="3624749"/>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0" name="original-18">
            <a:extLst>
              <a:ext uri="{FF2B5EF4-FFF2-40B4-BE49-F238E27FC236}">
                <a16:creationId xmlns:a16="http://schemas.microsoft.com/office/drawing/2014/main" id="{FE696631-18B5-8115-E5AD-ACCFD6221418}"/>
              </a:ext>
            </a:extLst>
          </p:cNvPr>
          <p:cNvSpPr>
            <a:spLocks noGrp="1"/>
          </p:cNvSpPr>
          <p:nvPr/>
        </p:nvSpPr>
        <p:spPr>
          <a:xfrm>
            <a:off x="7886700" y="4214765"/>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Feedback registrado</a:t>
            </a:r>
          </a:p>
        </p:txBody>
      </p:sp>
      <p:sp>
        <p:nvSpPr>
          <p:cNvPr id="11" name="original-19">
            <a:extLst>
              <a:ext uri="{FF2B5EF4-FFF2-40B4-BE49-F238E27FC236}">
                <a16:creationId xmlns:a16="http://schemas.microsoft.com/office/drawing/2014/main" id="{6ECBDA1E-6C7D-6B0F-A430-DF8A0965C58D}"/>
              </a:ext>
            </a:extLst>
          </p:cNvPr>
          <p:cNvSpPr>
            <a:spLocks noGrp="1"/>
          </p:cNvSpPr>
          <p:nvPr/>
        </p:nvSpPr>
        <p:spPr>
          <a:xfrm>
            <a:off x="7507725" y="4239598"/>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2" name="original-20">
            <a:extLst>
              <a:ext uri="{FF2B5EF4-FFF2-40B4-BE49-F238E27FC236}">
                <a16:creationId xmlns:a16="http://schemas.microsoft.com/office/drawing/2014/main" id="{9FC4B09F-4593-687E-52A3-7E683F7FE9E4}"/>
              </a:ext>
            </a:extLst>
          </p:cNvPr>
          <p:cNvSpPr>
            <a:spLocks noGrp="1"/>
          </p:cNvSpPr>
          <p:nvPr/>
        </p:nvSpPr>
        <p:spPr>
          <a:xfrm>
            <a:off x="7886700" y="48243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Prioridades atualizadas</a:t>
            </a:r>
          </a:p>
        </p:txBody>
      </p:sp>
      <p:sp>
        <p:nvSpPr>
          <p:cNvPr id="13" name="original-21">
            <a:extLst>
              <a:ext uri="{FF2B5EF4-FFF2-40B4-BE49-F238E27FC236}">
                <a16:creationId xmlns:a16="http://schemas.microsoft.com/office/drawing/2014/main" id="{006032E6-DDFC-FA22-4D08-3BFFC755BB8D}"/>
              </a:ext>
            </a:extLst>
          </p:cNvPr>
          <p:cNvSpPr>
            <a:spLocks noGrp="1"/>
          </p:cNvSpPr>
          <p:nvPr/>
        </p:nvSpPr>
        <p:spPr>
          <a:xfrm>
            <a:off x="7507725" y="48491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4" name="original-23">
            <a:extLst>
              <a:ext uri="{FF2B5EF4-FFF2-40B4-BE49-F238E27FC236}">
                <a16:creationId xmlns:a16="http://schemas.microsoft.com/office/drawing/2014/main" id="{EDAB1F81-E12B-29DC-E09F-27F129E42AE8}"/>
              </a:ext>
            </a:extLst>
          </p:cNvPr>
          <p:cNvSpPr>
            <a:spLocks noGrp="1"/>
          </p:cNvSpPr>
          <p:nvPr/>
        </p:nvSpPr>
        <p:spPr>
          <a:xfrm>
            <a:off x="7886700" y="54466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Responsáveis e próximos passos</a:t>
            </a:r>
          </a:p>
        </p:txBody>
      </p:sp>
      <p:sp>
        <p:nvSpPr>
          <p:cNvPr id="15" name="original-24">
            <a:extLst>
              <a:ext uri="{FF2B5EF4-FFF2-40B4-BE49-F238E27FC236}">
                <a16:creationId xmlns:a16="http://schemas.microsoft.com/office/drawing/2014/main" id="{A052337A-4696-49F7-A089-E21DA71AD3B2}"/>
              </a:ext>
            </a:extLst>
          </p:cNvPr>
          <p:cNvSpPr>
            <a:spLocks noGrp="1"/>
          </p:cNvSpPr>
          <p:nvPr/>
        </p:nvSpPr>
        <p:spPr>
          <a:xfrm>
            <a:off x="7507725" y="54714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riginal-3">
            <a:extLst>
              <a:ext uri="{FF2B5EF4-FFF2-40B4-BE49-F238E27FC236}">
                <a16:creationId xmlns:a16="http://schemas.microsoft.com/office/drawing/2014/main" id="{39EA4C82-C623-0196-4A95-876ADF5DEE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1BCBE750-7048-686D-1472-52C53362D6CD}"/>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15</a:t>
            </a:r>
          </a:p>
        </p:txBody>
      </p:sp>
      <p:sp>
        <p:nvSpPr>
          <p:cNvPr id="3" name="original-533">
            <a:extLst>
              <a:ext uri="{FF2B5EF4-FFF2-40B4-BE49-F238E27FC236}">
                <a16:creationId xmlns:a16="http://schemas.microsoft.com/office/drawing/2014/main" id="{1B5D55CD-1C17-7CD8-F26A-2DD65B067687}"/>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Documentação como parte do trabalho</a:t>
            </a:r>
          </a:p>
        </p:txBody>
      </p:sp>
      <p:sp>
        <p:nvSpPr>
          <p:cNvPr id="4" name="original-7">
            <a:extLst>
              <a:ext uri="{FF2B5EF4-FFF2-40B4-BE49-F238E27FC236}">
                <a16:creationId xmlns:a16="http://schemas.microsoft.com/office/drawing/2014/main" id="{3A923FEE-B8D2-CD3A-ABBD-21770B40AA24}"/>
              </a:ext>
            </a:extLst>
          </p:cNvPr>
          <p:cNvSpPr>
            <a:spLocks noGrp="1"/>
          </p:cNvSpPr>
          <p:nvPr/>
        </p:nvSpPr>
        <p:spPr>
          <a:xfrm>
            <a:off x="393700" y="2031999"/>
            <a:ext cx="5537200" cy="3534787"/>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a:t>Produto e processo</a:t>
            </a:r>
          </a:p>
          <a:p>
            <a:pPr marL="0" indent="0">
              <a:lnSpc>
                <a:spcPct val="115000"/>
              </a:lnSpc>
              <a:buNone/>
              <a:defRPr sz="2025">
                <a:solidFill>
                  <a:srgbClr val="FFFFFF"/>
                </a:solidFill>
                <a:latin typeface="Helvetica Neue"/>
                <a:ea typeface="Helvetica Neue"/>
                <a:cs typeface="Helvetica Neue"/>
              </a:defRPr>
            </a:pPr>
            <a:r>
              <a:rPr sz="2025"/>
              <a:t>Visão, Lean Inception e Canvas MVP.
Backlog, objetivos e registros das sprints.
Atas com o PO e feedback de usuários.
Decisões estratégicas e riscos.</a:t>
            </a:r>
          </a:p>
        </p:txBody>
      </p:sp>
      <p:sp>
        <p:nvSpPr>
          <p:cNvPr id="5" name="original-8">
            <a:extLst>
              <a:ext uri="{FF2B5EF4-FFF2-40B4-BE49-F238E27FC236}">
                <a16:creationId xmlns:a16="http://schemas.microsoft.com/office/drawing/2014/main" id="{2EE8F343-A95F-2AAA-FE9E-A6C31E298DF7}"/>
              </a:ext>
            </a:extLst>
          </p:cNvPr>
          <p:cNvSpPr>
            <a:spLocks noGrp="1"/>
          </p:cNvSpPr>
          <p:nvPr/>
        </p:nvSpPr>
        <p:spPr>
          <a:xfrm>
            <a:off x="6256618" y="2031999"/>
            <a:ext cx="5537200" cy="3534787"/>
          </a:xfrm>
          <a:prstGeom prst="rect">
            <a:avLst/>
          </a:prstGeom>
        </p:spPr>
        <p:txBody>
          <a:bodyPr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dirty="0" err="1"/>
              <a:t>Engenharia</a:t>
            </a:r>
            <a:r>
              <a:rPr sz="2250" b="0" dirty="0"/>
              <a:t> e </a:t>
            </a:r>
            <a:r>
              <a:rPr sz="2250" b="0" dirty="0" err="1"/>
              <a:t>operação</a:t>
            </a:r>
            <a:endParaRPr sz="2250" b="0" dirty="0"/>
          </a:p>
          <a:p>
            <a:pPr marL="0" indent="0">
              <a:lnSpc>
                <a:spcPct val="115000"/>
              </a:lnSpc>
              <a:buNone/>
              <a:defRPr sz="2025">
                <a:solidFill>
                  <a:srgbClr val="FFFFFF"/>
                </a:solidFill>
                <a:latin typeface="Helvetica Neue"/>
                <a:ea typeface="Helvetica Neue"/>
                <a:cs typeface="Helvetica Neue"/>
              </a:defRPr>
            </a:pPr>
            <a:r>
              <a:rPr sz="2025" dirty="0"/>
              <a:t>Specs, </a:t>
            </a:r>
            <a:r>
              <a:rPr lang="pt-BR" sz="2025" dirty="0"/>
              <a:t>registro de decisão arquitetural</a:t>
            </a:r>
            <a:r>
              <a:rPr sz="2025" dirty="0"/>
              <a:t> e </a:t>
            </a:r>
            <a:r>
              <a:rPr sz="2025" dirty="0" err="1"/>
              <a:t>diagramas</a:t>
            </a:r>
            <a:r>
              <a:rPr sz="2025" dirty="0"/>
              <a:t>.
Prompts, </a:t>
            </a:r>
            <a:r>
              <a:rPr sz="2025" dirty="0" err="1"/>
              <a:t>uso</a:t>
            </a:r>
            <a:r>
              <a:rPr sz="2025" dirty="0"/>
              <a:t> de IA e </a:t>
            </a:r>
            <a:r>
              <a:rPr sz="2025" dirty="0" err="1"/>
              <a:t>avaliações</a:t>
            </a:r>
            <a:r>
              <a:rPr sz="2025" dirty="0"/>
              <a:t>.
Testes, PRs e releases.
Deploy, </a:t>
            </a:r>
            <a:r>
              <a:rPr sz="2025" dirty="0" err="1"/>
              <a:t>monitoramento</a:t>
            </a:r>
            <a:r>
              <a:rPr sz="2025" dirty="0"/>
              <a:t> e </a:t>
            </a:r>
            <a:r>
              <a:rPr sz="2025" dirty="0" err="1"/>
              <a:t>recuperação</a:t>
            </a:r>
            <a:r>
              <a:rPr sz="2025" dirty="0"/>
              <a:t>.</a:t>
            </a:r>
          </a:p>
        </p:txBody>
      </p:sp>
    </p:spTree>
    <p:extLst>
      <p:ext uri="{BB962C8B-B14F-4D97-AF65-F5344CB8AC3E}">
        <p14:creationId xmlns:p14="http://schemas.microsoft.com/office/powerpoint/2010/main" val="3667182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riginal-6">
            <a:extLst>
              <a:ext uri="{FF2B5EF4-FFF2-40B4-BE49-F238E27FC236}">
                <a16:creationId xmlns:a16="http://schemas.microsoft.com/office/drawing/2014/main" id="{E79D819C-33DB-D779-0CC9-74786C7AA643}"/>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16</a:t>
            </a:r>
          </a:p>
        </p:txBody>
      </p:sp>
      <p:sp>
        <p:nvSpPr>
          <p:cNvPr id="3" name="original-3">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Registro do uso de IA e dos prompts</a:t>
            </a:r>
          </a:p>
        </p:txBody>
      </p:sp>
      <p:sp>
        <p:nvSpPr>
          <p:cNvPr id="4" name="original-10">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Identificação</a:t>
            </a:r>
          </a:p>
          <a:p>
            <a:pPr marL="0" indent="0">
              <a:lnSpc>
                <a:spcPct val="115000"/>
              </a:lnSpc>
              <a:buNone/>
              <a:defRPr sz="1875">
                <a:solidFill>
                  <a:srgbClr val="FFFFFF"/>
                </a:solidFill>
                <a:latin typeface="Helvetica Neue"/>
                <a:ea typeface="Helvetica Neue"/>
                <a:cs typeface="Helvetica Neue"/>
              </a:defRPr>
            </a:pPr>
            <a:r>
              <a:rPr sz="1875"/>
              <a:t>Data, autor, ferramenta, modelo e tarefa ou issue relacionada.</a:t>
            </a:r>
          </a:p>
        </p:txBody>
      </p:sp>
      <p:sp>
        <p:nvSpPr>
          <p:cNvPr id="5" name="original-11">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Entrada</a:t>
            </a:r>
          </a:p>
          <a:p>
            <a:pPr marL="0" indent="0">
              <a:lnSpc>
                <a:spcPct val="115000"/>
              </a:lnSpc>
              <a:buNone/>
              <a:defRPr sz="1875">
                <a:solidFill>
                  <a:srgbClr val="FFFFFF"/>
                </a:solidFill>
                <a:latin typeface="Helvetica Neue"/>
                <a:ea typeface="Helvetica Neue"/>
                <a:cs typeface="Helvetica Neue"/>
              </a:defRPr>
            </a:pPr>
            <a:r>
              <a:rPr sz="1875"/>
              <a:t>Prompt, contexto, anexos e versão da spec utilizada.</a:t>
            </a:r>
          </a:p>
        </p:txBody>
      </p:sp>
      <p:sp>
        <p:nvSpPr>
          <p:cNvPr id="6" name="original-4">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Resultado</a:t>
            </a:r>
          </a:p>
          <a:p>
            <a:pPr marL="0" indent="0">
              <a:lnSpc>
                <a:spcPct val="115000"/>
              </a:lnSpc>
              <a:buNone/>
              <a:defRPr sz="1875">
                <a:solidFill>
                  <a:srgbClr val="FFFFFF"/>
                </a:solidFill>
                <a:latin typeface="Helvetica Neue"/>
                <a:ea typeface="Helvetica Neue"/>
                <a:cs typeface="Helvetica Neue"/>
              </a:defRPr>
            </a:pPr>
            <a:r>
              <a:rPr sz="1875"/>
              <a:t>Saída relevante, alterações humanas e decisão de aceitar ou rejeitar.</a:t>
            </a:r>
          </a:p>
        </p:txBody>
      </p:sp>
      <p:sp>
        <p:nvSpPr>
          <p:cNvPr id="7" name="original-5">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Verificação</a:t>
            </a:r>
          </a:p>
          <a:p>
            <a:pPr marL="0" indent="0">
              <a:lnSpc>
                <a:spcPct val="115000"/>
              </a:lnSpc>
              <a:buNone/>
              <a:defRPr sz="1875">
                <a:solidFill>
                  <a:srgbClr val="FFFFFF"/>
                </a:solidFill>
                <a:latin typeface="Helvetica Neue"/>
                <a:ea typeface="Helvetica Neue"/>
                <a:cs typeface="Helvetica Neue"/>
              </a:defRPr>
            </a:pPr>
            <a:r>
              <a:rPr sz="1875"/>
              <a:t>Testes executados, falhas encontradas e link para commit ou PR.</a:t>
            </a:r>
          </a:p>
        </p:txBody>
      </p:sp>
    </p:spTree>
    <p:extLst>
      <p:ext uri="{BB962C8B-B14F-4D97-AF65-F5344CB8AC3E}">
        <p14:creationId xmlns:p14="http://schemas.microsoft.com/office/powerpoint/2010/main" val="360145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riginal-3">
            <a:extLst>
              <a:ext uri="{FF2B5EF4-FFF2-40B4-BE49-F238E27FC236}">
                <a16:creationId xmlns:a16="http://schemas.microsoft.com/office/drawing/2014/main" id="{39EA4C82-C623-0196-4A95-876ADF5DEE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1BCBE750-7048-686D-1472-52C53362D6CD}"/>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17</a:t>
            </a:r>
          </a:p>
        </p:txBody>
      </p:sp>
      <p:sp>
        <p:nvSpPr>
          <p:cNvPr id="3" name="original-533">
            <a:extLst>
              <a:ext uri="{FF2B5EF4-FFF2-40B4-BE49-F238E27FC236}">
                <a16:creationId xmlns:a16="http://schemas.microsoft.com/office/drawing/2014/main" id="{1B5D55CD-1C17-7CD8-F26A-2DD65B067687}"/>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Specs que orientam implementação e testes</a:t>
            </a:r>
          </a:p>
        </p:txBody>
      </p:sp>
      <p:sp>
        <p:nvSpPr>
          <p:cNvPr id="4" name="original-7">
            <a:extLst>
              <a:ext uri="{FF2B5EF4-FFF2-40B4-BE49-F238E27FC236}">
                <a16:creationId xmlns:a16="http://schemas.microsoft.com/office/drawing/2014/main" id="{3A923FEE-B8D2-CD3A-ABBD-21770B40AA24}"/>
              </a:ext>
            </a:extLst>
          </p:cNvPr>
          <p:cNvSpPr>
            <a:spLocks noGrp="1"/>
          </p:cNvSpPr>
          <p:nvPr/>
        </p:nvSpPr>
        <p:spPr>
          <a:xfrm>
            <a:off x="393700" y="2031999"/>
            <a:ext cx="5537200" cy="3534787"/>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a:t>Exemplo de requisito</a:t>
            </a:r>
          </a:p>
          <a:p>
            <a:pPr marL="0" indent="0">
              <a:lnSpc>
                <a:spcPct val="115000"/>
              </a:lnSpc>
              <a:buNone/>
              <a:defRPr sz="2025">
                <a:solidFill>
                  <a:srgbClr val="FFFFFF"/>
                </a:solidFill>
                <a:latin typeface="Helvetica Neue"/>
                <a:ea typeface="Helvetica Neue"/>
                <a:cs typeface="Helvetica Neue"/>
              </a:defRPr>
            </a:pPr>
            <a:r>
              <a:rPr sz="2025"/>
              <a:t>Como estudante, quero consultar um prazo e verificar sua fonte.
A spec define entrada, resposta, evidência e tratamento de ausência de informação.</a:t>
            </a:r>
          </a:p>
        </p:txBody>
      </p:sp>
      <p:sp>
        <p:nvSpPr>
          <p:cNvPr id="5" name="original-8">
            <a:extLst>
              <a:ext uri="{FF2B5EF4-FFF2-40B4-BE49-F238E27FC236}">
                <a16:creationId xmlns:a16="http://schemas.microsoft.com/office/drawing/2014/main" id="{2EE8F343-A95F-2AAA-FE9E-A6C31E298DF7}"/>
              </a:ext>
            </a:extLst>
          </p:cNvPr>
          <p:cNvSpPr>
            <a:spLocks noGrp="1"/>
          </p:cNvSpPr>
          <p:nvPr/>
        </p:nvSpPr>
        <p:spPr>
          <a:xfrm>
            <a:off x="6256618" y="2031999"/>
            <a:ext cx="5537200" cy="3534787"/>
          </a:xfrm>
          <a:prstGeom prst="rect">
            <a:avLst/>
          </a:prstGeom>
        </p:spPr>
        <p:txBody>
          <a:bodyPr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a:t>Critérios verificáveis</a:t>
            </a:r>
          </a:p>
          <a:p>
            <a:pPr marL="0" indent="0">
              <a:lnSpc>
                <a:spcPct val="115000"/>
              </a:lnSpc>
              <a:buNone/>
              <a:defRPr sz="2025">
                <a:solidFill>
                  <a:srgbClr val="FFFFFF"/>
                </a:solidFill>
                <a:latin typeface="Helvetica Neue"/>
                <a:ea typeface="Helvetica Neue"/>
                <a:cs typeface="Helvetica Neue"/>
              </a:defRPr>
            </a:pPr>
            <a:r>
              <a:rPr sz="2025"/>
              <a:t>Com fonte disponível, retornar prazo e referência.
Sem evidência, informar a limitação.
Com serviço indisponível, apresentar erro tratável.</a:t>
            </a:r>
          </a:p>
        </p:txBody>
      </p:sp>
    </p:spTree>
    <p:extLst>
      <p:ext uri="{BB962C8B-B14F-4D97-AF65-F5344CB8AC3E}">
        <p14:creationId xmlns:p14="http://schemas.microsoft.com/office/powerpoint/2010/main" val="3667182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riginal-3">
            <a:extLst>
              <a:ext uri="{FF2B5EF4-FFF2-40B4-BE49-F238E27FC236}">
                <a16:creationId xmlns:a16="http://schemas.microsoft.com/office/drawing/2014/main" id="{39EA4C82-C623-0196-4A95-876ADF5DEE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1BCBE750-7048-686D-1472-52C53362D6CD}"/>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18</a:t>
            </a:r>
          </a:p>
        </p:txBody>
      </p:sp>
      <p:sp>
        <p:nvSpPr>
          <p:cNvPr id="3" name="original-533">
            <a:extLst>
              <a:ext uri="{FF2B5EF4-FFF2-40B4-BE49-F238E27FC236}">
                <a16:creationId xmlns:a16="http://schemas.microsoft.com/office/drawing/2014/main" id="{1B5D55CD-1C17-7CD8-F26A-2DD65B067687}"/>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Decisões estratégicas e de arquitetura</a:t>
            </a:r>
          </a:p>
        </p:txBody>
      </p:sp>
      <p:sp>
        <p:nvSpPr>
          <p:cNvPr id="4" name="original-7">
            <a:extLst>
              <a:ext uri="{FF2B5EF4-FFF2-40B4-BE49-F238E27FC236}">
                <a16:creationId xmlns:a16="http://schemas.microsoft.com/office/drawing/2014/main" id="{3A923FEE-B8D2-CD3A-ABBD-21770B40AA24}"/>
              </a:ext>
            </a:extLst>
          </p:cNvPr>
          <p:cNvSpPr>
            <a:spLocks noGrp="1"/>
          </p:cNvSpPr>
          <p:nvPr/>
        </p:nvSpPr>
        <p:spPr>
          <a:xfrm>
            <a:off x="393700" y="2031999"/>
            <a:ext cx="5537200" cy="3534787"/>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dirty="0"/>
              <a:t>Registro </a:t>
            </a:r>
            <a:r>
              <a:rPr sz="2250" b="0" dirty="0" err="1"/>
              <a:t>estratégico</a:t>
            </a:r>
            <a:endParaRPr sz="2250" b="0" dirty="0"/>
          </a:p>
          <a:p>
            <a:pPr marL="0" indent="0">
              <a:lnSpc>
                <a:spcPct val="115000"/>
              </a:lnSpc>
              <a:buNone/>
              <a:defRPr sz="2025">
                <a:solidFill>
                  <a:srgbClr val="FFFFFF"/>
                </a:solidFill>
                <a:latin typeface="Helvetica Neue"/>
                <a:ea typeface="Helvetica Neue"/>
                <a:cs typeface="Helvetica Neue"/>
              </a:defRPr>
            </a:pPr>
            <a:r>
              <a:rPr sz="2025" dirty="0" err="1"/>
              <a:t>Problema</a:t>
            </a:r>
            <a:r>
              <a:rPr sz="2025" dirty="0"/>
              <a:t> e </a:t>
            </a:r>
            <a:r>
              <a:rPr sz="2025" dirty="0" err="1"/>
              <a:t>opções</a:t>
            </a:r>
            <a:r>
              <a:rPr sz="2025" dirty="0"/>
              <a:t> </a:t>
            </a:r>
            <a:r>
              <a:rPr sz="2025" dirty="0" err="1"/>
              <a:t>consideradas</a:t>
            </a:r>
            <a:r>
              <a:rPr sz="2025" dirty="0"/>
              <a:t>.
Valor, </a:t>
            </a:r>
            <a:r>
              <a:rPr sz="2025" dirty="0" err="1"/>
              <a:t>prazo</a:t>
            </a:r>
            <a:r>
              <a:rPr sz="2025" dirty="0"/>
              <a:t>, </a:t>
            </a:r>
            <a:r>
              <a:rPr sz="2025" dirty="0" err="1"/>
              <a:t>custo</a:t>
            </a:r>
            <a:r>
              <a:rPr sz="2025" dirty="0"/>
              <a:t> e </a:t>
            </a:r>
            <a:r>
              <a:rPr sz="2025" dirty="0" err="1"/>
              <a:t>riscos</a:t>
            </a:r>
            <a:r>
              <a:rPr sz="2025" dirty="0"/>
              <a:t>.
</a:t>
            </a:r>
            <a:r>
              <a:rPr sz="2025" dirty="0" err="1"/>
              <a:t>Decisão</a:t>
            </a:r>
            <a:r>
              <a:rPr sz="2025" dirty="0"/>
              <a:t> e </a:t>
            </a:r>
            <a:r>
              <a:rPr sz="2025" dirty="0" err="1"/>
              <a:t>justificativa</a:t>
            </a:r>
            <a:r>
              <a:rPr sz="2025" dirty="0"/>
              <a:t>.
</a:t>
            </a:r>
            <a:r>
              <a:rPr sz="2025" dirty="0" err="1"/>
              <a:t>Condição</a:t>
            </a:r>
            <a:r>
              <a:rPr sz="2025" dirty="0"/>
              <a:t> para </a:t>
            </a:r>
            <a:r>
              <a:rPr sz="2025" dirty="0" err="1"/>
              <a:t>revisitar</a:t>
            </a:r>
            <a:r>
              <a:rPr sz="2025" dirty="0"/>
              <a:t> a </a:t>
            </a:r>
            <a:r>
              <a:rPr sz="2025" dirty="0" err="1"/>
              <a:t>escolha</a:t>
            </a:r>
            <a:r>
              <a:rPr sz="2025" dirty="0"/>
              <a:t>.</a:t>
            </a:r>
          </a:p>
        </p:txBody>
      </p:sp>
      <p:sp>
        <p:nvSpPr>
          <p:cNvPr id="5" name="original-8">
            <a:extLst>
              <a:ext uri="{FF2B5EF4-FFF2-40B4-BE49-F238E27FC236}">
                <a16:creationId xmlns:a16="http://schemas.microsoft.com/office/drawing/2014/main" id="{2EE8F343-A95F-2AAA-FE9E-A6C31E298DF7}"/>
              </a:ext>
            </a:extLst>
          </p:cNvPr>
          <p:cNvSpPr>
            <a:spLocks noGrp="1"/>
          </p:cNvSpPr>
          <p:nvPr/>
        </p:nvSpPr>
        <p:spPr>
          <a:xfrm>
            <a:off x="6256618" y="2031999"/>
            <a:ext cx="5537200" cy="3534787"/>
          </a:xfrm>
          <a:prstGeom prst="rect">
            <a:avLst/>
          </a:prstGeom>
        </p:spPr>
        <p:txBody>
          <a:bodyPr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dirty="0"/>
              <a:t>ADR </a:t>
            </a:r>
            <a:r>
              <a:rPr sz="2250" b="0" dirty="0" err="1"/>
              <a:t>técnico</a:t>
            </a:r>
            <a:endParaRPr sz="2250" b="0" dirty="0"/>
          </a:p>
          <a:p>
            <a:pPr marL="0" indent="0">
              <a:lnSpc>
                <a:spcPct val="115000"/>
              </a:lnSpc>
              <a:buNone/>
              <a:defRPr sz="2025">
                <a:solidFill>
                  <a:srgbClr val="FFFFFF"/>
                </a:solidFill>
                <a:latin typeface="Helvetica Neue"/>
                <a:ea typeface="Helvetica Neue"/>
                <a:cs typeface="Helvetica Neue"/>
              </a:defRPr>
            </a:pPr>
            <a:r>
              <a:rPr sz="2025" dirty="0" err="1"/>
              <a:t>Contexto</a:t>
            </a:r>
            <a:r>
              <a:rPr sz="2025" dirty="0"/>
              <a:t> e </a:t>
            </a:r>
            <a:r>
              <a:rPr sz="2025" dirty="0" err="1"/>
              <a:t>alternativas</a:t>
            </a:r>
            <a:r>
              <a:rPr sz="2025" dirty="0"/>
              <a:t>.
</a:t>
            </a:r>
            <a:r>
              <a:rPr sz="2025" dirty="0" err="1"/>
              <a:t>Decisão</a:t>
            </a:r>
            <a:r>
              <a:rPr sz="2025" dirty="0"/>
              <a:t> e </a:t>
            </a:r>
            <a:r>
              <a:rPr sz="2025" dirty="0" err="1"/>
              <a:t>consequências</a:t>
            </a:r>
            <a:r>
              <a:rPr sz="2025" dirty="0"/>
              <a:t>.
</a:t>
            </a:r>
            <a:r>
              <a:rPr sz="2025" dirty="0" err="1"/>
              <a:t>Evidências</a:t>
            </a:r>
            <a:r>
              <a:rPr sz="2025" dirty="0"/>
              <a:t> </a:t>
            </a:r>
            <a:r>
              <a:rPr sz="2025" dirty="0" err="1"/>
              <a:t>ou</a:t>
            </a:r>
            <a:r>
              <a:rPr sz="2025" dirty="0"/>
              <a:t> </a:t>
            </a:r>
            <a:r>
              <a:rPr sz="2025" dirty="0" err="1"/>
              <a:t>experimento</a:t>
            </a:r>
            <a:r>
              <a:rPr sz="2025" dirty="0"/>
              <a:t>.
Autor, data e status.</a:t>
            </a:r>
          </a:p>
        </p:txBody>
      </p:sp>
    </p:spTree>
    <p:extLst>
      <p:ext uri="{BB962C8B-B14F-4D97-AF65-F5344CB8AC3E}">
        <p14:creationId xmlns:p14="http://schemas.microsoft.com/office/powerpoint/2010/main" val="3667182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riginal-4">
            <a:extLst>
              <a:ext uri="{FF2B5EF4-FFF2-40B4-BE49-F238E27FC236}">
                <a16:creationId xmlns:a16="http://schemas.microsoft.com/office/drawing/2014/main" id="{ADE525C3-6A65-3281-3715-AE2CF21E370C}"/>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855F9338-C523-361B-6D81-B9AAD76BBB65}"/>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19</a:t>
            </a:r>
          </a:p>
        </p:txBody>
      </p:sp>
      <p:sp>
        <p:nvSpPr>
          <p:cNvPr id="3" name="original-533">
            <a:extLst>
              <a:ext uri="{FF2B5EF4-FFF2-40B4-BE49-F238E27FC236}">
                <a16:creationId xmlns:a16="http://schemas.microsoft.com/office/drawing/2014/main" id="{509200BE-15E5-FE37-6AFE-A51B10E1A9BC}"/>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Arquitetura de referência</a:t>
            </a:r>
          </a:p>
        </p:txBody>
      </p:sp>
      <p:sp>
        <p:nvSpPr>
          <p:cNvPr id="4" name="original-534">
            <a:extLst>
              <a:ext uri="{FF2B5EF4-FFF2-40B4-BE49-F238E27FC236}">
                <a16:creationId xmlns:a16="http://schemas.microsoft.com/office/drawing/2014/main" id="{94D83715-924E-FD86-6E33-16B595E7DE71}"/>
              </a:ext>
            </a:extLst>
          </p:cNvPr>
          <p:cNvSpPr>
            <a:spLocks noGrp="1"/>
          </p:cNvSpPr>
          <p:nvPr>
            <p:ph idx="4294967295"/>
          </p:nvPr>
        </p:nvSpPr>
        <p:spPr>
          <a:xfrm>
            <a:off x="393700" y="3365500"/>
            <a:ext cx="3568700" cy="2628900"/>
          </a:xfrm>
          <a:prstGeom prst="rect">
            <a:avLst/>
          </a:prstGeom>
        </p:spPr>
        <p:txBody>
          <a:bodyPr spcFirstLastPara="1" vert="horz" wrap="square" lIns="0" tIns="0" rIns="0" bIns="0" anchor="t">
            <a:noAutofit/>
          </a:bodyPr>
          <a:lstStyle/>
          <a:p>
            <a:pPr marL="0" indent="0">
              <a:spcAft>
                <a:spcPts val="1200"/>
              </a:spcAft>
              <a:buNone/>
              <a:defRPr sz="1950">
                <a:solidFill>
                  <a:srgbClr val="FFFFFF"/>
                </a:solidFill>
                <a:latin typeface="Helvetica Neue"/>
                <a:ea typeface="Helvetica Neue"/>
                <a:cs typeface="Helvetica Neue"/>
              </a:defRPr>
            </a:pPr>
            <a:r>
              <a:rPr sz="2250" b="0"/>
              <a:t>Experiência web</a:t>
            </a:r>
          </a:p>
          <a:p>
            <a:pPr marL="0" indent="0">
              <a:lnSpc>
                <a:spcPct val="115000"/>
              </a:lnSpc>
              <a:buNone/>
              <a:defRPr sz="1950">
                <a:solidFill>
                  <a:srgbClr val="FFFFFF"/>
                </a:solidFill>
                <a:latin typeface="Helvetica Neue"/>
                <a:ea typeface="Helvetica Neue"/>
                <a:cs typeface="Helvetica Neue"/>
              </a:defRPr>
            </a:pPr>
            <a:r>
              <a:rPr sz="1950"/>
              <a:t>Interface responsiva, validação e comunicação clara de estados e erros.</a:t>
            </a:r>
          </a:p>
        </p:txBody>
      </p:sp>
      <p:sp>
        <p:nvSpPr>
          <p:cNvPr id="5" name="original-2">
            <a:extLst>
              <a:ext uri="{FF2B5EF4-FFF2-40B4-BE49-F238E27FC236}">
                <a16:creationId xmlns:a16="http://schemas.microsoft.com/office/drawing/2014/main" id="{49D4B6C8-289F-F081-BCAE-309463E70BA1}"/>
              </a:ext>
            </a:extLst>
          </p:cNvPr>
          <p:cNvSpPr>
            <a:spLocks noGrp="1"/>
          </p:cNvSpPr>
          <p:nvPr>
            <p:ph idx="4294967295"/>
          </p:nvPr>
        </p:nvSpPr>
        <p:spPr>
          <a:xfrm>
            <a:off x="8229600" y="3365500"/>
            <a:ext cx="3568700" cy="2628900"/>
          </a:xfrm>
        </p:spPr>
        <p:txBody>
          <a:bodyPr lIns="0" tIns="0" rIns="0" bIns="0" anchor="t">
            <a:noAutofit/>
          </a:bodyPr>
          <a:lstStyle/>
          <a:p>
            <a:pPr marL="0" indent="0">
              <a:spcAft>
                <a:spcPts val="1200"/>
              </a:spcAft>
              <a:buNone/>
              <a:defRPr sz="1950">
                <a:solidFill>
                  <a:srgbClr val="FFFFFF"/>
                </a:solidFill>
                <a:latin typeface="Helvetica Neue"/>
                <a:ea typeface="Helvetica Neue"/>
                <a:cs typeface="Helvetica Neue"/>
              </a:defRPr>
            </a:pPr>
            <a:r>
              <a:rPr sz="2250" b="0"/>
              <a:t>Capacidade de IA</a:t>
            </a:r>
          </a:p>
          <a:p>
            <a:pPr marL="0" indent="0">
              <a:lnSpc>
                <a:spcPct val="115000"/>
              </a:lnSpc>
              <a:buNone/>
              <a:defRPr sz="1950">
                <a:solidFill>
                  <a:srgbClr val="FFFFFF"/>
                </a:solidFill>
                <a:latin typeface="Helvetica Neue"/>
                <a:ea typeface="Helvetica Neue"/>
                <a:cs typeface="Helvetica Neue"/>
              </a:defRPr>
            </a:pPr>
            <a:r>
              <a:rPr sz="1950"/>
              <a:t>Modelo ou serviço, contexto e ferramentas, com limites e avaliação.</a:t>
            </a:r>
          </a:p>
        </p:txBody>
      </p:sp>
      <p:sp>
        <p:nvSpPr>
          <p:cNvPr id="6" name="original-3">
            <a:extLst>
              <a:ext uri="{FF2B5EF4-FFF2-40B4-BE49-F238E27FC236}">
                <a16:creationId xmlns:a16="http://schemas.microsoft.com/office/drawing/2014/main" id="{E4A749CC-0D72-2ABA-CEDC-7DFC7D138B4B}"/>
              </a:ext>
            </a:extLst>
          </p:cNvPr>
          <p:cNvSpPr>
            <a:spLocks noGrp="1"/>
          </p:cNvSpPr>
          <p:nvPr>
            <p:ph idx="4294967295"/>
          </p:nvPr>
        </p:nvSpPr>
        <p:spPr>
          <a:xfrm>
            <a:off x="4311650" y="3365500"/>
            <a:ext cx="3568700" cy="2628900"/>
          </a:xfrm>
        </p:spPr>
        <p:txBody>
          <a:bodyPr lIns="0" tIns="0" rIns="0" bIns="0" anchor="t">
            <a:noAutofit/>
          </a:bodyPr>
          <a:lstStyle/>
          <a:p>
            <a:pPr marL="0" indent="0">
              <a:spcAft>
                <a:spcPts val="1200"/>
              </a:spcAft>
              <a:buNone/>
              <a:defRPr sz="1950">
                <a:solidFill>
                  <a:srgbClr val="FFFFFF"/>
                </a:solidFill>
                <a:latin typeface="Helvetica Neue"/>
                <a:ea typeface="Helvetica Neue"/>
                <a:cs typeface="Helvetica Neue"/>
              </a:defRPr>
            </a:pPr>
            <a:r>
              <a:rPr sz="2250" b="0"/>
              <a:t>Aplicação e dados</a:t>
            </a:r>
          </a:p>
          <a:p>
            <a:pPr marL="0" indent="0">
              <a:lnSpc>
                <a:spcPct val="115000"/>
              </a:lnSpc>
              <a:buNone/>
              <a:defRPr sz="1950">
                <a:solidFill>
                  <a:srgbClr val="FFFFFF"/>
                </a:solidFill>
                <a:latin typeface="Helvetica Neue"/>
                <a:ea typeface="Helvetica Neue"/>
                <a:cs typeface="Helvetica Neue"/>
              </a:defRPr>
            </a:pPr>
            <a:r>
              <a:rPr sz="1950"/>
              <a:t>API, regras de negócio, controle de acesso e armazenamento persistente.</a:t>
            </a:r>
          </a:p>
        </p:txBody>
      </p:sp>
    </p:spTree>
    <p:extLst>
      <p:ext uri="{BB962C8B-B14F-4D97-AF65-F5344CB8AC3E}">
        <p14:creationId xmlns:p14="http://schemas.microsoft.com/office/powerpoint/2010/main" val="1393456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riginal-3">
            <a:extLst>
              <a:ext uri="{FF2B5EF4-FFF2-40B4-BE49-F238E27FC236}">
                <a16:creationId xmlns:a16="http://schemas.microsoft.com/office/drawing/2014/main" id="{39EA4C82-C623-0196-4A95-876ADF5DEE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1BCBE750-7048-686D-1472-52C53362D6CD}"/>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20</a:t>
            </a:r>
          </a:p>
        </p:txBody>
      </p:sp>
      <p:sp>
        <p:nvSpPr>
          <p:cNvPr id="3" name="original-533">
            <a:extLst>
              <a:ext uri="{FF2B5EF4-FFF2-40B4-BE49-F238E27FC236}">
                <a16:creationId xmlns:a16="http://schemas.microsoft.com/office/drawing/2014/main" id="{1B5D55CD-1C17-7CD8-F26A-2DD65B067687}"/>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RAG e agentes no produto</a:t>
            </a:r>
          </a:p>
        </p:txBody>
      </p:sp>
      <p:sp>
        <p:nvSpPr>
          <p:cNvPr id="4" name="original-7">
            <a:extLst>
              <a:ext uri="{FF2B5EF4-FFF2-40B4-BE49-F238E27FC236}">
                <a16:creationId xmlns:a16="http://schemas.microsoft.com/office/drawing/2014/main" id="{3A923FEE-B8D2-CD3A-ABBD-21770B40AA24}"/>
              </a:ext>
            </a:extLst>
          </p:cNvPr>
          <p:cNvSpPr>
            <a:spLocks noGrp="1"/>
          </p:cNvSpPr>
          <p:nvPr/>
        </p:nvSpPr>
        <p:spPr>
          <a:xfrm>
            <a:off x="393700" y="2031999"/>
            <a:ext cx="5537200" cy="3534787"/>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a:t>Conhecimento confiável</a:t>
            </a:r>
          </a:p>
          <a:p>
            <a:pPr marL="0" indent="0">
              <a:lnSpc>
                <a:spcPct val="115000"/>
              </a:lnSpc>
              <a:buNone/>
              <a:defRPr sz="2025">
                <a:solidFill>
                  <a:srgbClr val="FFFFFF"/>
                </a:solidFill>
                <a:latin typeface="Helvetica Neue"/>
                <a:ea typeface="Helvetica Neue"/>
                <a:cs typeface="Helvetica Neue"/>
              </a:defRPr>
            </a:pPr>
            <a:r>
              <a:rPr sz="2025"/>
              <a:t>Fontes autorizadas e rastreáveis.
Estratégia de busca documentada.
Referências verificáveis.
Resposta prevista para informação ausente.</a:t>
            </a:r>
          </a:p>
        </p:txBody>
      </p:sp>
      <p:sp>
        <p:nvSpPr>
          <p:cNvPr id="5" name="original-8">
            <a:extLst>
              <a:ext uri="{FF2B5EF4-FFF2-40B4-BE49-F238E27FC236}">
                <a16:creationId xmlns:a16="http://schemas.microsoft.com/office/drawing/2014/main" id="{2EE8F343-A95F-2AAA-FE9E-A6C31E298DF7}"/>
              </a:ext>
            </a:extLst>
          </p:cNvPr>
          <p:cNvSpPr>
            <a:spLocks noGrp="1"/>
          </p:cNvSpPr>
          <p:nvPr/>
        </p:nvSpPr>
        <p:spPr>
          <a:xfrm>
            <a:off x="6256618" y="2031999"/>
            <a:ext cx="5537200" cy="3534787"/>
          </a:xfrm>
          <a:prstGeom prst="rect">
            <a:avLst/>
          </a:prstGeom>
        </p:spPr>
        <p:txBody>
          <a:bodyPr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a:t>Ações controladas</a:t>
            </a:r>
          </a:p>
          <a:p>
            <a:pPr marL="0" indent="0">
              <a:lnSpc>
                <a:spcPct val="115000"/>
              </a:lnSpc>
              <a:buNone/>
              <a:defRPr sz="2025">
                <a:solidFill>
                  <a:srgbClr val="FFFFFF"/>
                </a:solidFill>
                <a:latin typeface="Helvetica Neue"/>
                <a:ea typeface="Helvetica Neue"/>
                <a:cs typeface="Helvetica Neue"/>
              </a:defRPr>
            </a:pPr>
            <a:r>
              <a:rPr sz="2025"/>
              <a:t>Ferramentas com entradas validadas.
Permissões mínimas e limite de passos.
Confirmação para ações relevantes.
Registro dos resultados executados.</a:t>
            </a:r>
          </a:p>
        </p:txBody>
      </p:sp>
    </p:spTree>
    <p:extLst>
      <p:ext uri="{BB962C8B-B14F-4D97-AF65-F5344CB8AC3E}">
        <p14:creationId xmlns:p14="http://schemas.microsoft.com/office/powerpoint/2010/main" val="3667182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riginal-6">
            <a:extLst>
              <a:ext uri="{FF2B5EF4-FFF2-40B4-BE49-F238E27FC236}">
                <a16:creationId xmlns:a16="http://schemas.microsoft.com/office/drawing/2014/main" id="{E79D819C-33DB-D779-0CC9-74786C7AA643}"/>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21</a:t>
            </a:r>
          </a:p>
        </p:txBody>
      </p:sp>
      <p:sp>
        <p:nvSpPr>
          <p:cNvPr id="3" name="original-3">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Dados e segurança</a:t>
            </a:r>
          </a:p>
        </p:txBody>
      </p:sp>
      <p:sp>
        <p:nvSpPr>
          <p:cNvPr id="4" name="original-10">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Dados adequados</a:t>
            </a:r>
          </a:p>
          <a:p>
            <a:pPr marL="0" indent="0">
              <a:lnSpc>
                <a:spcPct val="115000"/>
              </a:lnSpc>
              <a:buNone/>
              <a:defRPr sz="1875">
                <a:solidFill>
                  <a:srgbClr val="FFFFFF"/>
                </a:solidFill>
                <a:latin typeface="Helvetica Neue"/>
                <a:ea typeface="Helvetica Neue"/>
                <a:cs typeface="Helvetica Neue"/>
              </a:defRPr>
            </a:pPr>
            <a:r>
              <a:rPr sz="1875"/>
              <a:t>Origem, licença, qualidade e separação de dados de avaliação.</a:t>
            </a:r>
          </a:p>
        </p:txBody>
      </p:sp>
      <p:sp>
        <p:nvSpPr>
          <p:cNvPr id="5" name="original-11">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Acesso</a:t>
            </a:r>
          </a:p>
          <a:p>
            <a:pPr marL="0" indent="0">
              <a:lnSpc>
                <a:spcPct val="115000"/>
              </a:lnSpc>
              <a:buNone/>
              <a:defRPr sz="1875">
                <a:solidFill>
                  <a:srgbClr val="FFFFFF"/>
                </a:solidFill>
                <a:latin typeface="Helvetica Neue"/>
                <a:ea typeface="Helvetica Neue"/>
                <a:cs typeface="Helvetica Neue"/>
              </a:defRPr>
            </a:pPr>
            <a:r>
              <a:rPr sz="1875"/>
              <a:t>Autenticação quando necessária e autorização no backend.</a:t>
            </a:r>
          </a:p>
        </p:txBody>
      </p:sp>
      <p:sp>
        <p:nvSpPr>
          <p:cNvPr id="6" name="original-4">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Segredos</a:t>
            </a:r>
          </a:p>
          <a:p>
            <a:pPr marL="0" indent="0">
              <a:lnSpc>
                <a:spcPct val="115000"/>
              </a:lnSpc>
              <a:buNone/>
              <a:defRPr sz="1875">
                <a:solidFill>
                  <a:srgbClr val="FFFFFF"/>
                </a:solidFill>
                <a:latin typeface="Helvetica Neue"/>
                <a:ea typeface="Helvetica Neue"/>
                <a:cs typeface="Helvetica Neue"/>
              </a:defRPr>
            </a:pPr>
            <a:r>
              <a:rPr sz="1875"/>
              <a:t>Chaves fora do código e do navegador. Configuração por ambiente.</a:t>
            </a:r>
          </a:p>
        </p:txBody>
      </p:sp>
      <p:sp>
        <p:nvSpPr>
          <p:cNvPr id="7" name="original-5">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Uso responsável</a:t>
            </a:r>
          </a:p>
          <a:p>
            <a:pPr marL="0" indent="0">
              <a:lnSpc>
                <a:spcPct val="115000"/>
              </a:lnSpc>
              <a:buNone/>
              <a:defRPr sz="1875">
                <a:solidFill>
                  <a:srgbClr val="FFFFFF"/>
                </a:solidFill>
                <a:latin typeface="Helvetica Neue"/>
                <a:ea typeface="Helvetica Neue"/>
                <a:cs typeface="Helvetica Neue"/>
              </a:defRPr>
            </a:pPr>
            <a:r>
              <a:rPr sz="1875"/>
              <a:t>Minimização de dados, instruções maliciosas e aprovação de ações.</a:t>
            </a:r>
          </a:p>
        </p:txBody>
      </p:sp>
    </p:spTree>
    <p:extLst>
      <p:ext uri="{BB962C8B-B14F-4D97-AF65-F5344CB8AC3E}">
        <p14:creationId xmlns:p14="http://schemas.microsoft.com/office/powerpoint/2010/main" val="36014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riginal-6">
            <a:extLst>
              <a:ext uri="{FF2B5EF4-FFF2-40B4-BE49-F238E27FC236}">
                <a16:creationId xmlns:a16="http://schemas.microsoft.com/office/drawing/2014/main" id="{E79D819C-33DB-D779-0CC9-74786C7AA643}"/>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22</a:t>
            </a:r>
          </a:p>
        </p:txBody>
      </p:sp>
      <p:sp>
        <p:nvSpPr>
          <p:cNvPr id="3" name="original-3">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Testes de software</a:t>
            </a:r>
          </a:p>
        </p:txBody>
      </p:sp>
      <p:sp>
        <p:nvSpPr>
          <p:cNvPr id="4" name="original-10">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Unidade</a:t>
            </a:r>
          </a:p>
          <a:p>
            <a:pPr marL="0" indent="0">
              <a:lnSpc>
                <a:spcPct val="115000"/>
              </a:lnSpc>
              <a:buNone/>
              <a:defRPr sz="1875">
                <a:solidFill>
                  <a:srgbClr val="FFFFFF"/>
                </a:solidFill>
                <a:latin typeface="Helvetica Neue"/>
                <a:ea typeface="Helvetica Neue"/>
                <a:cs typeface="Helvetica Neue"/>
              </a:defRPr>
            </a:pPr>
            <a:r>
              <a:rPr sz="1875"/>
              <a:t>Regras de negócio e casos de borda com execução rápida.</a:t>
            </a:r>
          </a:p>
        </p:txBody>
      </p:sp>
      <p:sp>
        <p:nvSpPr>
          <p:cNvPr id="5" name="original-11">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Integração</a:t>
            </a:r>
          </a:p>
          <a:p>
            <a:pPr marL="0" indent="0">
              <a:lnSpc>
                <a:spcPct val="115000"/>
              </a:lnSpc>
              <a:buNone/>
              <a:defRPr sz="1875">
                <a:solidFill>
                  <a:srgbClr val="FFFFFF"/>
                </a:solidFill>
                <a:latin typeface="Helvetica Neue"/>
                <a:ea typeface="Helvetica Neue"/>
                <a:cs typeface="Helvetica Neue"/>
              </a:defRPr>
            </a:pPr>
            <a:r>
              <a:rPr sz="1875"/>
              <a:t>API, banco e contratos com serviços externos.</a:t>
            </a:r>
          </a:p>
        </p:txBody>
      </p:sp>
      <p:sp>
        <p:nvSpPr>
          <p:cNvPr id="6" name="original-4">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Ponta a ponta</a:t>
            </a:r>
          </a:p>
          <a:p>
            <a:pPr marL="0" indent="0">
              <a:lnSpc>
                <a:spcPct val="115000"/>
              </a:lnSpc>
              <a:buNone/>
              <a:defRPr sz="1875">
                <a:solidFill>
                  <a:srgbClr val="FFFFFF"/>
                </a:solidFill>
                <a:latin typeface="Helvetica Neue"/>
                <a:ea typeface="Helvetica Neue"/>
                <a:cs typeface="Helvetica Neue"/>
              </a:defRPr>
            </a:pPr>
            <a:r>
              <a:rPr sz="1875"/>
              <a:t>Jornada principal no navegador, incluindo um caminho de erro.</a:t>
            </a:r>
          </a:p>
        </p:txBody>
      </p:sp>
      <p:sp>
        <p:nvSpPr>
          <p:cNvPr id="7" name="original-5">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Qualidade adicional</a:t>
            </a:r>
          </a:p>
          <a:p>
            <a:pPr marL="0" indent="0">
              <a:lnSpc>
                <a:spcPct val="115000"/>
              </a:lnSpc>
              <a:buNone/>
              <a:defRPr sz="1875">
                <a:solidFill>
                  <a:srgbClr val="FFFFFF"/>
                </a:solidFill>
                <a:latin typeface="Helvetica Neue"/>
                <a:ea typeface="Helvetica Neue"/>
                <a:cs typeface="Helvetica Neue"/>
              </a:defRPr>
            </a:pPr>
            <a:r>
              <a:rPr sz="1875"/>
              <a:t>Acessibilidade básica, segurança e tempo de resposta.</a:t>
            </a:r>
          </a:p>
        </p:txBody>
      </p:sp>
    </p:spTree>
    <p:extLst>
      <p:ext uri="{BB962C8B-B14F-4D97-AF65-F5344CB8AC3E}">
        <p14:creationId xmlns:p14="http://schemas.microsoft.com/office/powerpoint/2010/main" val="360145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riginal-6">
            <a:extLst>
              <a:ext uri="{FF2B5EF4-FFF2-40B4-BE49-F238E27FC236}">
                <a16:creationId xmlns:a16="http://schemas.microsoft.com/office/drawing/2014/main" id="{E79D819C-33DB-D779-0CC9-74786C7AA643}"/>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23</a:t>
            </a:r>
          </a:p>
        </p:txBody>
      </p:sp>
      <p:sp>
        <p:nvSpPr>
          <p:cNvPr id="3" name="original-3">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Avaliação da capacidade de IA</a:t>
            </a:r>
          </a:p>
        </p:txBody>
      </p:sp>
      <p:sp>
        <p:nvSpPr>
          <p:cNvPr id="4" name="original-10">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Conjunto de casos</a:t>
            </a:r>
          </a:p>
          <a:p>
            <a:pPr marL="0" indent="0">
              <a:lnSpc>
                <a:spcPct val="115000"/>
              </a:lnSpc>
              <a:buNone/>
              <a:defRPr sz="1875">
                <a:solidFill>
                  <a:srgbClr val="FFFFFF"/>
                </a:solidFill>
                <a:latin typeface="Helvetica Neue"/>
                <a:ea typeface="Helvetica Neue"/>
                <a:cs typeface="Helvetica Neue"/>
              </a:defRPr>
            </a:pPr>
            <a:r>
              <a:rPr sz="1875"/>
              <a:t>Ao menos 15 casos relevantes, com respostas ou critérios de referência.</a:t>
            </a:r>
          </a:p>
        </p:txBody>
      </p:sp>
      <p:sp>
        <p:nvSpPr>
          <p:cNvPr id="5" name="original-11">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Métricas adequadas</a:t>
            </a:r>
          </a:p>
          <a:p>
            <a:pPr marL="0" indent="0">
              <a:lnSpc>
                <a:spcPct val="115000"/>
              </a:lnSpc>
              <a:buNone/>
              <a:defRPr sz="1875">
                <a:solidFill>
                  <a:srgbClr val="FFFFFF"/>
                </a:solidFill>
                <a:latin typeface="Helvetica Neue"/>
                <a:ea typeface="Helvetica Neue"/>
                <a:cs typeface="Helvetica Neue"/>
              </a:defRPr>
            </a:pPr>
            <a:r>
              <a:rPr sz="1875"/>
              <a:t>Classificação: precisão e recall. RAG: evidência e correção. Agentes: sucesso da tarefa.</a:t>
            </a:r>
          </a:p>
        </p:txBody>
      </p:sp>
      <p:sp>
        <p:nvSpPr>
          <p:cNvPr id="6" name="original-4">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Robustez</a:t>
            </a:r>
          </a:p>
          <a:p>
            <a:pPr marL="0" indent="0">
              <a:lnSpc>
                <a:spcPct val="115000"/>
              </a:lnSpc>
              <a:buNone/>
              <a:defRPr sz="1875">
                <a:solidFill>
                  <a:srgbClr val="FFFFFF"/>
                </a:solidFill>
                <a:latin typeface="Helvetica Neue"/>
                <a:ea typeface="Helvetica Neue"/>
                <a:cs typeface="Helvetica Neue"/>
              </a:defRPr>
            </a:pPr>
            <a:r>
              <a:rPr sz="1875"/>
              <a:t>Casos ambíguos, ausência de dados, entradas adversariais e repetição.</a:t>
            </a:r>
          </a:p>
        </p:txBody>
      </p:sp>
      <p:sp>
        <p:nvSpPr>
          <p:cNvPr id="7" name="original-5">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Viabilidade</a:t>
            </a:r>
          </a:p>
          <a:p>
            <a:pPr marL="0" indent="0">
              <a:lnSpc>
                <a:spcPct val="115000"/>
              </a:lnSpc>
              <a:buNone/>
              <a:defRPr sz="1875">
                <a:solidFill>
                  <a:srgbClr val="FFFFFF"/>
                </a:solidFill>
                <a:latin typeface="Helvetica Neue"/>
                <a:ea typeface="Helvetica Neue"/>
                <a:cs typeface="Helvetica Neue"/>
              </a:defRPr>
            </a:pPr>
            <a:r>
              <a:rPr sz="1875"/>
              <a:t>Latência, consumo e custo por tarefa, com limites conhecidos.</a:t>
            </a:r>
          </a:p>
        </p:txBody>
      </p:sp>
    </p:spTree>
    <p:extLst>
      <p:ext uri="{BB962C8B-B14F-4D97-AF65-F5344CB8AC3E}">
        <p14:creationId xmlns:p14="http://schemas.microsoft.com/office/powerpoint/2010/main" val="360145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iginal-4">
            <a:extLst>
              <a:ext uri="{FF2B5EF4-FFF2-40B4-BE49-F238E27FC236}">
                <a16:creationId xmlns:a16="http://schemas.microsoft.com/office/drawing/2014/main" id="{8C44867F-CEA9-06EF-47ED-8F63A6DAE6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787BCE7D-BEA2-12A4-00CE-1447A3C11BCB}"/>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24</a:t>
            </a:r>
          </a:p>
        </p:txBody>
      </p:sp>
      <p:sp>
        <p:nvSpPr>
          <p:cNvPr id="3" name="original-533">
            <a:extLst>
              <a:ext uri="{FF2B5EF4-FFF2-40B4-BE49-F238E27FC236}">
                <a16:creationId xmlns:a16="http://schemas.microsoft.com/office/drawing/2014/main" id="{451E053B-8CD7-DAF7-BA60-B58D00D61D06}"/>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Git, revisão de código e CI/CD</a:t>
            </a:r>
          </a:p>
        </p:txBody>
      </p:sp>
      <p:sp>
        <p:nvSpPr>
          <p:cNvPr id="4" name="original-534">
            <a:extLst>
              <a:ext uri="{FF2B5EF4-FFF2-40B4-BE49-F238E27FC236}">
                <a16:creationId xmlns:a16="http://schemas.microsoft.com/office/drawing/2014/main" id="{92B9D060-8F6B-685E-C699-7CF3FDA228BA}"/>
              </a:ext>
            </a:extLst>
          </p:cNvPr>
          <p:cNvSpPr>
            <a:spLocks noGrp="1"/>
          </p:cNvSpPr>
          <p:nvPr>
            <p:ph idx="4294967295"/>
          </p:nvPr>
        </p:nvSpPr>
        <p:spPr>
          <a:xfrm>
            <a:off x="393700" y="1722438"/>
            <a:ext cx="5537200" cy="865187"/>
          </a:xfrm>
          <a:prstGeom prst="rect">
            <a:avLst/>
          </a:prstGeom>
        </p:spPr>
        <p:txBody>
          <a:bodyPr spcFirstLastPara="1" vert="horz" wrap="square" lIns="0" tIns="0" rIns="0" bIns="0" anchor="t">
            <a:noAutofit/>
          </a:bodyPr>
          <a:lstStyle/>
          <a:p>
            <a:pPr marL="0" indent="0">
              <a:buNone/>
              <a:defRPr sz="2325">
                <a:solidFill>
                  <a:srgbClr val="FFFFFF"/>
                </a:solidFill>
                <a:latin typeface="Helvetica Neue"/>
                <a:ea typeface="Helvetica Neue"/>
                <a:cs typeface="Helvetica Neue"/>
              </a:defRPr>
            </a:pPr>
            <a:r>
              <a:rPr sz="2325">
                <a:solidFill>
                  <a:srgbClr val="FFFFFF"/>
                </a:solidFill>
                <a:latin typeface="Helvetica Neue"/>
                <a:ea typeface="Helvetica Neue"/>
                <a:cs typeface="Helvetica Neue"/>
              </a:rPr>
              <a:t>Entrega rastreável</a:t>
            </a:r>
          </a:p>
        </p:txBody>
      </p:sp>
      <p:sp>
        <p:nvSpPr>
          <p:cNvPr id="5" name="original-2">
            <a:extLst>
              <a:ext uri="{FF2B5EF4-FFF2-40B4-BE49-F238E27FC236}">
                <a16:creationId xmlns:a16="http://schemas.microsoft.com/office/drawing/2014/main" id="{F1357382-F889-8A40-7C64-C4E276E66544}"/>
              </a:ext>
            </a:extLst>
          </p:cNvPr>
          <p:cNvSpPr>
            <a:spLocks noGrp="1"/>
          </p:cNvSpPr>
          <p:nvPr/>
        </p:nvSpPr>
        <p:spPr>
          <a:xfrm>
            <a:off x="7886700" y="2990317"/>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Issue e branch identificáveis</a:t>
            </a:r>
          </a:p>
        </p:txBody>
      </p:sp>
      <p:sp>
        <p:nvSpPr>
          <p:cNvPr id="6" name="original-3">
            <a:extLst>
              <a:ext uri="{FF2B5EF4-FFF2-40B4-BE49-F238E27FC236}">
                <a16:creationId xmlns:a16="http://schemas.microsoft.com/office/drawing/2014/main" id="{DECE1942-1885-9577-DF5F-685A8B1C7180}"/>
              </a:ext>
            </a:extLst>
          </p:cNvPr>
          <p:cNvSpPr>
            <a:spLocks noGrp="1"/>
          </p:cNvSpPr>
          <p:nvPr/>
        </p:nvSpPr>
        <p:spPr>
          <a:xfrm>
            <a:off x="7507725" y="3015150"/>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7" name="original-12">
            <a:extLst>
              <a:ext uri="{FF2B5EF4-FFF2-40B4-BE49-F238E27FC236}">
                <a16:creationId xmlns:a16="http://schemas.microsoft.com/office/drawing/2014/main" id="{70BD0609-EAC0-DFEC-8761-6C5A72DB268A}"/>
              </a:ext>
            </a:extLst>
          </p:cNvPr>
          <p:cNvSpPr>
            <a:spLocks noGrp="1"/>
          </p:cNvSpPr>
          <p:nvPr/>
        </p:nvSpPr>
        <p:spPr>
          <a:xfrm>
            <a:off x="393700" y="2990316"/>
            <a:ext cx="5537200" cy="2884636"/>
          </a:xfrm>
          <a:prstGeom prst="rect">
            <a:avLst/>
          </a:prstGeom>
          <a:noFill/>
        </p:spPr>
        <p:txBody>
          <a:bodyPr wrap="square" lIns="0" tIns="0" rIns="0" bIns="0" anchor="t">
            <a:noAutofit/>
          </a:bodyPr>
          <a:lstStyle/>
          <a:p>
            <a:pPr marL="0" indent="0">
              <a:buNone/>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Cada mudança relevante se conecta ao backlog e passa por revisão.
O pipeline automatiza as verificações antes de publicar.</a:t>
            </a:r>
          </a:p>
        </p:txBody>
      </p:sp>
      <p:sp>
        <p:nvSpPr>
          <p:cNvPr id="8" name="original-16">
            <a:extLst>
              <a:ext uri="{FF2B5EF4-FFF2-40B4-BE49-F238E27FC236}">
                <a16:creationId xmlns:a16="http://schemas.microsoft.com/office/drawing/2014/main" id="{01B260BF-9264-3C70-DF2D-2E6EA83AC133}"/>
              </a:ext>
            </a:extLst>
          </p:cNvPr>
          <p:cNvSpPr>
            <a:spLocks noGrp="1"/>
          </p:cNvSpPr>
          <p:nvPr/>
        </p:nvSpPr>
        <p:spPr>
          <a:xfrm>
            <a:off x="7886700" y="3599916"/>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Pull request revisado</a:t>
            </a:r>
          </a:p>
        </p:txBody>
      </p:sp>
      <p:sp>
        <p:nvSpPr>
          <p:cNvPr id="9" name="original-17">
            <a:extLst>
              <a:ext uri="{FF2B5EF4-FFF2-40B4-BE49-F238E27FC236}">
                <a16:creationId xmlns:a16="http://schemas.microsoft.com/office/drawing/2014/main" id="{A6CF1E9A-BF4C-E7B2-D556-8AB5FB2B65F0}"/>
              </a:ext>
            </a:extLst>
          </p:cNvPr>
          <p:cNvSpPr>
            <a:spLocks noGrp="1"/>
          </p:cNvSpPr>
          <p:nvPr/>
        </p:nvSpPr>
        <p:spPr>
          <a:xfrm>
            <a:off x="7507725" y="3624749"/>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0" name="original-18">
            <a:extLst>
              <a:ext uri="{FF2B5EF4-FFF2-40B4-BE49-F238E27FC236}">
                <a16:creationId xmlns:a16="http://schemas.microsoft.com/office/drawing/2014/main" id="{FE696631-18B5-8115-E5AD-ACCFD6221418}"/>
              </a:ext>
            </a:extLst>
          </p:cNvPr>
          <p:cNvSpPr>
            <a:spLocks noGrp="1"/>
          </p:cNvSpPr>
          <p:nvPr/>
        </p:nvSpPr>
        <p:spPr>
          <a:xfrm>
            <a:off x="7886700" y="4214765"/>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Testes no pipeline</a:t>
            </a:r>
          </a:p>
        </p:txBody>
      </p:sp>
      <p:sp>
        <p:nvSpPr>
          <p:cNvPr id="11" name="original-19">
            <a:extLst>
              <a:ext uri="{FF2B5EF4-FFF2-40B4-BE49-F238E27FC236}">
                <a16:creationId xmlns:a16="http://schemas.microsoft.com/office/drawing/2014/main" id="{6ECBDA1E-6C7D-6B0F-A430-DF8A0965C58D}"/>
              </a:ext>
            </a:extLst>
          </p:cNvPr>
          <p:cNvSpPr>
            <a:spLocks noGrp="1"/>
          </p:cNvSpPr>
          <p:nvPr/>
        </p:nvSpPr>
        <p:spPr>
          <a:xfrm>
            <a:off x="7507725" y="4239598"/>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2" name="original-20">
            <a:extLst>
              <a:ext uri="{FF2B5EF4-FFF2-40B4-BE49-F238E27FC236}">
                <a16:creationId xmlns:a16="http://schemas.microsoft.com/office/drawing/2014/main" id="{9FC4B09F-4593-687E-52A3-7E683F7FE9E4}"/>
              </a:ext>
            </a:extLst>
          </p:cNvPr>
          <p:cNvSpPr>
            <a:spLocks noGrp="1"/>
          </p:cNvSpPr>
          <p:nvPr/>
        </p:nvSpPr>
        <p:spPr>
          <a:xfrm>
            <a:off x="7886700" y="48243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Build e release versionados</a:t>
            </a:r>
          </a:p>
        </p:txBody>
      </p:sp>
      <p:sp>
        <p:nvSpPr>
          <p:cNvPr id="13" name="original-21">
            <a:extLst>
              <a:ext uri="{FF2B5EF4-FFF2-40B4-BE49-F238E27FC236}">
                <a16:creationId xmlns:a16="http://schemas.microsoft.com/office/drawing/2014/main" id="{006032E6-DDFC-FA22-4D08-3BFFC755BB8D}"/>
              </a:ext>
            </a:extLst>
          </p:cNvPr>
          <p:cNvSpPr>
            <a:spLocks noGrp="1"/>
          </p:cNvSpPr>
          <p:nvPr/>
        </p:nvSpPr>
        <p:spPr>
          <a:xfrm>
            <a:off x="7507725" y="48491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4" name="original-23">
            <a:extLst>
              <a:ext uri="{FF2B5EF4-FFF2-40B4-BE49-F238E27FC236}">
                <a16:creationId xmlns:a16="http://schemas.microsoft.com/office/drawing/2014/main" id="{EDAB1F81-E12B-29DC-E09F-27F129E42AE8}"/>
              </a:ext>
            </a:extLst>
          </p:cNvPr>
          <p:cNvSpPr>
            <a:spLocks noGrp="1"/>
          </p:cNvSpPr>
          <p:nvPr/>
        </p:nvSpPr>
        <p:spPr>
          <a:xfrm>
            <a:off x="7886700" y="54466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Deploy com verificação</a:t>
            </a:r>
          </a:p>
        </p:txBody>
      </p:sp>
      <p:sp>
        <p:nvSpPr>
          <p:cNvPr id="15" name="original-24">
            <a:extLst>
              <a:ext uri="{FF2B5EF4-FFF2-40B4-BE49-F238E27FC236}">
                <a16:creationId xmlns:a16="http://schemas.microsoft.com/office/drawing/2014/main" id="{A052337A-4696-49F7-A089-E21DA71AD3B2}"/>
              </a:ext>
            </a:extLst>
          </p:cNvPr>
          <p:cNvSpPr>
            <a:spLocks noGrp="1"/>
          </p:cNvSpPr>
          <p:nvPr/>
        </p:nvSpPr>
        <p:spPr>
          <a:xfrm>
            <a:off x="7507725" y="54714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iginal-4">
            <a:extLst>
              <a:ext uri="{FF2B5EF4-FFF2-40B4-BE49-F238E27FC236}">
                <a16:creationId xmlns:a16="http://schemas.microsoft.com/office/drawing/2014/main" id="{8C44867F-CEA9-06EF-47ED-8F63A6DAE6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787BCE7D-BEA2-12A4-00CE-1447A3C11BCB}"/>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25</a:t>
            </a:r>
          </a:p>
        </p:txBody>
      </p:sp>
      <p:sp>
        <p:nvSpPr>
          <p:cNvPr id="3" name="original-533">
            <a:extLst>
              <a:ext uri="{FF2B5EF4-FFF2-40B4-BE49-F238E27FC236}">
                <a16:creationId xmlns:a16="http://schemas.microsoft.com/office/drawing/2014/main" id="{451E053B-8CD7-DAF7-BA60-B58D00D61D06}"/>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Publicação e operação do web app</a:t>
            </a:r>
          </a:p>
        </p:txBody>
      </p:sp>
      <p:sp>
        <p:nvSpPr>
          <p:cNvPr id="4" name="original-534">
            <a:extLst>
              <a:ext uri="{FF2B5EF4-FFF2-40B4-BE49-F238E27FC236}">
                <a16:creationId xmlns:a16="http://schemas.microsoft.com/office/drawing/2014/main" id="{92B9D060-8F6B-685E-C699-7CF3FDA228BA}"/>
              </a:ext>
            </a:extLst>
          </p:cNvPr>
          <p:cNvSpPr>
            <a:spLocks noGrp="1"/>
          </p:cNvSpPr>
          <p:nvPr>
            <p:ph idx="4294967295"/>
          </p:nvPr>
        </p:nvSpPr>
        <p:spPr>
          <a:xfrm>
            <a:off x="393700" y="1722438"/>
            <a:ext cx="5537200" cy="865187"/>
          </a:xfrm>
          <a:prstGeom prst="rect">
            <a:avLst/>
          </a:prstGeom>
        </p:spPr>
        <p:txBody>
          <a:bodyPr spcFirstLastPara="1" vert="horz" wrap="square" lIns="0" tIns="0" rIns="0" bIns="0" anchor="t">
            <a:noAutofit/>
          </a:bodyPr>
          <a:lstStyle/>
          <a:p>
            <a:pPr marL="0" indent="0">
              <a:buNone/>
              <a:defRPr sz="2325">
                <a:solidFill>
                  <a:srgbClr val="FFFFFF"/>
                </a:solidFill>
                <a:latin typeface="Helvetica Neue"/>
                <a:ea typeface="Helvetica Neue"/>
                <a:cs typeface="Helvetica Neue"/>
              </a:defRPr>
            </a:pPr>
            <a:r>
              <a:rPr sz="2325">
                <a:solidFill>
                  <a:srgbClr val="FFFFFF"/>
                </a:solidFill>
                <a:latin typeface="Helvetica Neue"/>
                <a:ea typeface="Helvetica Neue"/>
                <a:cs typeface="Helvetica Neue"/>
              </a:rPr>
              <a:t>Ambiente acessível ao PO</a:t>
            </a:r>
          </a:p>
        </p:txBody>
      </p:sp>
      <p:sp>
        <p:nvSpPr>
          <p:cNvPr id="5" name="original-2">
            <a:extLst>
              <a:ext uri="{FF2B5EF4-FFF2-40B4-BE49-F238E27FC236}">
                <a16:creationId xmlns:a16="http://schemas.microsoft.com/office/drawing/2014/main" id="{F1357382-F889-8A40-7C64-C4E276E66544}"/>
              </a:ext>
            </a:extLst>
          </p:cNvPr>
          <p:cNvSpPr>
            <a:spLocks noGrp="1"/>
          </p:cNvSpPr>
          <p:nvPr/>
        </p:nvSpPr>
        <p:spPr>
          <a:xfrm>
            <a:off x="7886700" y="2990317"/>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URL com HTTPS</a:t>
            </a:r>
          </a:p>
        </p:txBody>
      </p:sp>
      <p:sp>
        <p:nvSpPr>
          <p:cNvPr id="6" name="original-3">
            <a:extLst>
              <a:ext uri="{FF2B5EF4-FFF2-40B4-BE49-F238E27FC236}">
                <a16:creationId xmlns:a16="http://schemas.microsoft.com/office/drawing/2014/main" id="{DECE1942-1885-9577-DF5F-685A8B1C7180}"/>
              </a:ext>
            </a:extLst>
          </p:cNvPr>
          <p:cNvSpPr>
            <a:spLocks noGrp="1"/>
          </p:cNvSpPr>
          <p:nvPr/>
        </p:nvSpPr>
        <p:spPr>
          <a:xfrm>
            <a:off x="7507725" y="3015150"/>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7" name="original-12">
            <a:extLst>
              <a:ext uri="{FF2B5EF4-FFF2-40B4-BE49-F238E27FC236}">
                <a16:creationId xmlns:a16="http://schemas.microsoft.com/office/drawing/2014/main" id="{70BD0609-EAC0-DFEC-8761-6C5A72DB268A}"/>
              </a:ext>
            </a:extLst>
          </p:cNvPr>
          <p:cNvSpPr>
            <a:spLocks noGrp="1"/>
          </p:cNvSpPr>
          <p:nvPr/>
        </p:nvSpPr>
        <p:spPr>
          <a:xfrm>
            <a:off x="393700" y="2990316"/>
            <a:ext cx="5537200" cy="2884636"/>
          </a:xfrm>
          <a:prstGeom prst="rect">
            <a:avLst/>
          </a:prstGeom>
          <a:noFill/>
        </p:spPr>
        <p:txBody>
          <a:bodyPr wrap="square" lIns="0" tIns="0" rIns="0" bIns="0" anchor="t">
            <a:noAutofit/>
          </a:bodyPr>
          <a:lstStyle/>
          <a:p>
            <a:pPr marL="0" indent="0">
              <a:buNone/>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O produto precisa funcionar fora da máquina do grupo.
A equipe demonstra publicação, atualização e recuperação.</a:t>
            </a:r>
          </a:p>
        </p:txBody>
      </p:sp>
      <p:sp>
        <p:nvSpPr>
          <p:cNvPr id="8" name="original-16">
            <a:extLst>
              <a:ext uri="{FF2B5EF4-FFF2-40B4-BE49-F238E27FC236}">
                <a16:creationId xmlns:a16="http://schemas.microsoft.com/office/drawing/2014/main" id="{01B260BF-9264-3C70-DF2D-2E6EA83AC133}"/>
              </a:ext>
            </a:extLst>
          </p:cNvPr>
          <p:cNvSpPr>
            <a:spLocks noGrp="1"/>
          </p:cNvSpPr>
          <p:nvPr/>
        </p:nvSpPr>
        <p:spPr>
          <a:xfrm>
            <a:off x="7886700" y="3599916"/>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Configuração e dados persistentes</a:t>
            </a:r>
          </a:p>
        </p:txBody>
      </p:sp>
      <p:sp>
        <p:nvSpPr>
          <p:cNvPr id="9" name="original-17">
            <a:extLst>
              <a:ext uri="{FF2B5EF4-FFF2-40B4-BE49-F238E27FC236}">
                <a16:creationId xmlns:a16="http://schemas.microsoft.com/office/drawing/2014/main" id="{A6CF1E9A-BF4C-E7B2-D556-8AB5FB2B65F0}"/>
              </a:ext>
            </a:extLst>
          </p:cNvPr>
          <p:cNvSpPr>
            <a:spLocks noGrp="1"/>
          </p:cNvSpPr>
          <p:nvPr/>
        </p:nvSpPr>
        <p:spPr>
          <a:xfrm>
            <a:off x="7507725" y="3624749"/>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0" name="original-18">
            <a:extLst>
              <a:ext uri="{FF2B5EF4-FFF2-40B4-BE49-F238E27FC236}">
                <a16:creationId xmlns:a16="http://schemas.microsoft.com/office/drawing/2014/main" id="{FE696631-18B5-8115-E5AD-ACCFD6221418}"/>
              </a:ext>
            </a:extLst>
          </p:cNvPr>
          <p:cNvSpPr>
            <a:spLocks noGrp="1"/>
          </p:cNvSpPr>
          <p:nvPr/>
        </p:nvSpPr>
        <p:spPr>
          <a:xfrm>
            <a:off x="7886700" y="4214765"/>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Logs e verificação de saúde</a:t>
            </a:r>
          </a:p>
        </p:txBody>
      </p:sp>
      <p:sp>
        <p:nvSpPr>
          <p:cNvPr id="11" name="original-19">
            <a:extLst>
              <a:ext uri="{FF2B5EF4-FFF2-40B4-BE49-F238E27FC236}">
                <a16:creationId xmlns:a16="http://schemas.microsoft.com/office/drawing/2014/main" id="{6ECBDA1E-6C7D-6B0F-A430-DF8A0965C58D}"/>
              </a:ext>
            </a:extLst>
          </p:cNvPr>
          <p:cNvSpPr>
            <a:spLocks noGrp="1"/>
          </p:cNvSpPr>
          <p:nvPr/>
        </p:nvSpPr>
        <p:spPr>
          <a:xfrm>
            <a:off x="7507725" y="4239598"/>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2" name="original-20">
            <a:extLst>
              <a:ext uri="{FF2B5EF4-FFF2-40B4-BE49-F238E27FC236}">
                <a16:creationId xmlns:a16="http://schemas.microsoft.com/office/drawing/2014/main" id="{9FC4B09F-4593-687E-52A3-7E683F7FE9E4}"/>
              </a:ext>
            </a:extLst>
          </p:cNvPr>
          <p:cNvSpPr>
            <a:spLocks noGrp="1"/>
          </p:cNvSpPr>
          <p:nvPr/>
        </p:nvSpPr>
        <p:spPr>
          <a:xfrm>
            <a:off x="7886700" y="48243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Backup e restauração testados</a:t>
            </a:r>
          </a:p>
        </p:txBody>
      </p:sp>
      <p:sp>
        <p:nvSpPr>
          <p:cNvPr id="13" name="original-21">
            <a:extLst>
              <a:ext uri="{FF2B5EF4-FFF2-40B4-BE49-F238E27FC236}">
                <a16:creationId xmlns:a16="http://schemas.microsoft.com/office/drawing/2014/main" id="{006032E6-DDFC-FA22-4D08-3BFFC755BB8D}"/>
              </a:ext>
            </a:extLst>
          </p:cNvPr>
          <p:cNvSpPr>
            <a:spLocks noGrp="1"/>
          </p:cNvSpPr>
          <p:nvPr/>
        </p:nvSpPr>
        <p:spPr>
          <a:xfrm>
            <a:off x="7507725" y="48491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4" name="original-23">
            <a:extLst>
              <a:ext uri="{FF2B5EF4-FFF2-40B4-BE49-F238E27FC236}">
                <a16:creationId xmlns:a16="http://schemas.microsoft.com/office/drawing/2014/main" id="{EDAB1F81-E12B-29DC-E09F-27F129E42AE8}"/>
              </a:ext>
            </a:extLst>
          </p:cNvPr>
          <p:cNvSpPr>
            <a:spLocks noGrp="1"/>
          </p:cNvSpPr>
          <p:nvPr/>
        </p:nvSpPr>
        <p:spPr>
          <a:xfrm>
            <a:off x="7886700" y="54466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Rollback documentado</a:t>
            </a:r>
          </a:p>
        </p:txBody>
      </p:sp>
      <p:sp>
        <p:nvSpPr>
          <p:cNvPr id="15" name="original-24">
            <a:extLst>
              <a:ext uri="{FF2B5EF4-FFF2-40B4-BE49-F238E27FC236}">
                <a16:creationId xmlns:a16="http://schemas.microsoft.com/office/drawing/2014/main" id="{A052337A-4696-49F7-A089-E21DA71AD3B2}"/>
              </a:ext>
            </a:extLst>
          </p:cNvPr>
          <p:cNvSpPr>
            <a:spLocks noGrp="1"/>
          </p:cNvSpPr>
          <p:nvPr/>
        </p:nvSpPr>
        <p:spPr>
          <a:xfrm>
            <a:off x="7507725" y="54714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riginal-3">
            <a:extLst>
              <a:ext uri="{FF2B5EF4-FFF2-40B4-BE49-F238E27FC236}">
                <a16:creationId xmlns:a16="http://schemas.microsoft.com/office/drawing/2014/main" id="{39EA4C82-C623-0196-4A95-876ADF5DEE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1BCBE750-7048-686D-1472-52C53362D6CD}"/>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26</a:t>
            </a:r>
          </a:p>
        </p:txBody>
      </p:sp>
      <p:sp>
        <p:nvSpPr>
          <p:cNvPr id="3" name="original-533">
            <a:extLst>
              <a:ext uri="{FF2B5EF4-FFF2-40B4-BE49-F238E27FC236}">
                <a16:creationId xmlns:a16="http://schemas.microsoft.com/office/drawing/2014/main" id="{1B5D55CD-1C17-7CD8-F26A-2DD65B067687}"/>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Containers e Kubernetes</a:t>
            </a:r>
          </a:p>
        </p:txBody>
      </p:sp>
      <p:sp>
        <p:nvSpPr>
          <p:cNvPr id="4" name="original-7">
            <a:extLst>
              <a:ext uri="{FF2B5EF4-FFF2-40B4-BE49-F238E27FC236}">
                <a16:creationId xmlns:a16="http://schemas.microsoft.com/office/drawing/2014/main" id="{3A923FEE-B8D2-CD3A-ABBD-21770B40AA24}"/>
              </a:ext>
            </a:extLst>
          </p:cNvPr>
          <p:cNvSpPr>
            <a:spLocks noGrp="1"/>
          </p:cNvSpPr>
          <p:nvPr/>
        </p:nvSpPr>
        <p:spPr>
          <a:xfrm>
            <a:off x="393700" y="2031999"/>
            <a:ext cx="5537200" cy="3534787"/>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a:t>Requisito essencial proposto</a:t>
            </a:r>
          </a:p>
          <a:p>
            <a:pPr marL="0" indent="0">
              <a:lnSpc>
                <a:spcPct val="115000"/>
              </a:lnSpc>
              <a:buNone/>
              <a:defRPr sz="2025">
                <a:solidFill>
                  <a:srgbClr val="FFFFFF"/>
                </a:solidFill>
                <a:latin typeface="Helvetica Neue"/>
                <a:ea typeface="Helvetica Neue"/>
                <a:cs typeface="Helvetica Neue"/>
              </a:defRPr>
            </a:pPr>
            <a:r>
              <a:rPr sz="2025"/>
              <a:t>Containerização reproduzível do backend ou equivalente justificado em ADR.
Deploy funcional, health check e procedimento de rollback.</a:t>
            </a:r>
          </a:p>
        </p:txBody>
      </p:sp>
      <p:sp>
        <p:nvSpPr>
          <p:cNvPr id="5" name="original-8">
            <a:extLst>
              <a:ext uri="{FF2B5EF4-FFF2-40B4-BE49-F238E27FC236}">
                <a16:creationId xmlns:a16="http://schemas.microsoft.com/office/drawing/2014/main" id="{2EE8F343-A95F-2AAA-FE9E-A6C31E298DF7}"/>
              </a:ext>
            </a:extLst>
          </p:cNvPr>
          <p:cNvSpPr>
            <a:spLocks noGrp="1"/>
          </p:cNvSpPr>
          <p:nvPr/>
        </p:nvSpPr>
        <p:spPr>
          <a:xfrm>
            <a:off x="6256618" y="2031999"/>
            <a:ext cx="5537200" cy="3534787"/>
          </a:xfrm>
          <a:prstGeom prst="rect">
            <a:avLst/>
          </a:prstGeom>
        </p:spPr>
        <p:txBody>
          <a:bodyPr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2025">
                <a:solidFill>
                  <a:srgbClr val="FFFFFF"/>
                </a:solidFill>
                <a:latin typeface="Helvetica Neue"/>
                <a:ea typeface="Helvetica Neue"/>
                <a:cs typeface="Helvetica Neue"/>
              </a:defRPr>
            </a:pPr>
            <a:r>
              <a:rPr sz="2250" b="0"/>
              <a:t>Aprofundamento com Kubernetes</a:t>
            </a:r>
          </a:p>
          <a:p>
            <a:pPr marL="0" indent="0">
              <a:lnSpc>
                <a:spcPct val="115000"/>
              </a:lnSpc>
              <a:buNone/>
              <a:defRPr sz="2025">
                <a:solidFill>
                  <a:srgbClr val="FFFFFF"/>
                </a:solidFill>
                <a:latin typeface="Helvetica Neue"/>
                <a:ea typeface="Helvetica Neue"/>
                <a:cs typeface="Helvetica Neue"/>
              </a:defRPr>
            </a:pPr>
            <a:r>
              <a:rPr sz="2025"/>
              <a:t>Deployment e Service.
Configuração e gestão de segredos.
Readiness, liveness e limites de recursos.
Demonstração de atualização e recuperação.</a:t>
            </a:r>
          </a:p>
        </p:txBody>
      </p:sp>
    </p:spTree>
    <p:extLst>
      <p:ext uri="{BB962C8B-B14F-4D97-AF65-F5344CB8AC3E}">
        <p14:creationId xmlns:p14="http://schemas.microsoft.com/office/powerpoint/2010/main" val="3667182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riginal-6">
            <a:extLst>
              <a:ext uri="{FF2B5EF4-FFF2-40B4-BE49-F238E27FC236}">
                <a16:creationId xmlns:a16="http://schemas.microsoft.com/office/drawing/2014/main" id="{E79D819C-33DB-D779-0CC9-74786C7AA643}"/>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27</a:t>
            </a:r>
          </a:p>
        </p:txBody>
      </p:sp>
      <p:sp>
        <p:nvSpPr>
          <p:cNvPr id="3" name="original-3">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Observabilidade e continuidade</a:t>
            </a:r>
          </a:p>
        </p:txBody>
      </p:sp>
      <p:sp>
        <p:nvSpPr>
          <p:cNvPr id="4" name="original-10">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Logs úteis</a:t>
            </a:r>
          </a:p>
          <a:p>
            <a:pPr marL="0" indent="0">
              <a:lnSpc>
                <a:spcPct val="115000"/>
              </a:lnSpc>
              <a:buNone/>
              <a:defRPr sz="1875">
                <a:solidFill>
                  <a:srgbClr val="FFFFFF"/>
                </a:solidFill>
                <a:latin typeface="Helvetica Neue"/>
                <a:ea typeface="Helvetica Neue"/>
                <a:cs typeface="Helvetica Neue"/>
              </a:defRPr>
            </a:pPr>
            <a:r>
              <a:rPr sz="1875"/>
              <a:t>Identificação da requisição, erros e etapas críticas, sem segredos.</a:t>
            </a:r>
          </a:p>
        </p:txBody>
      </p:sp>
      <p:sp>
        <p:nvSpPr>
          <p:cNvPr id="5" name="original-11">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Métricas</a:t>
            </a:r>
          </a:p>
          <a:p>
            <a:pPr marL="0" indent="0">
              <a:lnSpc>
                <a:spcPct val="115000"/>
              </a:lnSpc>
              <a:buNone/>
              <a:defRPr sz="1875">
                <a:solidFill>
                  <a:srgbClr val="FFFFFF"/>
                </a:solidFill>
                <a:latin typeface="Helvetica Neue"/>
                <a:ea typeface="Helvetica Neue"/>
                <a:cs typeface="Helvetica Neue"/>
              </a:defRPr>
            </a:pPr>
            <a:r>
              <a:rPr sz="1875"/>
              <a:t>Disponibilidade, latência, falhas e consumo da IA.</a:t>
            </a:r>
          </a:p>
        </p:txBody>
      </p:sp>
      <p:sp>
        <p:nvSpPr>
          <p:cNvPr id="6" name="original-4">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Limites</a:t>
            </a:r>
          </a:p>
          <a:p>
            <a:pPr marL="0" indent="0">
              <a:lnSpc>
                <a:spcPct val="115000"/>
              </a:lnSpc>
              <a:buNone/>
              <a:defRPr sz="1875">
                <a:solidFill>
                  <a:srgbClr val="FFFFFF"/>
                </a:solidFill>
                <a:latin typeface="Helvetica Neue"/>
                <a:ea typeface="Helvetica Neue"/>
                <a:cs typeface="Helvetica Neue"/>
              </a:defRPr>
            </a:pPr>
            <a:r>
              <a:rPr sz="1875"/>
              <a:t>Timeouts, retries limitados e orçamento de chamadas.</a:t>
            </a:r>
          </a:p>
        </p:txBody>
      </p:sp>
      <p:sp>
        <p:nvSpPr>
          <p:cNvPr id="7" name="original-5">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Runbook</a:t>
            </a:r>
          </a:p>
          <a:p>
            <a:pPr marL="0" indent="0">
              <a:lnSpc>
                <a:spcPct val="115000"/>
              </a:lnSpc>
              <a:buNone/>
              <a:defRPr sz="1875">
                <a:solidFill>
                  <a:srgbClr val="FFFFFF"/>
                </a:solidFill>
                <a:latin typeface="Helvetica Neue"/>
                <a:ea typeface="Helvetica Neue"/>
                <a:cs typeface="Helvetica Neue"/>
              </a:defRPr>
            </a:pPr>
            <a:r>
              <a:rPr sz="1875"/>
              <a:t>Como detectar, investigar e recuperar uma falha.</a:t>
            </a:r>
          </a:p>
        </p:txBody>
      </p:sp>
    </p:spTree>
    <p:extLst>
      <p:ext uri="{BB962C8B-B14F-4D97-AF65-F5344CB8AC3E}">
        <p14:creationId xmlns:p14="http://schemas.microsoft.com/office/powerpoint/2010/main" val="360145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iginal-4">
            <a:extLst>
              <a:ext uri="{FF2B5EF4-FFF2-40B4-BE49-F238E27FC236}">
                <a16:creationId xmlns:a16="http://schemas.microsoft.com/office/drawing/2014/main" id="{8C44867F-CEA9-06EF-47ED-8F63A6DAE6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787BCE7D-BEA2-12A4-00CE-1447A3C11BCB}"/>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28</a:t>
            </a:r>
          </a:p>
        </p:txBody>
      </p:sp>
      <p:sp>
        <p:nvSpPr>
          <p:cNvPr id="3" name="original-533">
            <a:extLst>
              <a:ext uri="{FF2B5EF4-FFF2-40B4-BE49-F238E27FC236}">
                <a16:creationId xmlns:a16="http://schemas.microsoft.com/office/drawing/2014/main" id="{451E053B-8CD7-DAF7-BA60-B58D00D61D06}"/>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Definition of Done do projeto</a:t>
            </a:r>
          </a:p>
        </p:txBody>
      </p:sp>
      <p:sp>
        <p:nvSpPr>
          <p:cNvPr id="4" name="original-534">
            <a:extLst>
              <a:ext uri="{FF2B5EF4-FFF2-40B4-BE49-F238E27FC236}">
                <a16:creationId xmlns:a16="http://schemas.microsoft.com/office/drawing/2014/main" id="{92B9D060-8F6B-685E-C699-7CF3FDA228BA}"/>
              </a:ext>
            </a:extLst>
          </p:cNvPr>
          <p:cNvSpPr>
            <a:spLocks noGrp="1"/>
          </p:cNvSpPr>
          <p:nvPr>
            <p:ph idx="4294967295"/>
          </p:nvPr>
        </p:nvSpPr>
        <p:spPr>
          <a:xfrm>
            <a:off x="393700" y="1722438"/>
            <a:ext cx="5537200" cy="865187"/>
          </a:xfrm>
          <a:prstGeom prst="rect">
            <a:avLst/>
          </a:prstGeom>
        </p:spPr>
        <p:txBody>
          <a:bodyPr spcFirstLastPara="1" vert="horz" wrap="square" lIns="0" tIns="0" rIns="0" bIns="0" anchor="t">
            <a:noAutofit/>
          </a:bodyPr>
          <a:lstStyle/>
          <a:p>
            <a:pPr marL="0" indent="0">
              <a:buNone/>
              <a:defRPr sz="2325">
                <a:solidFill>
                  <a:srgbClr val="FFFFFF"/>
                </a:solidFill>
                <a:latin typeface="Helvetica Neue"/>
                <a:ea typeface="Helvetica Neue"/>
                <a:cs typeface="Helvetica Neue"/>
              </a:defRPr>
            </a:pPr>
            <a:r>
              <a:rPr sz="2325">
                <a:solidFill>
                  <a:srgbClr val="FFFFFF"/>
                </a:solidFill>
                <a:latin typeface="Helvetica Neue"/>
                <a:ea typeface="Helvetica Neue"/>
                <a:cs typeface="Helvetica Neue"/>
              </a:rPr>
              <a:t>Critério comum de conclusão</a:t>
            </a:r>
          </a:p>
        </p:txBody>
      </p:sp>
      <p:sp>
        <p:nvSpPr>
          <p:cNvPr id="5" name="original-2">
            <a:extLst>
              <a:ext uri="{FF2B5EF4-FFF2-40B4-BE49-F238E27FC236}">
                <a16:creationId xmlns:a16="http://schemas.microsoft.com/office/drawing/2014/main" id="{F1357382-F889-8A40-7C64-C4E276E66544}"/>
              </a:ext>
            </a:extLst>
          </p:cNvPr>
          <p:cNvSpPr>
            <a:spLocks noGrp="1"/>
          </p:cNvSpPr>
          <p:nvPr/>
        </p:nvSpPr>
        <p:spPr>
          <a:xfrm>
            <a:off x="7886700" y="2990317"/>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Critérios de aceitação atendidos</a:t>
            </a:r>
          </a:p>
        </p:txBody>
      </p:sp>
      <p:sp>
        <p:nvSpPr>
          <p:cNvPr id="6" name="original-3">
            <a:extLst>
              <a:ext uri="{FF2B5EF4-FFF2-40B4-BE49-F238E27FC236}">
                <a16:creationId xmlns:a16="http://schemas.microsoft.com/office/drawing/2014/main" id="{DECE1942-1885-9577-DF5F-685A8B1C7180}"/>
              </a:ext>
            </a:extLst>
          </p:cNvPr>
          <p:cNvSpPr>
            <a:spLocks noGrp="1"/>
          </p:cNvSpPr>
          <p:nvPr/>
        </p:nvSpPr>
        <p:spPr>
          <a:xfrm>
            <a:off x="7507725" y="3015150"/>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7" name="original-12">
            <a:extLst>
              <a:ext uri="{FF2B5EF4-FFF2-40B4-BE49-F238E27FC236}">
                <a16:creationId xmlns:a16="http://schemas.microsoft.com/office/drawing/2014/main" id="{70BD0609-EAC0-DFEC-8761-6C5A72DB268A}"/>
              </a:ext>
            </a:extLst>
          </p:cNvPr>
          <p:cNvSpPr>
            <a:spLocks noGrp="1"/>
          </p:cNvSpPr>
          <p:nvPr/>
        </p:nvSpPr>
        <p:spPr>
          <a:xfrm>
            <a:off x="393700" y="2990316"/>
            <a:ext cx="5537200" cy="2884636"/>
          </a:xfrm>
          <a:prstGeom prst="rect">
            <a:avLst/>
          </a:prstGeom>
          <a:noFill/>
        </p:spPr>
        <p:txBody>
          <a:bodyPr wrap="square" lIns="0" tIns="0" rIns="0" bIns="0" anchor="t">
            <a:noAutofit/>
          </a:bodyPr>
          <a:lstStyle/>
          <a:p>
            <a:pPr marL="0" indent="0">
              <a:buNone/>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O grupo combina a Definition of Done antes da primeira sprint e a revisita quando necessário.</a:t>
            </a:r>
          </a:p>
        </p:txBody>
      </p:sp>
      <p:sp>
        <p:nvSpPr>
          <p:cNvPr id="8" name="original-16">
            <a:extLst>
              <a:ext uri="{FF2B5EF4-FFF2-40B4-BE49-F238E27FC236}">
                <a16:creationId xmlns:a16="http://schemas.microsoft.com/office/drawing/2014/main" id="{01B260BF-9264-3C70-DF2D-2E6EA83AC133}"/>
              </a:ext>
            </a:extLst>
          </p:cNvPr>
          <p:cNvSpPr>
            <a:spLocks noGrp="1"/>
          </p:cNvSpPr>
          <p:nvPr/>
        </p:nvSpPr>
        <p:spPr>
          <a:xfrm>
            <a:off x="7886700" y="3599916"/>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Código revisado e testes passando</a:t>
            </a:r>
          </a:p>
        </p:txBody>
      </p:sp>
      <p:sp>
        <p:nvSpPr>
          <p:cNvPr id="9" name="original-17">
            <a:extLst>
              <a:ext uri="{FF2B5EF4-FFF2-40B4-BE49-F238E27FC236}">
                <a16:creationId xmlns:a16="http://schemas.microsoft.com/office/drawing/2014/main" id="{A6CF1E9A-BF4C-E7B2-D556-8AB5FB2B65F0}"/>
              </a:ext>
            </a:extLst>
          </p:cNvPr>
          <p:cNvSpPr>
            <a:spLocks noGrp="1"/>
          </p:cNvSpPr>
          <p:nvPr/>
        </p:nvSpPr>
        <p:spPr>
          <a:xfrm>
            <a:off x="7507725" y="3624749"/>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0" name="original-18">
            <a:extLst>
              <a:ext uri="{FF2B5EF4-FFF2-40B4-BE49-F238E27FC236}">
                <a16:creationId xmlns:a16="http://schemas.microsoft.com/office/drawing/2014/main" id="{FE696631-18B5-8115-E5AD-ACCFD6221418}"/>
              </a:ext>
            </a:extLst>
          </p:cNvPr>
          <p:cNvSpPr>
            <a:spLocks noGrp="1"/>
          </p:cNvSpPr>
          <p:nvPr/>
        </p:nvSpPr>
        <p:spPr>
          <a:xfrm>
            <a:off x="7886700" y="4214765"/>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IA avaliada e limitações registradas</a:t>
            </a:r>
          </a:p>
        </p:txBody>
      </p:sp>
      <p:sp>
        <p:nvSpPr>
          <p:cNvPr id="11" name="original-19">
            <a:extLst>
              <a:ext uri="{FF2B5EF4-FFF2-40B4-BE49-F238E27FC236}">
                <a16:creationId xmlns:a16="http://schemas.microsoft.com/office/drawing/2014/main" id="{6ECBDA1E-6C7D-6B0F-A430-DF8A0965C58D}"/>
              </a:ext>
            </a:extLst>
          </p:cNvPr>
          <p:cNvSpPr>
            <a:spLocks noGrp="1"/>
          </p:cNvSpPr>
          <p:nvPr/>
        </p:nvSpPr>
        <p:spPr>
          <a:xfrm>
            <a:off x="7507725" y="4239598"/>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2" name="original-20">
            <a:extLst>
              <a:ext uri="{FF2B5EF4-FFF2-40B4-BE49-F238E27FC236}">
                <a16:creationId xmlns:a16="http://schemas.microsoft.com/office/drawing/2014/main" id="{9FC4B09F-4593-687E-52A3-7E683F7FE9E4}"/>
              </a:ext>
            </a:extLst>
          </p:cNvPr>
          <p:cNvSpPr>
            <a:spLocks noGrp="1"/>
          </p:cNvSpPr>
          <p:nvPr/>
        </p:nvSpPr>
        <p:spPr>
          <a:xfrm>
            <a:off x="7886700" y="48243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Docs e decisões atualizadas</a:t>
            </a:r>
          </a:p>
        </p:txBody>
      </p:sp>
      <p:sp>
        <p:nvSpPr>
          <p:cNvPr id="13" name="original-21">
            <a:extLst>
              <a:ext uri="{FF2B5EF4-FFF2-40B4-BE49-F238E27FC236}">
                <a16:creationId xmlns:a16="http://schemas.microsoft.com/office/drawing/2014/main" id="{006032E6-DDFC-FA22-4D08-3BFFC755BB8D}"/>
              </a:ext>
            </a:extLst>
          </p:cNvPr>
          <p:cNvSpPr>
            <a:spLocks noGrp="1"/>
          </p:cNvSpPr>
          <p:nvPr/>
        </p:nvSpPr>
        <p:spPr>
          <a:xfrm>
            <a:off x="7507725" y="48491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4" name="original-23">
            <a:extLst>
              <a:ext uri="{FF2B5EF4-FFF2-40B4-BE49-F238E27FC236}">
                <a16:creationId xmlns:a16="http://schemas.microsoft.com/office/drawing/2014/main" id="{EDAB1F81-E12B-29DC-E09F-27F129E42AE8}"/>
              </a:ext>
            </a:extLst>
          </p:cNvPr>
          <p:cNvSpPr>
            <a:spLocks noGrp="1"/>
          </p:cNvSpPr>
          <p:nvPr/>
        </p:nvSpPr>
        <p:spPr>
          <a:xfrm>
            <a:off x="7886700" y="54466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Incremento utilizável e demonstrável</a:t>
            </a:r>
          </a:p>
        </p:txBody>
      </p:sp>
      <p:sp>
        <p:nvSpPr>
          <p:cNvPr id="15" name="original-24">
            <a:extLst>
              <a:ext uri="{FF2B5EF4-FFF2-40B4-BE49-F238E27FC236}">
                <a16:creationId xmlns:a16="http://schemas.microsoft.com/office/drawing/2014/main" id="{A052337A-4696-49F7-A089-E21DA71AD3B2}"/>
              </a:ext>
            </a:extLst>
          </p:cNvPr>
          <p:cNvSpPr>
            <a:spLocks noGrp="1"/>
          </p:cNvSpPr>
          <p:nvPr/>
        </p:nvSpPr>
        <p:spPr>
          <a:xfrm>
            <a:off x="7507725" y="54714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riginal-6">
            <a:extLst>
              <a:ext uri="{FF2B5EF4-FFF2-40B4-BE49-F238E27FC236}">
                <a16:creationId xmlns:a16="http://schemas.microsoft.com/office/drawing/2014/main" id="{E79D819C-33DB-D779-0CC9-74786C7AA643}"/>
              </a:ext>
            </a:extLst>
          </p:cNvPr>
          <p:cNvSpPr>
            <a:spLocks noGrp="1"/>
          </p:cNvSpPr>
          <p:nvPr>
            <p:ph type="ftr" idx="3"/>
          </p:nvPr>
        </p:nvSpPr>
        <p:spPr>
          <a:xfrm>
            <a:off x="393700" y="6279952"/>
            <a:ext cx="3568700" cy="241240"/>
          </a:xfrm>
        </p:spPr>
        <p:txBody>
          <a:bodyPr/>
          <a:lstStyle/>
          <a:p>
            <a:endParaRPr/>
          </a:p>
        </p:txBody>
      </p:sp>
      <p:sp>
        <p:nvSpPr>
          <p:cNvPr id="2" name="original-2">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31</a:t>
            </a:r>
          </a:p>
        </p:txBody>
      </p:sp>
      <p:sp>
        <p:nvSpPr>
          <p:cNvPr id="3" name="original-3">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Rastreabilidade das evidências</a:t>
            </a:r>
          </a:p>
        </p:txBody>
      </p:sp>
      <p:sp>
        <p:nvSpPr>
          <p:cNvPr id="4" name="original-10">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Origem</a:t>
            </a:r>
          </a:p>
          <a:p>
            <a:pPr marL="0" indent="0">
              <a:lnSpc>
                <a:spcPct val="115000"/>
              </a:lnSpc>
              <a:buNone/>
              <a:defRPr sz="1875">
                <a:solidFill>
                  <a:srgbClr val="FFFFFF"/>
                </a:solidFill>
                <a:latin typeface="Helvetica Neue"/>
                <a:ea typeface="Helvetica Neue"/>
                <a:cs typeface="Helvetica Neue"/>
              </a:defRPr>
            </a:pPr>
            <a:r>
              <a:rPr sz="1875"/>
              <a:t>Necessidade do cliente e item priorizado no backlog.</a:t>
            </a:r>
          </a:p>
        </p:txBody>
      </p:sp>
      <p:sp>
        <p:nvSpPr>
          <p:cNvPr id="5" name="original-11">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lIns="0" tIns="0" rIns="0" bIns="0" anchor="t">
            <a:noAutofit/>
          </a:bodyPr>
          <a:lstStyle/>
          <a:p>
            <a:pPr marL="0" indent="0">
              <a:spcAft>
                <a:spcPts val="1200"/>
              </a:spcAft>
              <a:buNone/>
              <a:defRPr sz="1875">
                <a:solidFill>
                  <a:srgbClr val="FFFFFF"/>
                </a:solidFill>
                <a:latin typeface="Helvetica Neue"/>
                <a:ea typeface="Helvetica Neue"/>
                <a:cs typeface="Helvetica Neue"/>
              </a:defRPr>
            </a:pPr>
            <a:r>
              <a:rPr sz="2250" b="0"/>
              <a:t>Decisão</a:t>
            </a:r>
          </a:p>
          <a:p>
            <a:pPr marL="0" indent="0">
              <a:lnSpc>
                <a:spcPct val="115000"/>
              </a:lnSpc>
              <a:buNone/>
              <a:defRPr sz="1875">
                <a:solidFill>
                  <a:srgbClr val="FFFFFF"/>
                </a:solidFill>
                <a:latin typeface="Helvetica Neue"/>
                <a:ea typeface="Helvetica Neue"/>
                <a:cs typeface="Helvetica Neue"/>
              </a:defRPr>
            </a:pPr>
            <a:r>
              <a:rPr sz="1875"/>
              <a:t>Spec, alternativas e ADR quando necessário.</a:t>
            </a:r>
          </a:p>
        </p:txBody>
      </p:sp>
      <p:sp>
        <p:nvSpPr>
          <p:cNvPr id="6" name="original-4">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Implementação</a:t>
            </a:r>
          </a:p>
          <a:p>
            <a:pPr marL="0" indent="0">
              <a:lnSpc>
                <a:spcPct val="115000"/>
              </a:lnSpc>
              <a:buNone/>
              <a:defRPr sz="1875">
                <a:solidFill>
                  <a:srgbClr val="FFFFFF"/>
                </a:solidFill>
                <a:latin typeface="Helvetica Neue"/>
                <a:ea typeface="Helvetica Neue"/>
                <a:cs typeface="Helvetica Neue"/>
              </a:defRPr>
            </a:pPr>
            <a:r>
              <a:rPr sz="1875"/>
              <a:t>Prompt relevante, commit, pull request e revisão humana.</a:t>
            </a:r>
          </a:p>
        </p:txBody>
      </p:sp>
      <p:sp>
        <p:nvSpPr>
          <p:cNvPr id="7" name="original-5">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200"/>
              </a:spcAft>
              <a:buNone/>
              <a:defRPr sz="1875">
                <a:solidFill>
                  <a:srgbClr val="FFFFFF"/>
                </a:solidFill>
                <a:latin typeface="Helvetica Neue"/>
                <a:ea typeface="Helvetica Neue"/>
                <a:cs typeface="Helvetica Neue"/>
              </a:defRPr>
            </a:pPr>
            <a:r>
              <a:rPr sz="2250" b="0"/>
              <a:t>Resultado</a:t>
            </a:r>
          </a:p>
          <a:p>
            <a:pPr marL="0" indent="0">
              <a:lnSpc>
                <a:spcPct val="115000"/>
              </a:lnSpc>
              <a:buNone/>
              <a:defRPr sz="1875">
                <a:solidFill>
                  <a:srgbClr val="FFFFFF"/>
                </a:solidFill>
                <a:latin typeface="Helvetica Neue"/>
                <a:ea typeface="Helvetica Neue"/>
                <a:cs typeface="Helvetica Neue"/>
              </a:defRPr>
            </a:pPr>
            <a:r>
              <a:rPr sz="1875"/>
              <a:t>Teste, release, demonstração ao PO e feedback.</a:t>
            </a:r>
          </a:p>
        </p:txBody>
      </p:sp>
    </p:spTree>
    <p:extLst>
      <p:ext uri="{BB962C8B-B14F-4D97-AF65-F5344CB8AC3E}">
        <p14:creationId xmlns:p14="http://schemas.microsoft.com/office/powerpoint/2010/main" val="360145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iginal-4">
            <a:extLst>
              <a:ext uri="{FF2B5EF4-FFF2-40B4-BE49-F238E27FC236}">
                <a16:creationId xmlns:a16="http://schemas.microsoft.com/office/drawing/2014/main" id="{8C44867F-CEA9-06EF-47ED-8F63A6DAE692}"/>
              </a:ext>
            </a:extLst>
          </p:cNvPr>
          <p:cNvSpPr>
            <a:spLocks noGrp="1"/>
          </p:cNvSpPr>
          <p:nvPr>
            <p:ph type="ftr" idx="3"/>
          </p:nvPr>
        </p:nvSpPr>
        <p:spPr>
          <a:xfrm>
            <a:off x="393700" y="6279952"/>
            <a:ext cx="3568700" cy="241240"/>
          </a:xfrm>
        </p:spPr>
        <p:txBody>
          <a:bodyPr/>
          <a:lstStyle/>
          <a:p>
            <a:endParaRPr/>
          </a:p>
        </p:txBody>
      </p:sp>
      <p:sp>
        <p:nvSpPr>
          <p:cNvPr id="2" name="original-532">
            <a:extLst>
              <a:ext uri="{FF2B5EF4-FFF2-40B4-BE49-F238E27FC236}">
                <a16:creationId xmlns:a16="http://schemas.microsoft.com/office/drawing/2014/main" id="{787BCE7D-BEA2-12A4-00CE-1447A3C11BCB}"/>
              </a:ext>
            </a:extLst>
          </p:cNvPr>
          <p:cNvSpPr>
            <a:spLocks noGrp="1"/>
          </p:cNvSpPr>
          <p:nvPr>
            <p:ph type="sldNum" idx="4"/>
          </p:nvPr>
        </p:nvSpPr>
        <p:spPr>
          <a:xfrm>
            <a:off x="11279332" y="6279294"/>
            <a:ext cx="518968" cy="241240"/>
          </a:xfrm>
        </p:spPr>
        <p:txBody>
          <a:bodyPr spcFirstLastPara="1" vert="horz" wrap="square" lIns="0" tIns="0" rIns="0" bIns="0" anchor="t">
            <a:noAutofit/>
          </a:bodyPr>
          <a:lstStyle/>
          <a:p>
            <a:pPr marL="0" indent="0">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32</a:t>
            </a:r>
          </a:p>
        </p:txBody>
      </p:sp>
      <p:sp>
        <p:nvSpPr>
          <p:cNvPr id="3" name="original-533">
            <a:extLst>
              <a:ext uri="{FF2B5EF4-FFF2-40B4-BE49-F238E27FC236}">
                <a16:creationId xmlns:a16="http://schemas.microsoft.com/office/drawing/2014/main" id="{451E053B-8CD7-DAF7-BA60-B58D00D61D06}"/>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marL="0" indent="0">
              <a:buNone/>
              <a:defRPr sz="3150">
                <a:solidFill>
                  <a:srgbClr val="FFFFFF"/>
                </a:solidFill>
                <a:latin typeface="Helvetica Neue"/>
                <a:ea typeface="Helvetica Neue"/>
                <a:cs typeface="Helvetica Neue"/>
              </a:defRPr>
            </a:pPr>
            <a:r>
              <a:rPr sz="3150">
                <a:solidFill>
                  <a:srgbClr val="FFFFFF"/>
                </a:solidFill>
                <a:latin typeface="Helvetica Neue"/>
                <a:ea typeface="Helvetica Neue"/>
                <a:cs typeface="Helvetica Neue"/>
              </a:rPr>
              <a:t>Entrega final e demonstração</a:t>
            </a:r>
          </a:p>
        </p:txBody>
      </p:sp>
      <p:sp>
        <p:nvSpPr>
          <p:cNvPr id="4" name="original-534">
            <a:extLst>
              <a:ext uri="{FF2B5EF4-FFF2-40B4-BE49-F238E27FC236}">
                <a16:creationId xmlns:a16="http://schemas.microsoft.com/office/drawing/2014/main" id="{92B9D060-8F6B-685E-C699-7CF3FDA228BA}"/>
              </a:ext>
            </a:extLst>
          </p:cNvPr>
          <p:cNvSpPr>
            <a:spLocks noGrp="1"/>
          </p:cNvSpPr>
          <p:nvPr>
            <p:ph idx="4294967295"/>
          </p:nvPr>
        </p:nvSpPr>
        <p:spPr>
          <a:xfrm>
            <a:off x="393700" y="1722438"/>
            <a:ext cx="5537200" cy="865187"/>
          </a:xfrm>
          <a:prstGeom prst="rect">
            <a:avLst/>
          </a:prstGeom>
        </p:spPr>
        <p:txBody>
          <a:bodyPr spcFirstLastPara="1" vert="horz" wrap="square" lIns="0" tIns="0" rIns="0" bIns="0" anchor="t">
            <a:noAutofit/>
          </a:bodyPr>
          <a:lstStyle/>
          <a:p>
            <a:pPr marL="0" indent="0">
              <a:buNone/>
              <a:defRPr sz="2325">
                <a:solidFill>
                  <a:srgbClr val="FFFFFF"/>
                </a:solidFill>
                <a:latin typeface="Helvetica Neue"/>
                <a:ea typeface="Helvetica Neue"/>
                <a:cs typeface="Helvetica Neue"/>
              </a:defRPr>
            </a:pPr>
            <a:r>
              <a:rPr sz="2325">
                <a:solidFill>
                  <a:srgbClr val="FFFFFF"/>
                </a:solidFill>
                <a:latin typeface="Helvetica Neue"/>
                <a:ea typeface="Helvetica Neue"/>
                <a:cs typeface="Helvetica Neue"/>
              </a:rPr>
              <a:t>Pacote de evidências</a:t>
            </a:r>
          </a:p>
        </p:txBody>
      </p:sp>
      <p:sp>
        <p:nvSpPr>
          <p:cNvPr id="5" name="original-2">
            <a:extLst>
              <a:ext uri="{FF2B5EF4-FFF2-40B4-BE49-F238E27FC236}">
                <a16:creationId xmlns:a16="http://schemas.microsoft.com/office/drawing/2014/main" id="{F1357382-F889-8A40-7C64-C4E276E66544}"/>
              </a:ext>
            </a:extLst>
          </p:cNvPr>
          <p:cNvSpPr>
            <a:spLocks noGrp="1"/>
          </p:cNvSpPr>
          <p:nvPr/>
        </p:nvSpPr>
        <p:spPr>
          <a:xfrm>
            <a:off x="7886700" y="2990317"/>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URL e instruções de acesso</a:t>
            </a:r>
          </a:p>
        </p:txBody>
      </p:sp>
      <p:sp>
        <p:nvSpPr>
          <p:cNvPr id="6" name="original-3">
            <a:extLst>
              <a:ext uri="{FF2B5EF4-FFF2-40B4-BE49-F238E27FC236}">
                <a16:creationId xmlns:a16="http://schemas.microsoft.com/office/drawing/2014/main" id="{DECE1942-1885-9577-DF5F-685A8B1C7180}"/>
              </a:ext>
            </a:extLst>
          </p:cNvPr>
          <p:cNvSpPr>
            <a:spLocks noGrp="1"/>
          </p:cNvSpPr>
          <p:nvPr/>
        </p:nvSpPr>
        <p:spPr>
          <a:xfrm>
            <a:off x="7507725" y="3015150"/>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7" name="original-12">
            <a:extLst>
              <a:ext uri="{FF2B5EF4-FFF2-40B4-BE49-F238E27FC236}">
                <a16:creationId xmlns:a16="http://schemas.microsoft.com/office/drawing/2014/main" id="{70BD0609-EAC0-DFEC-8761-6C5A72DB268A}"/>
              </a:ext>
            </a:extLst>
          </p:cNvPr>
          <p:cNvSpPr>
            <a:spLocks noGrp="1"/>
          </p:cNvSpPr>
          <p:nvPr/>
        </p:nvSpPr>
        <p:spPr>
          <a:xfrm>
            <a:off x="393700" y="2990316"/>
            <a:ext cx="5537200" cy="2884636"/>
          </a:xfrm>
          <a:prstGeom prst="rect">
            <a:avLst/>
          </a:prstGeom>
          <a:noFill/>
        </p:spPr>
        <p:txBody>
          <a:bodyPr wrap="square" lIns="0" tIns="0" rIns="0" bIns="0" anchor="t">
            <a:noAutofit/>
          </a:bodyPr>
          <a:lstStyle/>
          <a:p>
            <a:pPr marL="0" indent="0">
              <a:buNone/>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O PO recebe acesso ao produto e consegue localizar as informações necessárias para avaliá-lo.</a:t>
            </a:r>
          </a:p>
        </p:txBody>
      </p:sp>
      <p:sp>
        <p:nvSpPr>
          <p:cNvPr id="8" name="original-16">
            <a:extLst>
              <a:ext uri="{FF2B5EF4-FFF2-40B4-BE49-F238E27FC236}">
                <a16:creationId xmlns:a16="http://schemas.microsoft.com/office/drawing/2014/main" id="{01B260BF-9264-3C70-DF2D-2E6EA83AC133}"/>
              </a:ext>
            </a:extLst>
          </p:cNvPr>
          <p:cNvSpPr>
            <a:spLocks noGrp="1"/>
          </p:cNvSpPr>
          <p:nvPr/>
        </p:nvSpPr>
        <p:spPr>
          <a:xfrm>
            <a:off x="7886700" y="3599916"/>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Repositório e release final</a:t>
            </a:r>
          </a:p>
        </p:txBody>
      </p:sp>
      <p:sp>
        <p:nvSpPr>
          <p:cNvPr id="9" name="original-17">
            <a:extLst>
              <a:ext uri="{FF2B5EF4-FFF2-40B4-BE49-F238E27FC236}">
                <a16:creationId xmlns:a16="http://schemas.microsoft.com/office/drawing/2014/main" id="{A6CF1E9A-BF4C-E7B2-D556-8AB5FB2B65F0}"/>
              </a:ext>
            </a:extLst>
          </p:cNvPr>
          <p:cNvSpPr>
            <a:spLocks noGrp="1"/>
          </p:cNvSpPr>
          <p:nvPr/>
        </p:nvSpPr>
        <p:spPr>
          <a:xfrm>
            <a:off x="7507725" y="3624749"/>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0" name="original-18">
            <a:extLst>
              <a:ext uri="{FF2B5EF4-FFF2-40B4-BE49-F238E27FC236}">
                <a16:creationId xmlns:a16="http://schemas.microsoft.com/office/drawing/2014/main" id="{FE696631-18B5-8115-E5AD-ACCFD6221418}"/>
              </a:ext>
            </a:extLst>
          </p:cNvPr>
          <p:cNvSpPr>
            <a:spLocks noGrp="1"/>
          </p:cNvSpPr>
          <p:nvPr/>
        </p:nvSpPr>
        <p:spPr>
          <a:xfrm>
            <a:off x="7886700" y="4214765"/>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Dossiê de produto e processo</a:t>
            </a:r>
          </a:p>
        </p:txBody>
      </p:sp>
      <p:sp>
        <p:nvSpPr>
          <p:cNvPr id="11" name="original-19">
            <a:extLst>
              <a:ext uri="{FF2B5EF4-FFF2-40B4-BE49-F238E27FC236}">
                <a16:creationId xmlns:a16="http://schemas.microsoft.com/office/drawing/2014/main" id="{6ECBDA1E-6C7D-6B0F-A430-DF8A0965C58D}"/>
              </a:ext>
            </a:extLst>
          </p:cNvPr>
          <p:cNvSpPr>
            <a:spLocks noGrp="1"/>
          </p:cNvSpPr>
          <p:nvPr/>
        </p:nvSpPr>
        <p:spPr>
          <a:xfrm>
            <a:off x="7507725" y="4239598"/>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2" name="original-20">
            <a:extLst>
              <a:ext uri="{FF2B5EF4-FFF2-40B4-BE49-F238E27FC236}">
                <a16:creationId xmlns:a16="http://schemas.microsoft.com/office/drawing/2014/main" id="{9FC4B09F-4593-687E-52A3-7E683F7FE9E4}"/>
              </a:ext>
            </a:extLst>
          </p:cNvPr>
          <p:cNvSpPr>
            <a:spLocks noGrp="1"/>
          </p:cNvSpPr>
          <p:nvPr/>
        </p:nvSpPr>
        <p:spPr>
          <a:xfrm>
            <a:off x="7886700" y="48243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Testes, evals e custos</a:t>
            </a:r>
          </a:p>
        </p:txBody>
      </p:sp>
      <p:sp>
        <p:nvSpPr>
          <p:cNvPr id="13" name="original-21">
            <a:extLst>
              <a:ext uri="{FF2B5EF4-FFF2-40B4-BE49-F238E27FC236}">
                <a16:creationId xmlns:a16="http://schemas.microsoft.com/office/drawing/2014/main" id="{006032E6-DDFC-FA22-4D08-3BFFC755BB8D}"/>
              </a:ext>
            </a:extLst>
          </p:cNvPr>
          <p:cNvSpPr>
            <a:spLocks noGrp="1"/>
          </p:cNvSpPr>
          <p:nvPr/>
        </p:nvSpPr>
        <p:spPr>
          <a:xfrm>
            <a:off x="7507725" y="48491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
        <p:nvSpPr>
          <p:cNvPr id="14" name="original-23">
            <a:extLst>
              <a:ext uri="{FF2B5EF4-FFF2-40B4-BE49-F238E27FC236}">
                <a16:creationId xmlns:a16="http://schemas.microsoft.com/office/drawing/2014/main" id="{EDAB1F81-E12B-29DC-E09F-27F129E42AE8}"/>
              </a:ext>
            </a:extLst>
          </p:cNvPr>
          <p:cNvSpPr>
            <a:spLocks noGrp="1"/>
          </p:cNvSpPr>
          <p:nvPr/>
        </p:nvSpPr>
        <p:spPr>
          <a:xfrm>
            <a:off x="7886700" y="5446664"/>
            <a:ext cx="3911600" cy="548750"/>
          </a:xfrm>
          <a:prstGeom prst="rect">
            <a:avLst/>
          </a:prstGeom>
        </p:spPr>
        <p:txBody>
          <a:bodyPr vert="horz"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Runbook e defesa do grupo</a:t>
            </a:r>
          </a:p>
        </p:txBody>
      </p:sp>
      <p:sp>
        <p:nvSpPr>
          <p:cNvPr id="15" name="original-24">
            <a:extLst>
              <a:ext uri="{FF2B5EF4-FFF2-40B4-BE49-F238E27FC236}">
                <a16:creationId xmlns:a16="http://schemas.microsoft.com/office/drawing/2014/main" id="{A052337A-4696-49F7-A089-E21DA71AD3B2}"/>
              </a:ext>
            </a:extLst>
          </p:cNvPr>
          <p:cNvSpPr>
            <a:spLocks noGrp="1"/>
          </p:cNvSpPr>
          <p:nvPr/>
        </p:nvSpPr>
        <p:spPr>
          <a:xfrm>
            <a:off x="7507725" y="5471497"/>
            <a:ext cx="212551" cy="212470"/>
          </a:xfrm>
          <a:custGeom>
            <a:avLst/>
            <a:gdLst/>
            <a:ahLst/>
            <a:cxnLst/>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tx1"/>
          </a:solidFill>
          <a:ln>
            <a:noFill/>
          </a:ln>
        </p:spPr>
        <p:txBody>
          <a:bodyPr spcFirstLastPara="1" wrap="square" lIns="38100" tIns="38100" rIns="38100" bIns="38100" anchor="ctr">
            <a:noAutofit/>
          </a:bodyPr>
          <a:lstStyle/>
          <a:p>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clrMapOvr>
    <a:masterClrMapping/>
  </p:clrMapOvr>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3322</Words>
  <Application>Microsoft Macintosh PowerPoint</Application>
  <DocSecurity>0</DocSecurity>
  <PresentationFormat>Widescreen</PresentationFormat>
  <Paragraphs>310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Helvetica Neue</vt:lpstr>
      <vt:lpstr>Arial</vt:lpstr>
      <vt:lpstr>Default Codex Theme</vt:lpstr>
      <vt:lpstr>Sistemas inteligentes
aplicados</vt:lpstr>
      <vt:lpstr>Conteúdos previstos: aulas 1 a 5</vt:lpstr>
      <vt:lpstr>Conteúdos previstos: aulas 6 a 10</vt:lpstr>
      <vt:lpstr>Como os conceitos se conectam</vt:lpstr>
      <vt:lpstr>Escolha de IA com justificativa</vt:lpstr>
      <vt:lpstr>Projeto integrador: um web app em produção</vt:lpstr>
      <vt:lpstr>Professor como cliente e Product Owner</vt:lpstr>
      <vt:lpstr>Lean Inception adaptada ao curso</vt:lpstr>
      <vt:lpstr>Acordo do MVP com o PO</vt:lpstr>
      <vt:lpstr>Scrum na rotina dos grupos</vt:lpstr>
      <vt:lpstr>Reuniões de acompanhamento com o PO</vt:lpstr>
      <vt:lpstr>Documentação como parte do trabalho</vt:lpstr>
      <vt:lpstr>Registro do uso de IA e dos prompts</vt:lpstr>
      <vt:lpstr>Specs que orientam implementação e testes</vt:lpstr>
      <vt:lpstr>Decisões estratégicas e de arquitetura</vt:lpstr>
      <vt:lpstr>Arquitetura de referência</vt:lpstr>
      <vt:lpstr>RAG e agentes no produto</vt:lpstr>
      <vt:lpstr>Dados e segurança</vt:lpstr>
      <vt:lpstr>Testes de software</vt:lpstr>
      <vt:lpstr>Avaliação da capacidade de IA</vt:lpstr>
      <vt:lpstr>Git, revisão de código e CI/CD</vt:lpstr>
      <vt:lpstr>Publicação e operação do web app</vt:lpstr>
      <vt:lpstr>Containers e Kubernetes</vt:lpstr>
      <vt:lpstr>Observabilidade e continuidade</vt:lpstr>
      <vt:lpstr>Definition of Done do projeto</vt:lpstr>
      <vt:lpstr>Rastreabilidade das evidências</vt:lpstr>
      <vt:lpstr>Entrega final e demonstração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João Aldo da Silva Leite Nune</cp:lastModifiedBy>
  <cp:revision>2</cp:revision>
  <dcterms:created xsi:type="dcterms:W3CDTF">2026-09-17T19:46:59Z</dcterms:created>
  <dcterms:modified xsi:type="dcterms:W3CDTF">2026-09-17T22:32:43Z</dcterms:modified>
</cp:coreProperties>
</file>